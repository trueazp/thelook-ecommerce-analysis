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31"/>
  </p:notesMasterIdLst>
  <p:sldIdLst>
    <p:sldId id="256" r:id="rId2"/>
    <p:sldId id="312" r:id="rId3"/>
    <p:sldId id="313" r:id="rId4"/>
    <p:sldId id="314" r:id="rId5"/>
    <p:sldId id="261" r:id="rId6"/>
    <p:sldId id="316" r:id="rId7"/>
    <p:sldId id="266" r:id="rId8"/>
    <p:sldId id="318" r:id="rId9"/>
    <p:sldId id="319" r:id="rId10"/>
    <p:sldId id="259" r:id="rId11"/>
    <p:sldId id="333" r:id="rId12"/>
    <p:sldId id="321" r:id="rId13"/>
    <p:sldId id="325" r:id="rId14"/>
    <p:sldId id="326" r:id="rId15"/>
    <p:sldId id="322" r:id="rId16"/>
    <p:sldId id="327" r:id="rId17"/>
    <p:sldId id="328" r:id="rId18"/>
    <p:sldId id="324" r:id="rId19"/>
    <p:sldId id="331" r:id="rId20"/>
    <p:sldId id="332" r:id="rId21"/>
    <p:sldId id="323" r:id="rId22"/>
    <p:sldId id="329" r:id="rId23"/>
    <p:sldId id="330" r:id="rId24"/>
    <p:sldId id="334" r:id="rId25"/>
    <p:sldId id="335" r:id="rId26"/>
    <p:sldId id="336" r:id="rId27"/>
    <p:sldId id="337" r:id="rId28"/>
    <p:sldId id="338" r:id="rId29"/>
    <p:sldId id="339" r:id="rId30"/>
  </p:sldIdLst>
  <p:sldSz cx="9144000" cy="5143500" type="screen16x9"/>
  <p:notesSz cx="6858000" cy="9144000"/>
  <p:embeddedFontLst>
    <p:embeddedFont>
      <p:font typeface="Maven Pro" panose="020B0604020202020204" charset="0"/>
      <p:regular r:id="rId32"/>
      <p:bold r:id="rId33"/>
    </p:embeddedFont>
    <p:embeddedFont>
      <p:font typeface="Montserrat" panose="000005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id="{A6D6B128-CEBC-43A9-ABBC-D235E7061F1E}">
          <p14:sldIdLst>
            <p14:sldId id="256"/>
          </p14:sldIdLst>
        </p14:section>
        <p14:section name="Personal Overview" id="{E711A76A-F5C7-4938-9E24-9CDF2F627F9A}">
          <p14:sldIdLst>
            <p14:sldId id="312"/>
          </p14:sldIdLst>
        </p14:section>
        <p14:section name="Overview Project" id="{4A65CF5D-24DB-447E-99FB-A67D18A048B3}">
          <p14:sldIdLst>
            <p14:sldId id="313"/>
            <p14:sldId id="314"/>
          </p14:sldIdLst>
        </p14:section>
        <p14:section name="Main Project Background" id="{0E39190E-3267-4E73-9C9E-308AB2261455}">
          <p14:sldIdLst>
            <p14:sldId id="261"/>
            <p14:sldId id="316"/>
          </p14:sldIdLst>
        </p14:section>
        <p14:section name="Business Problem" id="{D89061ED-D0CD-4BFA-B635-34AC6D3A2C96}">
          <p14:sldIdLst>
            <p14:sldId id="266"/>
          </p14:sldIdLst>
        </p14:section>
        <p14:section name="Data Understanding" id="{9DF51408-62C3-4051-9170-6146F79E7F5F}">
          <p14:sldIdLst>
            <p14:sldId id="318"/>
            <p14:sldId id="319"/>
          </p14:sldIdLst>
        </p14:section>
        <p14:section name="Data Analysis, Insights, &amp; Visuals" id="{613CD832-8AFC-466C-BD5D-4C47BEF45D0F}">
          <p14:sldIdLst>
            <p14:sldId id="259"/>
            <p14:sldId id="333"/>
            <p14:sldId id="321"/>
            <p14:sldId id="325"/>
            <p14:sldId id="326"/>
            <p14:sldId id="322"/>
            <p14:sldId id="327"/>
            <p14:sldId id="328"/>
            <p14:sldId id="324"/>
            <p14:sldId id="331"/>
            <p14:sldId id="332"/>
            <p14:sldId id="323"/>
            <p14:sldId id="329"/>
            <p14:sldId id="330"/>
          </p14:sldIdLst>
        </p14:section>
        <p14:section name="Recommendations" id="{DAB35B26-0AB8-4915-B61F-B95088DB05F1}">
          <p14:sldIdLst>
            <p14:sldId id="334"/>
            <p14:sldId id="335"/>
            <p14:sldId id="336"/>
            <p14:sldId id="337"/>
            <p14:sldId id="338"/>
          </p14:sldIdLst>
        </p14:section>
        <p14:section name="OUTRO" id="{D5218405-F9DA-4044-85D4-497EBFA54281}">
          <p14:sldIdLst>
            <p14:sldId id="33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5E190E-A9A1-4F1B-AACF-41062B2B9AF6}">
  <a:tblStyle styleId="{145E190E-A9A1-4F1B-AACF-41062B2B9AF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97E9F48-5D71-4371-B1A2-E3DF88AB330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651" autoAdjust="0"/>
  </p:normalViewPr>
  <p:slideViewPr>
    <p:cSldViewPr snapToGrid="0">
      <p:cViewPr varScale="1">
        <p:scale>
          <a:sx n="131" d="100"/>
          <a:sy n="131" d="100"/>
        </p:scale>
        <p:origin x="104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1e9418e3c38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8" name="Google Shape;1408;g1e9418e3c38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Perkenalkan, nama saya Akmal Zuhdy Prasetya. Saya merupakan fresh graduate Sistem Informasi dari Universitas Hasanuddin dengan fokus pada bidang Data Analysis, Business Intelligence, dan Machine Learning.</a:t>
            </a:r>
          </a:p>
          <a:p>
            <a:endParaRPr lang="en-US"/>
          </a:p>
          <a:p>
            <a:r>
              <a:rPr lang="en-US"/>
              <a:t>Selama proses pembelajaran akademik maupun bootcamp, saya terbiasa melakukan end-to-end analytical workflow mulai dari data preprocessing, exploratory data analysis, dashboard development, hingga predictive modeling menggunakan Python dan Power BI.</a:t>
            </a:r>
          </a:p>
          <a:p>
            <a:endParaRPr lang="en-US"/>
          </a:p>
          <a:p>
            <a:r>
              <a:rPr lang="en-US"/>
              <a:t>Beberapa project yang pernah saya kerjakan meliputi pengembangan aplikasi prediksi harga Ethereum menggunakan LSTM dan Streamlit, analisis customer satisfaction pada industri airline, serta ecommerce business intelligence dashboard untuk menganalisis customer behavior, product performance, operational efficiency, dan revenue leakage.</a:t>
            </a:r>
          </a:p>
          <a:p>
            <a:endParaRPr lang="en-US"/>
          </a:p>
          <a:p>
            <a:r>
              <a:rPr lang="en-US"/>
              <a:t>Saya memiliki ketertarikan pada bagaimana data dapat digunakan untuk menghasilkan insight yang mendukung pengambilan keputusan bisnis secara lebih efektif dan data-driven.</a:t>
            </a:r>
          </a:p>
          <a:p>
            <a:pPr marL="0" lvl="0" indent="0" algn="l" rtl="0">
              <a:spcBef>
                <a:spcPts val="0"/>
              </a:spcBef>
              <a:spcAft>
                <a:spcPts val="0"/>
              </a:spcAft>
              <a:buNone/>
            </a:pPr>
            <a:endParaRPr/>
          </a:p>
        </p:txBody>
      </p:sp>
    </p:spTree>
    <p:extLst>
      <p:ext uri="{BB962C8B-B14F-4D97-AF65-F5344CB8AC3E}">
        <p14:creationId xmlns:p14="http://schemas.microsoft.com/office/powerpoint/2010/main" val="74748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5"/>
        <p:cNvGrpSpPr/>
        <p:nvPr/>
      </p:nvGrpSpPr>
      <p:grpSpPr>
        <a:xfrm>
          <a:off x="0" y="0"/>
          <a:ext cx="0" cy="0"/>
          <a:chOff x="0" y="0"/>
          <a:chExt cx="0" cy="0"/>
        </a:xfrm>
      </p:grpSpPr>
      <p:sp>
        <p:nvSpPr>
          <p:cNvPr id="1396" name="Google Shape;1396;g1e9418e3c3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7" name="Google Shape;1397;g1e9418e3c3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Sebelum mengerjakan final project ini, saya juga telah mengerjakan beberapa project data analysis dan machine learning lainnya.</a:t>
            </a:r>
          </a:p>
          <a:p>
            <a:pPr marL="0" lvl="0" indent="0" algn="l" rtl="0">
              <a:spcBef>
                <a:spcPts val="0"/>
              </a:spcBef>
              <a:spcAft>
                <a:spcPts val="0"/>
              </a:spcAft>
              <a:buNone/>
            </a:pPr>
            <a:endParaRPr lang="en-US"/>
          </a:p>
          <a:p>
            <a:pPr marL="0" lvl="0" indent="0" algn="l" rtl="0">
              <a:spcBef>
                <a:spcPts val="0"/>
              </a:spcBef>
              <a:spcAft>
                <a:spcPts val="0"/>
              </a:spcAft>
              <a:buNone/>
            </a:pPr>
            <a:r>
              <a:rPr lang="en-US"/>
              <a:t>Project pertama merupakan pengembangan aplikasi prediksi harga Ethereum menggunakan metode LSTM berbasis time-series forecasting yang diintegrasikan ke dalam aplikasi web menggunakan Streamlit.</a:t>
            </a:r>
            <a:endParaRPr/>
          </a:p>
        </p:txBody>
      </p:sp>
    </p:spTree>
    <p:extLst>
      <p:ext uri="{BB962C8B-B14F-4D97-AF65-F5344CB8AC3E}">
        <p14:creationId xmlns:p14="http://schemas.microsoft.com/office/powerpoint/2010/main" val="2954896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5"/>
        <p:cNvGrpSpPr/>
        <p:nvPr/>
      </p:nvGrpSpPr>
      <p:grpSpPr>
        <a:xfrm>
          <a:off x="0" y="0"/>
          <a:ext cx="0" cy="0"/>
          <a:chOff x="0" y="0"/>
          <a:chExt cx="0" cy="0"/>
        </a:xfrm>
      </p:grpSpPr>
      <p:sp>
        <p:nvSpPr>
          <p:cNvPr id="1396" name="Google Shape;1396;g1e9418e3c3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7" name="Google Shape;1397;g1e9418e3c3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Sedangkan project kedua berfokus pada analisis customer satisfaction pada industri airline untuk mengidentifikasi faktor utama yang memengaruhi kepuasan pelanggan serta rekomendasi peningkatan layanan berdasarkan segmentasi customer.</a:t>
            </a:r>
          </a:p>
          <a:p>
            <a:pPr marL="0" lvl="0" indent="0" algn="l" rtl="0">
              <a:spcBef>
                <a:spcPts val="0"/>
              </a:spcBef>
              <a:spcAft>
                <a:spcPts val="0"/>
              </a:spcAft>
              <a:buNone/>
            </a:pPr>
            <a:endParaRPr lang="en-US"/>
          </a:p>
          <a:p>
            <a:pPr marL="0" lvl="0" indent="0" algn="l" rtl="0">
              <a:spcBef>
                <a:spcPts val="0"/>
              </a:spcBef>
              <a:spcAft>
                <a:spcPts val="0"/>
              </a:spcAft>
              <a:buNone/>
            </a:pPr>
            <a:r>
              <a:rPr lang="en-US"/>
              <a:t>Kedua project ini membantu saya memahami bagaimana data dapat digunakan baik untuk predictive modeling maupun business decision support.</a:t>
            </a:r>
            <a:endParaRPr/>
          </a:p>
        </p:txBody>
      </p:sp>
    </p:spTree>
    <p:extLst>
      <p:ext uri="{BB962C8B-B14F-4D97-AF65-F5344CB8AC3E}">
        <p14:creationId xmlns:p14="http://schemas.microsoft.com/office/powerpoint/2010/main" val="144446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8cc7b9663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28cc7b9663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Final project yang saya kerjakan berfokus pada analisis bisnis ecommerce platform TheLook.</a:t>
            </a:r>
          </a:p>
          <a:p>
            <a:pPr marL="0" lvl="0" indent="0" algn="l" rtl="0">
              <a:spcBef>
                <a:spcPts val="0"/>
              </a:spcBef>
              <a:spcAft>
                <a:spcPts val="0"/>
              </a:spcAft>
              <a:buNone/>
            </a:pPr>
            <a:endParaRPr lang="en-US"/>
          </a:p>
          <a:p>
            <a:pPr marL="0" lvl="0" indent="0" algn="l" rtl="0">
              <a:spcBef>
                <a:spcPts val="0"/>
              </a:spcBef>
              <a:spcAft>
                <a:spcPts val="0"/>
              </a:spcAft>
              <a:buNone/>
            </a:pPr>
            <a:r>
              <a:rPr lang="en-US"/>
              <a:t>Project ini bertujuan untuk memahami bagaimana customer behavior, product performance, operational efficiency, dan product returns memengaruhi performa bisnis secara keseluruhan.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1e92f4e007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1e92f4e007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Dalam industri ecommerce, tingginya customer acquisition cost, return behavior, dan operational scalability menjadi tantangan penting yang dapat berdampak langsung terhadap profitability bisnis.</a:t>
            </a:r>
          </a:p>
          <a:p>
            <a:pPr marL="0" lvl="0" indent="0" algn="l" rtl="0">
              <a:spcBef>
                <a:spcPts val="0"/>
              </a:spcBef>
              <a:spcAft>
                <a:spcPts val="0"/>
              </a:spcAft>
              <a:buNone/>
            </a:pPr>
            <a:endParaRPr lang="en-US"/>
          </a:p>
          <a:p>
            <a:pPr marL="0" lvl="0" indent="0" algn="l" rtl="0">
              <a:spcBef>
                <a:spcPts val="0"/>
              </a:spcBef>
              <a:spcAft>
                <a:spcPts val="0"/>
              </a:spcAft>
              <a:buNone/>
            </a:pPr>
            <a:r>
              <a:rPr lang="en-US"/>
              <a:t>Oleh karena itu, project ini dilakukan untuk menghasilkan insight berbasis data melalui exploratory data analysis dan dashboard business intelligence, sekaligus memberikan rekomendasi strategis yang dapat mendukung pengambilan keputusan bisnis secara lebih efektif.</a:t>
            </a:r>
          </a:p>
        </p:txBody>
      </p:sp>
    </p:spTree>
    <p:extLst>
      <p:ext uri="{BB962C8B-B14F-4D97-AF65-F5344CB8AC3E}">
        <p14:creationId xmlns:p14="http://schemas.microsoft.com/office/powerpoint/2010/main" val="2911632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1e932d62275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1e932d62275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Berdasarkan business context pada industri ecommerce, project ini difokuskan pada satu main problem statement, yaitu memahami bagaimana customer behavior, product performance, dan operational efficiency memengaruhi revenue leakage serta performa bisnis TheLook secara keseluruhan.</a:t>
            </a:r>
          </a:p>
          <a:p>
            <a:endParaRPr lang="en-US"/>
          </a:p>
          <a:p>
            <a:r>
              <a:rPr lang="en-US"/>
              <a:t>Untuk menjawab permasalahan tersebut, analisis dibagi menjadi empat area utama.</a:t>
            </a:r>
          </a:p>
          <a:p>
            <a:endParaRPr lang="en-US"/>
          </a:p>
          <a:p>
            <a:r>
              <a:rPr lang="en-US"/>
              <a:t>Pertama, customer acquisition dan behavior untuk memahami performa traffic source serta conversion efficiency customer.</a:t>
            </a:r>
          </a:p>
          <a:p>
            <a:endParaRPr lang="en-US"/>
          </a:p>
          <a:p>
            <a:r>
              <a:rPr lang="en-US"/>
              <a:t>Kedua, product dan revenue performance untuk mengidentifikasi kategori dengan kontribusi revenue dan profitability tertinggi.</a:t>
            </a:r>
          </a:p>
          <a:p>
            <a:endParaRPr lang="en-US"/>
          </a:p>
          <a:p>
            <a:r>
              <a:rPr lang="en-US"/>
              <a:t>Ketiga, operational performance untuk mengevaluasi fulfillment efficiency dan potensi operational bottleneck.</a:t>
            </a:r>
          </a:p>
          <a:p>
            <a:endParaRPr lang="en-US"/>
          </a:p>
          <a:p>
            <a:r>
              <a:rPr lang="en-US"/>
              <a:t>Dan terakhir, return serta revenue leakage analysis untuk memahami dampak product returns terhadap profitability bisnis.</a:t>
            </a: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5"/>
        <p:cNvGrpSpPr/>
        <p:nvPr/>
      </p:nvGrpSpPr>
      <p:grpSpPr>
        <a:xfrm>
          <a:off x="0" y="0"/>
          <a:ext cx="0" cy="0"/>
          <a:chOff x="0" y="0"/>
          <a:chExt cx="0" cy="0"/>
        </a:xfrm>
      </p:grpSpPr>
      <p:sp>
        <p:nvSpPr>
          <p:cNvPr id="1536" name="Google Shape;1536;g1e9418e3c38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7" name="Google Shape;1537;g1e9418e3c38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Dalam project ini digunakan beberapa dataset ecommerce yang saling terhubung, meliputi customer data, customer activity, transaction data, product information, hingga operational dan fulfillment data.</a:t>
            </a:r>
          </a:p>
          <a:p>
            <a:endParaRPr lang="en-US"/>
          </a:p>
          <a:p>
            <a:r>
              <a:rPr lang="en-US"/>
              <a:t>Data yang digunakan mencakup historical ecommerce activity dari tahun 2019 hingga 2024 dengan jutaan records customer interaction dan transactional data.</a:t>
            </a:r>
          </a:p>
        </p:txBody>
      </p:sp>
    </p:spTree>
    <p:extLst>
      <p:ext uri="{BB962C8B-B14F-4D97-AF65-F5344CB8AC3E}">
        <p14:creationId xmlns:p14="http://schemas.microsoft.com/office/powerpoint/2010/main" val="1992324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g1e9418e3c38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2" name="Google Shape;1462;g1e9418e3c38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Sebelum dilakukan analisis, dilakukan proses data preprocessing yang meliputi data cleaning, handling missing values dan duplicates, validasi data type, hingga feature engineering untuk membangun analytical tables yang digunakan pada exploratory data analysis dan dashboard development.</a:t>
            </a:r>
          </a:p>
          <a:p>
            <a:endParaRPr lang="en-US"/>
          </a:p>
          <a:p>
            <a:r>
              <a:rPr lang="en-US"/>
              <a:t>Proses preprocessing ini dilakukan untuk memastikan kualitas data tetap konsisten dan valid sebelum digunakan dalam proses analisis bisnis.</a:t>
            </a:r>
          </a:p>
          <a:p>
            <a:pPr marL="0" lvl="0" indent="0" algn="l" rtl="0">
              <a:spcBef>
                <a:spcPts val="0"/>
              </a:spcBef>
              <a:spcAft>
                <a:spcPts val="0"/>
              </a:spcAft>
              <a:buNone/>
            </a:pPr>
            <a:endParaRPr/>
          </a:p>
        </p:txBody>
      </p:sp>
    </p:spTree>
    <p:extLst>
      <p:ext uri="{BB962C8B-B14F-4D97-AF65-F5344CB8AC3E}">
        <p14:creationId xmlns:p14="http://schemas.microsoft.com/office/powerpoint/2010/main" val="4211777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1e91eb690e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1e91eb690e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Sebelum masuk ke analisis yang lebih detail, dashboard executive overview ini digunakan untuk memberikan gambaran umum mengenai performa bisnis ecommerce TheLook secara keseluruhan.</a:t>
            </a:r>
          </a:p>
          <a:p>
            <a:endParaRPr lang="en-US"/>
          </a:p>
          <a:p>
            <a:r>
              <a:rPr lang="en-US"/>
              <a:t>Dashboard ini menampilkan beberapa KPI utama seperti total revenue, total orders, total customers, return rate, returned revenue, serta average fulfillment duration untuk membantu monitoring business performance secara high-level.</a:t>
            </a:r>
          </a:p>
          <a:p>
            <a:endParaRPr lang="en-US"/>
          </a:p>
          <a:p>
            <a:r>
              <a:rPr lang="en-US"/>
              <a:t>Selain itu, dashboard juga menunjukkan adanya pertumbuhan monthly revenue dan customer activity yang cukup signifikan dari tahun ke tahun, terutama sepanjang 2023 hingga awal 2024.</a:t>
            </a:r>
          </a:p>
          <a:p>
            <a:endParaRPr lang="en-US"/>
          </a:p>
          <a:p>
            <a:r>
              <a:rPr lang="en-US"/>
              <a:t>Di sisi lain, dashboard ini juga memperlihatkan bahwa product returns masih memberikan dampak revenue leakage yang cukup besar terhadap bisnis, meskipun operational fulfillment performance relatif stabil.</a:t>
            </a:r>
          </a:p>
          <a:p>
            <a:endParaRPr lang="en-US"/>
          </a:p>
          <a:p>
            <a:r>
              <a:rPr lang="en-US"/>
              <a:t>Executive dashboard ini kemudian menjadi dasar untuk melakukan analisis lebih detail pada setiap domain bisnis di tahap berikutnya.</a:t>
            </a:r>
          </a:p>
          <a:p>
            <a:endParaRPr lang="en-US"/>
          </a:p>
        </p:txBody>
      </p:sp>
    </p:spTree>
    <p:extLst>
      <p:ext uri="{BB962C8B-B14F-4D97-AF65-F5344CB8AC3E}">
        <p14:creationId xmlns:p14="http://schemas.microsoft.com/office/powerpoint/2010/main" val="267653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4912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Pada analisis customer acquisition dan behavior, dilakukan descriptive analysis, exploratory data analysis, serta comparative dan trend analysis untuk memahami pola customer interaction pada platform ecommerce TheLook.</a:t>
            </a:r>
          </a:p>
          <a:p>
            <a:endParaRPr lang="en-US"/>
          </a:p>
          <a:p>
            <a:r>
              <a:rPr lang="en-US"/>
              <a:t>Hasil analisis menunjukkan bahwa Email menjadi traffic source dengan kontribusi activity terbesar dibanding channel lainnya. Selain itu, conversion rate antar seluruh traffic source relatif homogen, sehingga channel alternatif masih memiliki potensi scaling yang dapat dioptimalkan.</a:t>
            </a:r>
          </a:p>
          <a:p>
            <a:endParaRPr lang="en-US"/>
          </a:p>
          <a:p>
            <a:r>
              <a:rPr lang="en-US"/>
              <a:t>Analisis juga menunjukkan adanya pertumbuhan customer activity yang konsisten dari tahun ke tahun, terutama sepanjang 2023 hingga awal 2024, yang mengindikasikan peningkatan engagement dan scalability platform ecommerce TheLook.</a:t>
            </a:r>
          </a:p>
        </p:txBody>
      </p:sp>
    </p:spTree>
    <p:extLst>
      <p:ext uri="{BB962C8B-B14F-4D97-AF65-F5344CB8AC3E}">
        <p14:creationId xmlns:p14="http://schemas.microsoft.com/office/powerpoint/2010/main" val="3344536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Dashboard ini digunakan untuk memvisualisasikan customer acquisition dan customer activity behavior pada platform ecommerce TheLook secara lebih interaktif.</a:t>
            </a:r>
          </a:p>
          <a:p>
            <a:endParaRPr lang="en-US"/>
          </a:p>
          <a:p>
            <a:r>
              <a:rPr lang="en-US"/>
              <a:t>Insight pertama yang terlihat adalah dominasi Email sebagai traffic source utama dengan kontribusi customer activity terbesar dibanding channel lainnya. Hal ini terlihat pada traffic source distribution yang menunjukkan bahwa hampir setengah total activity berasal dari Email channel.</a:t>
            </a:r>
          </a:p>
          <a:p>
            <a:endParaRPr lang="en-US"/>
          </a:p>
          <a:p>
            <a:r>
              <a:rPr lang="en-US"/>
              <a:t>Insight kedua terlihat pada conversion rate antar traffic source yang relatif homogen di kisaran 7.4 hingga 7.5 persen. Meskipun volume activity antar channel berbeda cukup signifikan, conversion performance antar source sebenarnya relatif serupa.</a:t>
            </a:r>
          </a:p>
          <a:p>
            <a:endParaRPr lang="en-US"/>
          </a:p>
          <a:p>
            <a:r>
              <a:rPr lang="en-US"/>
              <a:t>Selain itu, dashboard juga menunjukkan adanya pertumbuhan customer activity yang konsisten dari tahun ke tahun, terutama sepanjang 2023 hingga awal 2024, yang mengindikasikan peningkatan engagement dan scalability platform ecommerce TheLook.</a:t>
            </a:r>
          </a:p>
        </p:txBody>
      </p:sp>
    </p:spTree>
    <p:extLst>
      <p:ext uri="{BB962C8B-B14F-4D97-AF65-F5344CB8AC3E}">
        <p14:creationId xmlns:p14="http://schemas.microsoft.com/office/powerpoint/2010/main" val="144288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2901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Pada analisis product dan revenue performance, dilakukan revenue analysis, comparative analysis, serta trend analysis untuk memahami kontribusi revenue dan profitability pada setiap product category.</a:t>
            </a:r>
          </a:p>
          <a:p>
            <a:endParaRPr lang="en-US"/>
          </a:p>
          <a:p>
            <a:r>
              <a:rPr lang="en-US"/>
              <a:t>Hasil analisis menunjukkan bahwa kategori seperti Outerwear &amp; Coats dan Jeans menjadi kontributor revenue terbesar pada platform ecommerce TheLook.</a:t>
            </a:r>
          </a:p>
          <a:p>
            <a:endParaRPr lang="en-US"/>
          </a:p>
          <a:p>
            <a:r>
              <a:rPr lang="en-US"/>
              <a:t>Namun, ditemukan bahwa kategori dengan revenue tinggi tidak selalu memiliki profit margin tertinggi, sehingga performa revenue perlu dianalisis bersamaan dengan profitability untuk menghasilkan evaluasi bisnis yang lebih akurat.</a:t>
            </a:r>
          </a:p>
          <a:p>
            <a:endParaRPr lang="en-US"/>
          </a:p>
          <a:p>
            <a:r>
              <a:rPr lang="en-US"/>
              <a:t>Selain itu, monthly revenue juga menunjukkan pertumbuhan yang konsisten dari tahun ke tahun, terutama sepanjang 2023 hingga awal 2024, yang mengindikasikan adanya business growth dan peningkatan transactional activity pada platform.</a:t>
            </a:r>
          </a:p>
        </p:txBody>
      </p:sp>
    </p:spTree>
    <p:extLst>
      <p:ext uri="{BB962C8B-B14F-4D97-AF65-F5344CB8AC3E}">
        <p14:creationId xmlns:p14="http://schemas.microsoft.com/office/powerpoint/2010/main" val="3223204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Dashboard ini digunakan untuk memvisualisasikan performa revenue dan product category pada platform ecommerce TheLook secara lebih interaktif.</a:t>
            </a:r>
          </a:p>
          <a:p>
            <a:endParaRPr lang="en-US"/>
          </a:p>
          <a:p>
            <a:r>
              <a:rPr lang="en-US"/>
              <a:t>Insight pertama yang terlihat adalah konsentrasi revenue pada beberapa kategori utama seperti Outerwear &amp; Coats dan Jeans yang menjadi kontributor terbesar terhadap total revenue bisnis.</a:t>
            </a:r>
          </a:p>
          <a:p>
            <a:endParaRPr lang="en-US"/>
          </a:p>
          <a:p>
            <a:r>
              <a:rPr lang="en-US"/>
              <a:t>Selain itu, dashboard juga menunjukkan bahwa kategori dengan revenue tinggi tidak selalu memiliki profit margin tertinggi. Hal ini terlihat pada perbedaan posisi antar kategori pada visual profitability dan revenue versus profit comparison.</a:t>
            </a:r>
          </a:p>
          <a:p>
            <a:endParaRPr lang="en-US"/>
          </a:p>
          <a:p>
            <a:r>
              <a:rPr lang="en-US"/>
              <a:t>Dashboard juga memperlihatkan adanya pertumbuhan monthly revenue yang konsisten dari tahun ke tahun, terutama sepanjang 2023 hingga awal 2024, yang menunjukkan peningkatan transactional activity pada platform ecommerce TheLook.</a:t>
            </a:r>
          </a:p>
        </p:txBody>
      </p:sp>
    </p:spTree>
    <p:extLst>
      <p:ext uri="{BB962C8B-B14F-4D97-AF65-F5344CB8AC3E}">
        <p14:creationId xmlns:p14="http://schemas.microsoft.com/office/powerpoint/2010/main" val="1076509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0749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Pada analisis fulfillment dan operational performance, dilakukan operational performance analysis, trend analysis, serta efficiency evaluation untuk memahami kestabilan performa operasional pada platform ecommerce TheLook.</a:t>
            </a:r>
          </a:p>
          <a:p>
            <a:endParaRPr lang="en-US"/>
          </a:p>
          <a:p>
            <a:r>
              <a:rPr lang="en-US"/>
              <a:t>Hasil analisis menunjukkan bahwa average fulfillment duration relatif stabil di sekitar 3 hari sepanjang periode analisis. Selain itu, tidak ditemukan lonjakan fulfillment delay yang signifikan dari waktu ke waktu.</a:t>
            </a:r>
          </a:p>
          <a:p>
            <a:endParaRPr lang="en-US"/>
          </a:p>
          <a:p>
            <a:r>
              <a:rPr lang="en-US"/>
              <a:t>Analisis juga menunjukkan bahwa peningkatan customer activity dan revenue yang terjadi sepanjang periode bisnis belum memberikan dampak negatif yang signifikan terhadap fulfillment efficiency platform.</a:t>
            </a:r>
          </a:p>
          <a:p>
            <a:endParaRPr lang="en-US"/>
          </a:p>
          <a:p>
            <a:r>
              <a:rPr lang="en-US"/>
              <a:t>Secara keseluruhan, hasil analisis mengindikasikan bahwa operational scalability TheLook masih terjaga dengan cukup baik.</a:t>
            </a:r>
          </a:p>
        </p:txBody>
      </p:sp>
    </p:spTree>
    <p:extLst>
      <p:ext uri="{BB962C8B-B14F-4D97-AF65-F5344CB8AC3E}">
        <p14:creationId xmlns:p14="http://schemas.microsoft.com/office/powerpoint/2010/main" val="2720952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Dashboard ini digunakan untuk memvisualisasikan fulfillment dan operational performance pada platform ecommerce TheLook secara lebih interaktif.</a:t>
            </a:r>
          </a:p>
          <a:p>
            <a:endParaRPr lang="en-US"/>
          </a:p>
          <a:p>
            <a:r>
              <a:rPr lang="en-US"/>
              <a:t>Insight pertama yang terlihat adalah average fulfillment duration yang relatif stabil di sekitar 3 hari sepanjang periode analisis. Hal ini menunjukkan bahwa proses fulfillment masih berjalan secara konsisten meskipun business activity terus meningkat.</a:t>
            </a:r>
          </a:p>
          <a:p>
            <a:endParaRPr lang="en-US"/>
          </a:p>
          <a:p>
            <a:r>
              <a:rPr lang="en-US"/>
              <a:t>Dashboard juga menunjukkan bahwa tidak terdapat lonjakan fulfillment delay yang signifikan dari waktu ke waktu. Stability pada fulfillment trend mengindikasikan bahwa operational scalability platform masih terjaga dengan baik.</a:t>
            </a:r>
          </a:p>
          <a:p>
            <a:endParaRPr lang="en-US"/>
          </a:p>
          <a:p>
            <a:r>
              <a:rPr lang="en-US"/>
              <a:t>Selain itu, pertumbuhan customer activity dan transactional volume yang terjadi sepanjang 2023 hingga awal 2024 belum memberikan tekanan operasional yang signifikan terhadap delivery performance platform ecommerce TheLook.</a:t>
            </a:r>
          </a:p>
        </p:txBody>
      </p:sp>
    </p:spTree>
    <p:extLst>
      <p:ext uri="{BB962C8B-B14F-4D97-AF65-F5344CB8AC3E}">
        <p14:creationId xmlns:p14="http://schemas.microsoft.com/office/powerpoint/2010/main" val="23541476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44404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Pada analisis returns dan operational performance, dilakukan return rate analysis, comparative category analysis, serta operational trend analysis untuk memahami dampak product returns terhadap performa bisnis ecommerce TheLook.</a:t>
            </a:r>
          </a:p>
          <a:p>
            <a:endParaRPr lang="en-US"/>
          </a:p>
          <a:p>
            <a:r>
              <a:rPr lang="en-US"/>
              <a:t>Hasil analisis menunjukkan bahwa return rate berada pada level yang relatif tinggi dan stabil sepanjang periode analisis, yang mengindikasikan bahwa product returns masih menjadi salah satu sumber revenue leakage utama bagi bisnis.</a:t>
            </a:r>
          </a:p>
          <a:p>
            <a:endParaRPr lang="en-US"/>
          </a:p>
          <a:p>
            <a:r>
              <a:rPr lang="en-US"/>
              <a:t>Selain itu, kategori seperti Outerwear &amp; Coats dan Jeans menjadi kontributor revenue leakage terbesar karena memiliki kombinasi volume transaksi dan returned revenue yang tinggi.</a:t>
            </a:r>
          </a:p>
          <a:p>
            <a:endParaRPr lang="en-US"/>
          </a:p>
          <a:p>
            <a:r>
              <a:rPr lang="en-US"/>
              <a:t>Di sisi operasional, fulfillment performance menunjukkan kondisi yang relatif stabil dengan average fulfillment duration di sekitar 3 hari sepanjang periode analisis.</a:t>
            </a:r>
          </a:p>
        </p:txBody>
      </p:sp>
    </p:spTree>
    <p:extLst>
      <p:ext uri="{BB962C8B-B14F-4D97-AF65-F5344CB8AC3E}">
        <p14:creationId xmlns:p14="http://schemas.microsoft.com/office/powerpoint/2010/main" val="5747260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Pada analisis returns dan revenue leakage, dilakukan return rate analysis, revenue leakage analysis, serta comparative category analysis untuk memahami dampak product returns terhadap performa bisnis ecommerce TheLook.</a:t>
            </a:r>
          </a:p>
          <a:p>
            <a:endParaRPr lang="en-US"/>
          </a:p>
          <a:p>
            <a:r>
              <a:rPr lang="en-US"/>
              <a:t>Hasil analisis menunjukkan bahwa return rate berada pada level yang relatif tinggi dan stabil sepanjang periode analisis, yang mengindikasikan bahwa product returns masih menjadi salah satu sumber revenue leakage utama bagi bisnis.</a:t>
            </a:r>
          </a:p>
          <a:p>
            <a:endParaRPr lang="en-US"/>
          </a:p>
          <a:p>
            <a:r>
              <a:rPr lang="en-US"/>
              <a:t>Selain itu, kategori seperti Outerwear &amp; Coats dan Jeans menjadi kontributor leakage terbesar terhadap returned revenue karena memiliki volume transaksi yang tinggi.</a:t>
            </a:r>
          </a:p>
          <a:p>
            <a:endParaRPr lang="en-US"/>
          </a:p>
          <a:p>
            <a:r>
              <a:rPr lang="en-US"/>
              <a:t>Analisis juga menunjukkan bahwa kategori dengan transactional activity besar cenderung memiliki risiko leakage yang lebih tinggi akibat tingginya jumlah product returns.</a:t>
            </a:r>
          </a:p>
        </p:txBody>
      </p:sp>
    </p:spTree>
    <p:extLst>
      <p:ext uri="{BB962C8B-B14F-4D97-AF65-F5344CB8AC3E}">
        <p14:creationId xmlns:p14="http://schemas.microsoft.com/office/powerpoint/2010/main" val="9658777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1e91eb690e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1e91eb690e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1946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Berdasarkan hasil analisis customer acquisition dan behavior, ditemukan bahwa sebagian besar customer activity masih sangat bergantung pada Email channel, sehingga terdapat acquisition concentration risk terhadap performa customer engagement platform.</a:t>
            </a:r>
          </a:p>
          <a:p>
            <a:endParaRPr lang="en-US"/>
          </a:p>
          <a:p>
            <a:r>
              <a:rPr lang="en-US"/>
              <a:t>Di sisi lain, conversion efficiency antar channel sebenarnya relatif serupa, yang menunjukkan bahwa channel alternatif seperti Facebook, YouTube, dan Organic traffic masih memiliki potensi scaling yang belum dimanfaatkan secara optimal.</a:t>
            </a:r>
          </a:p>
          <a:p>
            <a:endParaRPr lang="en-US"/>
          </a:p>
          <a:p>
            <a:r>
              <a:rPr lang="en-US"/>
              <a:t>Oleh karena itu, TheLook disarankan untuk menerapkan channel diversification strategy dengan meningkatkan investasi acquisition pada channel alternatif serta memperkuat retargeting dan personalized marketing strategy.</a:t>
            </a:r>
          </a:p>
          <a:p>
            <a:endParaRPr lang="en-US"/>
          </a:p>
          <a:p>
            <a:r>
              <a:rPr lang="en-US"/>
              <a:t>Implementasi strategi ini diharapkan dapat mengurangi ketergantungan terhadap satu traffic source utama, meningkatkan acquisition scalability, serta menciptakan struktur customer acquisition yang lebih stabil dan sustainable.</a:t>
            </a:r>
          </a:p>
          <a:p>
            <a:endParaRPr lang="en-US"/>
          </a:p>
        </p:txBody>
      </p:sp>
    </p:spTree>
    <p:extLst>
      <p:ext uri="{BB962C8B-B14F-4D97-AF65-F5344CB8AC3E}">
        <p14:creationId xmlns:p14="http://schemas.microsoft.com/office/powerpoint/2010/main" val="33054269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Berdasarkan hasil analisis product dan revenue performance, ditemukan bahwa struktur bisnis TheLook saat ini masih cenderung berorientasi pada revenue growth, sementara profit efficiency antar kategori produk belum sepenuhnya dioptimalkan.</a:t>
            </a:r>
          </a:p>
          <a:p>
            <a:endParaRPr lang="en-US"/>
          </a:p>
          <a:p>
            <a:r>
              <a:rPr lang="en-US"/>
              <a:t>Selain itu, ketergantungan revenue pada beberapa kategori utama juga menciptakan category concentration risk terhadap overall business performance.</a:t>
            </a:r>
          </a:p>
          <a:p>
            <a:endParaRPr lang="en-US"/>
          </a:p>
          <a:p>
            <a:r>
              <a:rPr lang="en-US"/>
              <a:t>Di sisi lain, beberapa kategori dengan margin tinggi menunjukkan adanya peluang peningkatan profitability tanpa harus selalu bergantung pada peningkatan sales volume secara agresif.</a:t>
            </a:r>
          </a:p>
          <a:p>
            <a:endParaRPr lang="en-US"/>
          </a:p>
          <a:p>
            <a:r>
              <a:rPr lang="en-US"/>
              <a:t>Oleh karena itu, TheLook disarankan untuk mulai menerapkan profitability-driven category strategy dengan memprioritaskan kategori yang memiliki margin tinggi, melakukan pricing optimization, serta meningkatkan margin efficiency pada kategori revenue-dominant.</a:t>
            </a:r>
          </a:p>
          <a:p>
            <a:endParaRPr lang="en-US"/>
          </a:p>
          <a:p>
            <a:r>
              <a:rPr lang="en-US"/>
              <a:t>Strategi ini diharapkan dapat meningkatkan overall profitability, menciptakan revenue structure yang lebih sehat, serta mendukung sustainable business growth dalam jangka panjang.</a:t>
            </a:r>
          </a:p>
        </p:txBody>
      </p:sp>
    </p:spTree>
    <p:extLst>
      <p:ext uri="{BB962C8B-B14F-4D97-AF65-F5344CB8AC3E}">
        <p14:creationId xmlns:p14="http://schemas.microsoft.com/office/powerpoint/2010/main" val="3844109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Berdasarkan hasil analisis operational performance, ditemukan bahwa fulfillment duration pada platform ecommerce TheLook masih relatif stabil meskipun customer activity dan transaction volume terus meningkat.</a:t>
            </a:r>
          </a:p>
          <a:p>
            <a:pPr marL="158750" indent="0">
              <a:buNone/>
            </a:pPr>
            <a:endParaRPr lang="en-US"/>
          </a:p>
          <a:p>
            <a:r>
              <a:rPr lang="en-US"/>
              <a:t>Hal ini menunjukkan bahwa operational process saat ini masih cukup scalable untuk mendukung pertumbuhan bisnis yang terjadi.</a:t>
            </a:r>
          </a:p>
          <a:p>
            <a:endParaRPr lang="en-US"/>
          </a:p>
          <a:p>
            <a:r>
              <a:rPr lang="en-US"/>
              <a:t>Namun demikian, peningkatan business activity yang terus berlangsung juga berpotensi meningkatkan operational complexity di masa mendatang apabila tidak diantisipasi dengan baik.</a:t>
            </a:r>
          </a:p>
          <a:p>
            <a:endParaRPr lang="en-US"/>
          </a:p>
          <a:p>
            <a:r>
              <a:rPr lang="en-US"/>
              <a:t>Oleh karena itu, TheLook disarankan untuk mempertahankan operational scalability strategy melalui peningkatan operational monitoring, forecasting, serta evaluasi berkala terhadap fulfillment workflow dan delivery coordination.</a:t>
            </a:r>
          </a:p>
          <a:p>
            <a:endParaRPr lang="en-US"/>
          </a:p>
          <a:p>
            <a:r>
              <a:rPr lang="en-US"/>
              <a:t>Strategi ini diharapkan dapat menjaga fulfillment stability, meningkatkan delivery consistency, serta mendukung sustainable business growth tanpa mengorbankan customer experience.</a:t>
            </a:r>
          </a:p>
          <a:p>
            <a:endParaRPr lang="en-US"/>
          </a:p>
        </p:txBody>
      </p:sp>
    </p:spTree>
    <p:extLst>
      <p:ext uri="{BB962C8B-B14F-4D97-AF65-F5344CB8AC3E}">
        <p14:creationId xmlns:p14="http://schemas.microsoft.com/office/powerpoint/2010/main" val="1300287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3"/>
        <p:cNvGrpSpPr/>
        <p:nvPr/>
      </p:nvGrpSpPr>
      <p:grpSpPr>
        <a:xfrm>
          <a:off x="0" y="0"/>
          <a:ext cx="0" cy="0"/>
          <a:chOff x="0" y="0"/>
          <a:chExt cx="0" cy="0"/>
        </a:xfrm>
      </p:grpSpPr>
      <p:sp>
        <p:nvSpPr>
          <p:cNvPr id="1604" name="Google Shape;1604;g28cc7b9663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5" name="Google Shape;1605;g28cc7b9663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Berdasarkan hasil analisis returns dan revenue leakage, ditemukan bahwa tingkat return yang tinggi masih memberikan dampak signifikan terhadap profitability bisnis ecommerce TheLook.</a:t>
            </a:r>
          </a:p>
          <a:p>
            <a:endParaRPr lang="en-US"/>
          </a:p>
          <a:p>
            <a:r>
              <a:rPr lang="en-US"/>
              <a:t>Selain itu, sebagian besar revenue leakage berasal dari kategori dengan transactional volume tinggi sehingga peningkatan sales volume saja tidak cukup apabila return behavior customer tetap tinggi.</a:t>
            </a:r>
          </a:p>
          <a:p>
            <a:endParaRPr lang="en-US"/>
          </a:p>
          <a:p>
            <a:r>
              <a:rPr lang="en-US"/>
              <a:t>Return pattern yang ditemukan juga mengindikasikan kemungkinan adanya product expectation mismatch, sizing inconsistency, maupun product information yang belum sepenuhnya optimal sebelum customer melakukan purchase.</a:t>
            </a:r>
          </a:p>
          <a:p>
            <a:endParaRPr lang="en-US"/>
          </a:p>
          <a:p>
            <a:r>
              <a:rPr lang="en-US"/>
              <a:t>Oleh karena itu, TheLook disarankan untuk menerapkan return prevention strategy dengan meningkatkan product information quality, memperkuat customer review visibility, serta melakukan return behavior monitoring dan quality evaluation secara berkala.</a:t>
            </a:r>
          </a:p>
          <a:p>
            <a:endParaRPr lang="en-US"/>
          </a:p>
          <a:p>
            <a:r>
              <a:rPr lang="en-US"/>
              <a:t>Strategi ini diharapkan dapat menurunkan revenue leakage, meningkatkan effective profitability, serta mendukung long-term business sustainability perusahaan.</a:t>
            </a:r>
          </a:p>
        </p:txBody>
      </p:sp>
    </p:spTree>
    <p:extLst>
      <p:ext uri="{BB962C8B-B14F-4D97-AF65-F5344CB8AC3E}">
        <p14:creationId xmlns:p14="http://schemas.microsoft.com/office/powerpoint/2010/main" val="39432178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7924" y="0"/>
            <a:ext cx="9128151" cy="5143499"/>
          </a:xfrm>
          <a:prstGeom prst="rect">
            <a:avLst/>
          </a:prstGeom>
          <a:noFill/>
          <a:ln>
            <a:noFill/>
          </a:ln>
        </p:spPr>
      </p:pic>
      <p:sp>
        <p:nvSpPr>
          <p:cNvPr id="10" name="Google Shape;10;p2"/>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 name="Google Shape;11;p2"/>
          <p:cNvSpPr txBox="1">
            <a:spLocks noGrp="1"/>
          </p:cNvSpPr>
          <p:nvPr>
            <p:ph type="ctrTitle"/>
          </p:nvPr>
        </p:nvSpPr>
        <p:spPr>
          <a:xfrm>
            <a:off x="2308350" y="1494300"/>
            <a:ext cx="45273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308350" y="3204600"/>
            <a:ext cx="4527300" cy="444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15" name="Google Shape;15;p3"/>
          <p:cNvGrpSpPr/>
          <p:nvPr/>
        </p:nvGrpSpPr>
        <p:grpSpPr>
          <a:xfrm>
            <a:off x="0" y="0"/>
            <a:ext cx="9513725" cy="5143425"/>
            <a:chOff x="0" y="0"/>
            <a:chExt cx="9513725" cy="5143425"/>
          </a:xfrm>
        </p:grpSpPr>
        <p:sp>
          <p:nvSpPr>
            <p:cNvPr id="16" name="Google Shape;16;p3"/>
            <p:cNvSpPr/>
            <p:nvPr/>
          </p:nvSpPr>
          <p:spPr>
            <a:xfrm>
              <a:off x="84216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 name="Google Shape;17;p3"/>
            <p:cNvSpPr/>
            <p:nvPr/>
          </p:nvSpPr>
          <p:spPr>
            <a:xfrm>
              <a:off x="0" y="4014825"/>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8" name="Google Shape;18;p3"/>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9" name="Google Shape;19;p3"/>
            <p:cNvSpPr/>
            <p:nvPr/>
          </p:nvSpPr>
          <p:spPr>
            <a:xfrm>
              <a:off x="7631225" y="3265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20" name="Google Shape;20;p3"/>
          <p:cNvGrpSpPr/>
          <p:nvPr/>
        </p:nvGrpSpPr>
        <p:grpSpPr>
          <a:xfrm>
            <a:off x="-78450" y="-78300"/>
            <a:ext cx="6346163" cy="6476788"/>
            <a:chOff x="-78450" y="-78300"/>
            <a:chExt cx="6346163" cy="6476788"/>
          </a:xfrm>
        </p:grpSpPr>
        <p:sp>
          <p:nvSpPr>
            <p:cNvPr id="21" name="Google Shape;21;p3"/>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22" name="Google Shape;22;p3"/>
            <p:cNvGrpSpPr/>
            <p:nvPr/>
          </p:nvGrpSpPr>
          <p:grpSpPr>
            <a:xfrm>
              <a:off x="4382438" y="4514238"/>
              <a:ext cx="1885275" cy="1884250"/>
              <a:chOff x="2609275" y="3149350"/>
              <a:chExt cx="1885275" cy="1884250"/>
            </a:xfrm>
          </p:grpSpPr>
          <p:sp>
            <p:nvSpPr>
              <p:cNvPr id="23" name="Google Shape;23;p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 name="Google Shape;42;p3"/>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3" name="Google Shape;43;p3"/>
          <p:cNvSpPr txBox="1">
            <a:spLocks noGrp="1"/>
          </p:cNvSpPr>
          <p:nvPr>
            <p:ph type="title" idx="2" hasCustomPrompt="1"/>
          </p:nvPr>
        </p:nvSpPr>
        <p:spPr>
          <a:xfrm>
            <a:off x="4027350" y="1272000"/>
            <a:ext cx="1089300" cy="1089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pic>
        <p:nvPicPr>
          <p:cNvPr id="123" name="Google Shape;123;p6"/>
          <p:cNvPicPr preferRelativeResize="0"/>
          <p:nvPr/>
        </p:nvPicPr>
        <p:blipFill>
          <a:blip r:embed="rId2">
            <a:alphaModFix/>
          </a:blip>
          <a:stretch>
            <a:fillRect/>
          </a:stretch>
        </p:blipFill>
        <p:spPr>
          <a:xfrm flipH="1">
            <a:off x="7924" y="0"/>
            <a:ext cx="9128151" cy="5143499"/>
          </a:xfrm>
          <a:prstGeom prst="rect">
            <a:avLst/>
          </a:prstGeom>
          <a:noFill/>
          <a:ln>
            <a:noFill/>
          </a:ln>
        </p:spPr>
      </p:pic>
      <p:grpSp>
        <p:nvGrpSpPr>
          <p:cNvPr id="124" name="Google Shape;124;p6"/>
          <p:cNvGrpSpPr/>
          <p:nvPr/>
        </p:nvGrpSpPr>
        <p:grpSpPr>
          <a:xfrm>
            <a:off x="-313650" y="-25"/>
            <a:ext cx="9457650" cy="5143450"/>
            <a:chOff x="-313650" y="-25"/>
            <a:chExt cx="9457650" cy="5143450"/>
          </a:xfrm>
        </p:grpSpPr>
        <p:sp>
          <p:nvSpPr>
            <p:cNvPr id="125" name="Google Shape;125;p6"/>
            <p:cNvSpPr/>
            <p:nvPr/>
          </p:nvSpPr>
          <p:spPr>
            <a:xfrm rot="10800000">
              <a:off x="8676300" y="-25"/>
              <a:ext cx="467700" cy="1456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6" name="Google Shape;126;p6"/>
            <p:cNvSpPr/>
            <p:nvPr/>
          </p:nvSpPr>
          <p:spPr>
            <a:xfrm rot="10800000">
              <a:off x="688050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7" name="Google Shape;127;p6"/>
            <p:cNvSpPr/>
            <p:nvPr/>
          </p:nvSpPr>
          <p:spPr>
            <a:xfrm>
              <a:off x="-313650" y="46040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8" name="Google Shape;128;p6"/>
            <p:cNvSpPr/>
            <p:nvPr/>
          </p:nvSpPr>
          <p:spPr>
            <a:xfrm flipH="1">
              <a:off x="5715000" y="4681725"/>
              <a:ext cx="3429000" cy="461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129" name="Google Shape;129;p6"/>
          <p:cNvGrpSpPr/>
          <p:nvPr/>
        </p:nvGrpSpPr>
        <p:grpSpPr>
          <a:xfrm>
            <a:off x="-1165287" y="-673237"/>
            <a:ext cx="1885275" cy="1884250"/>
            <a:chOff x="2609275" y="3149350"/>
            <a:chExt cx="1885275" cy="1884250"/>
          </a:xfrm>
        </p:grpSpPr>
        <p:sp>
          <p:nvSpPr>
            <p:cNvPr id="130" name="Google Shape;130;p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8"/>
        <p:cNvGrpSpPr/>
        <p:nvPr/>
      </p:nvGrpSpPr>
      <p:grpSpPr>
        <a:xfrm>
          <a:off x="0" y="0"/>
          <a:ext cx="0" cy="0"/>
          <a:chOff x="0" y="0"/>
          <a:chExt cx="0" cy="0"/>
        </a:xfrm>
      </p:grpSpPr>
      <p:pic>
        <p:nvPicPr>
          <p:cNvPr id="209" name="Google Shape;209;p9"/>
          <p:cNvPicPr preferRelativeResize="0"/>
          <p:nvPr/>
        </p:nvPicPr>
        <p:blipFill>
          <a:blip r:embed="rId2">
            <a:alphaModFix/>
          </a:blip>
          <a:stretch>
            <a:fillRect/>
          </a:stretch>
        </p:blipFill>
        <p:spPr>
          <a:xfrm flipH="1">
            <a:off x="7924" y="0"/>
            <a:ext cx="9128151" cy="5143499"/>
          </a:xfrm>
          <a:prstGeom prst="rect">
            <a:avLst/>
          </a:prstGeom>
          <a:noFill/>
          <a:ln>
            <a:noFill/>
          </a:ln>
        </p:spPr>
      </p:pic>
      <p:pic>
        <p:nvPicPr>
          <p:cNvPr id="210" name="Google Shape;210;p9"/>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211" name="Google Shape;211;p9"/>
          <p:cNvGrpSpPr/>
          <p:nvPr/>
        </p:nvGrpSpPr>
        <p:grpSpPr>
          <a:xfrm>
            <a:off x="0" y="0"/>
            <a:ext cx="9362875" cy="5143500"/>
            <a:chOff x="0" y="0"/>
            <a:chExt cx="9362875" cy="5143500"/>
          </a:xfrm>
        </p:grpSpPr>
        <p:sp>
          <p:nvSpPr>
            <p:cNvPr id="212" name="Google Shape;212;p9"/>
            <p:cNvSpPr/>
            <p:nvPr/>
          </p:nvSpPr>
          <p:spPr>
            <a:xfrm>
              <a:off x="79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3" name="Google Shape;213;p9"/>
            <p:cNvSpPr/>
            <p:nvPr/>
          </p:nvSpPr>
          <p:spPr>
            <a:xfrm rot="-5400000">
              <a:off x="7825525" y="3832950"/>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4" name="Google Shape;214;p9"/>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15" name="Google Shape;215;p9"/>
            <p:cNvSpPr/>
            <p:nvPr/>
          </p:nvSpPr>
          <p:spPr>
            <a:xfrm>
              <a:off x="7480375" y="4702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216" name="Google Shape;216;p9"/>
          <p:cNvSpPr/>
          <p:nvPr/>
        </p:nvSpPr>
        <p:spPr>
          <a:xfrm rot="5400000">
            <a:off x="3685175" y="48296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txBox="1">
            <a:spLocks noGrp="1"/>
          </p:cNvSpPr>
          <p:nvPr>
            <p:ph type="title"/>
          </p:nvPr>
        </p:nvSpPr>
        <p:spPr>
          <a:xfrm>
            <a:off x="2330700" y="1718288"/>
            <a:ext cx="4482600" cy="736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18" name="Google Shape;218;p9"/>
          <p:cNvSpPr txBox="1">
            <a:spLocks noGrp="1"/>
          </p:cNvSpPr>
          <p:nvPr>
            <p:ph type="subTitle" idx="1"/>
          </p:nvPr>
        </p:nvSpPr>
        <p:spPr>
          <a:xfrm>
            <a:off x="2330700" y="2336514"/>
            <a:ext cx="4482600" cy="1088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5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2">
  <p:cSld name="CUSTOM_7_1">
    <p:spTree>
      <p:nvGrpSpPr>
        <p:cNvPr id="1" name="Shape 362"/>
        <p:cNvGrpSpPr/>
        <p:nvPr/>
      </p:nvGrpSpPr>
      <p:grpSpPr>
        <a:xfrm>
          <a:off x="0" y="0"/>
          <a:ext cx="0" cy="0"/>
          <a:chOff x="0" y="0"/>
          <a:chExt cx="0" cy="0"/>
        </a:xfrm>
      </p:grpSpPr>
      <p:pic>
        <p:nvPicPr>
          <p:cNvPr id="363" name="Google Shape;363;p16"/>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364" name="Google Shape;364;p16"/>
          <p:cNvGrpSpPr/>
          <p:nvPr/>
        </p:nvGrpSpPr>
        <p:grpSpPr>
          <a:xfrm>
            <a:off x="-413550" y="1958000"/>
            <a:ext cx="10720388" cy="2311663"/>
            <a:chOff x="-413550" y="1958000"/>
            <a:chExt cx="10720388" cy="2311663"/>
          </a:xfrm>
        </p:grpSpPr>
        <p:grpSp>
          <p:nvGrpSpPr>
            <p:cNvPr id="365" name="Google Shape;365;p16"/>
            <p:cNvGrpSpPr/>
            <p:nvPr/>
          </p:nvGrpSpPr>
          <p:grpSpPr>
            <a:xfrm>
              <a:off x="8421563" y="2385413"/>
              <a:ext cx="1885275" cy="1884250"/>
              <a:chOff x="2609275" y="3149350"/>
              <a:chExt cx="1885275" cy="1884250"/>
            </a:xfrm>
          </p:grpSpPr>
          <p:sp>
            <p:nvSpPr>
              <p:cNvPr id="366" name="Google Shape;366;p16"/>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6"/>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6"/>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6"/>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6"/>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6"/>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6"/>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6"/>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6"/>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6"/>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6"/>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6"/>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6"/>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6"/>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6"/>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6"/>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6"/>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6"/>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6"/>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16"/>
            <p:cNvGrpSpPr/>
            <p:nvPr/>
          </p:nvGrpSpPr>
          <p:grpSpPr>
            <a:xfrm>
              <a:off x="-413550" y="1958000"/>
              <a:ext cx="986125" cy="2095500"/>
              <a:chOff x="7631225" y="2241175"/>
              <a:chExt cx="986125" cy="2095500"/>
            </a:xfrm>
          </p:grpSpPr>
          <p:cxnSp>
            <p:nvCxnSpPr>
              <p:cNvPr id="386" name="Google Shape;386;p16"/>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7" name="Google Shape;387;p16"/>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8" name="Google Shape;388;p16"/>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89" name="Google Shape;389;p16"/>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0" name="Google Shape;390;p16"/>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1" name="Google Shape;391;p16"/>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2" name="Google Shape;392;p16"/>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3" name="Google Shape;393;p16"/>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4" name="Google Shape;394;p16"/>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5" name="Google Shape;395;p16"/>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6" name="Google Shape;396;p16"/>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7" name="Google Shape;397;p16"/>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8" name="Google Shape;398;p16"/>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399" name="Google Shape;399;p16"/>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400" name="Google Shape;400;p16"/>
          <p:cNvGrpSpPr/>
          <p:nvPr/>
        </p:nvGrpSpPr>
        <p:grpSpPr>
          <a:xfrm>
            <a:off x="7925" y="-25"/>
            <a:ext cx="9136075" cy="5143513"/>
            <a:chOff x="7925" y="-25"/>
            <a:chExt cx="9136075" cy="5143513"/>
          </a:xfrm>
        </p:grpSpPr>
        <p:sp>
          <p:nvSpPr>
            <p:cNvPr id="401" name="Google Shape;401;p16"/>
            <p:cNvSpPr/>
            <p:nvPr/>
          </p:nvSpPr>
          <p:spPr>
            <a:xfrm>
              <a:off x="7925" y="4829688"/>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02" name="Google Shape;402;p16"/>
            <p:cNvSpPr/>
            <p:nvPr/>
          </p:nvSpPr>
          <p:spPr>
            <a:xfrm rot="10800000">
              <a:off x="7504200" y="-25"/>
              <a:ext cx="1639800" cy="4248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403" name="Google Shape;403;p1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413"/>
        <p:cNvGrpSpPr/>
        <p:nvPr/>
      </p:nvGrpSpPr>
      <p:grpSpPr>
        <a:xfrm>
          <a:off x="0" y="0"/>
          <a:ext cx="0" cy="0"/>
          <a:chOff x="0" y="0"/>
          <a:chExt cx="0" cy="0"/>
        </a:xfrm>
      </p:grpSpPr>
      <p:pic>
        <p:nvPicPr>
          <p:cNvPr id="414" name="Google Shape;414;p18"/>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415" name="Google Shape;415;p18"/>
          <p:cNvGrpSpPr/>
          <p:nvPr/>
        </p:nvGrpSpPr>
        <p:grpSpPr>
          <a:xfrm>
            <a:off x="0" y="3870800"/>
            <a:ext cx="2263500" cy="1272725"/>
            <a:chOff x="0" y="3870800"/>
            <a:chExt cx="2263500" cy="1272725"/>
          </a:xfrm>
        </p:grpSpPr>
        <p:sp>
          <p:nvSpPr>
            <p:cNvPr id="416" name="Google Shape;416;p18"/>
            <p:cNvSpPr/>
            <p:nvPr/>
          </p:nvSpPr>
          <p:spPr>
            <a:xfrm>
              <a:off x="0" y="3870800"/>
              <a:ext cx="986100" cy="12726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17" name="Google Shape;417;p18"/>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418" name="Google Shape;418;p18"/>
          <p:cNvSpPr/>
          <p:nvPr/>
        </p:nvSpPr>
        <p:spPr>
          <a:xfrm rot="-5400000">
            <a:off x="8241950" y="155735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8"/>
          <p:cNvSpPr txBox="1">
            <a:spLocks noGrp="1"/>
          </p:cNvSpPr>
          <p:nvPr>
            <p:ph type="title"/>
          </p:nvPr>
        </p:nvSpPr>
        <p:spPr>
          <a:xfrm>
            <a:off x="2444050" y="1769288"/>
            <a:ext cx="4255800" cy="1134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800"/>
              <a:buNone/>
              <a:defRPr sz="72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420" name="Google Shape;420;p18"/>
          <p:cNvSpPr txBox="1">
            <a:spLocks noGrp="1"/>
          </p:cNvSpPr>
          <p:nvPr>
            <p:ph type="subTitle" idx="1"/>
          </p:nvPr>
        </p:nvSpPr>
        <p:spPr>
          <a:xfrm>
            <a:off x="2444050" y="2695016"/>
            <a:ext cx="4255800" cy="67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sz="1500"/>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4_1_1">
    <p:spTree>
      <p:nvGrpSpPr>
        <p:cNvPr id="1" name="Shape 446"/>
        <p:cNvGrpSpPr/>
        <p:nvPr/>
      </p:nvGrpSpPr>
      <p:grpSpPr>
        <a:xfrm>
          <a:off x="0" y="0"/>
          <a:ext cx="0" cy="0"/>
          <a:chOff x="0" y="0"/>
          <a:chExt cx="0" cy="0"/>
        </a:xfrm>
      </p:grpSpPr>
      <p:pic>
        <p:nvPicPr>
          <p:cNvPr id="447" name="Google Shape;447;p20"/>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448" name="Google Shape;448;p20"/>
          <p:cNvGrpSpPr/>
          <p:nvPr/>
        </p:nvGrpSpPr>
        <p:grpSpPr>
          <a:xfrm>
            <a:off x="0" y="0"/>
            <a:ext cx="9552075" cy="5143500"/>
            <a:chOff x="0" y="0"/>
            <a:chExt cx="9552075" cy="5143500"/>
          </a:xfrm>
        </p:grpSpPr>
        <p:sp>
          <p:nvSpPr>
            <p:cNvPr id="449" name="Google Shape;449;p20"/>
            <p:cNvSpPr/>
            <p:nvPr/>
          </p:nvSpPr>
          <p:spPr>
            <a:xfrm>
              <a:off x="0"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0" name="Google Shape;450;p20"/>
            <p:cNvSpPr/>
            <p:nvPr/>
          </p:nvSpPr>
          <p:spPr>
            <a:xfrm flipH="1">
              <a:off x="6114300" y="4426500"/>
              <a:ext cx="3029700" cy="717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1" name="Google Shape;451;p20"/>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52" name="Google Shape;452;p20"/>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453" name="Google Shape;453;p20"/>
          <p:cNvGrpSpPr/>
          <p:nvPr/>
        </p:nvGrpSpPr>
        <p:grpSpPr>
          <a:xfrm>
            <a:off x="315013" y="-1329700"/>
            <a:ext cx="8939088" cy="7698038"/>
            <a:chOff x="315013" y="-1329700"/>
            <a:chExt cx="8939088" cy="7698038"/>
          </a:xfrm>
        </p:grpSpPr>
        <p:sp>
          <p:nvSpPr>
            <p:cNvPr id="454" name="Google Shape;454;p20"/>
            <p:cNvSpPr/>
            <p:nvPr/>
          </p:nvSpPr>
          <p:spPr>
            <a:xfrm rot="10800000">
              <a:off x="6092100" y="-7160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455" name="Google Shape;455;p20"/>
            <p:cNvGrpSpPr/>
            <p:nvPr/>
          </p:nvGrpSpPr>
          <p:grpSpPr>
            <a:xfrm>
              <a:off x="3316738" y="-1329700"/>
              <a:ext cx="986125" cy="2095500"/>
              <a:chOff x="7631225" y="2241175"/>
              <a:chExt cx="986125" cy="2095500"/>
            </a:xfrm>
          </p:grpSpPr>
          <p:cxnSp>
            <p:nvCxnSpPr>
              <p:cNvPr id="456" name="Google Shape;456;p2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7" name="Google Shape;457;p2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8" name="Google Shape;458;p2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59" name="Google Shape;459;p2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0" name="Google Shape;460;p2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1" name="Google Shape;461;p2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2" name="Google Shape;462;p2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3" name="Google Shape;463;p2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4" name="Google Shape;464;p2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5" name="Google Shape;465;p2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6" name="Google Shape;466;p2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7" name="Google Shape;467;p2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8" name="Google Shape;468;p2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469" name="Google Shape;469;p2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470" name="Google Shape;470;p20"/>
            <p:cNvGrpSpPr/>
            <p:nvPr/>
          </p:nvGrpSpPr>
          <p:grpSpPr>
            <a:xfrm>
              <a:off x="315013" y="4484088"/>
              <a:ext cx="1885275" cy="1884250"/>
              <a:chOff x="2609275" y="3149350"/>
              <a:chExt cx="1885275" cy="1884250"/>
            </a:xfrm>
          </p:grpSpPr>
          <p:sp>
            <p:nvSpPr>
              <p:cNvPr id="471" name="Google Shape;471;p2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90" name="Google Shape;490;p20"/>
          <p:cNvSpPr txBox="1">
            <a:spLocks noGrp="1"/>
          </p:cNvSpPr>
          <p:nvPr>
            <p:ph type="title"/>
          </p:nvPr>
        </p:nvSpPr>
        <p:spPr>
          <a:xfrm>
            <a:off x="1150150" y="1785450"/>
            <a:ext cx="3029700" cy="915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491" name="Google Shape;491;p20"/>
          <p:cNvSpPr txBox="1">
            <a:spLocks noGrp="1"/>
          </p:cNvSpPr>
          <p:nvPr>
            <p:ph type="subTitle" idx="1"/>
          </p:nvPr>
        </p:nvSpPr>
        <p:spPr>
          <a:xfrm>
            <a:off x="1150150" y="2641024"/>
            <a:ext cx="3029700" cy="717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CUSTOM_4_1_1_1">
    <p:spTree>
      <p:nvGrpSpPr>
        <p:cNvPr id="1" name="Shape 492"/>
        <p:cNvGrpSpPr/>
        <p:nvPr/>
      </p:nvGrpSpPr>
      <p:grpSpPr>
        <a:xfrm>
          <a:off x="0" y="0"/>
          <a:ext cx="0" cy="0"/>
          <a:chOff x="0" y="0"/>
          <a:chExt cx="0" cy="0"/>
        </a:xfrm>
      </p:grpSpPr>
      <p:pic>
        <p:nvPicPr>
          <p:cNvPr id="493" name="Google Shape;493;p21"/>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494" name="Google Shape;494;p21"/>
          <p:cNvGrpSpPr/>
          <p:nvPr/>
        </p:nvGrpSpPr>
        <p:grpSpPr>
          <a:xfrm>
            <a:off x="-260288" y="-1374850"/>
            <a:ext cx="9396363" cy="6592000"/>
            <a:chOff x="-260288" y="-1374850"/>
            <a:chExt cx="9396363" cy="6592000"/>
          </a:xfrm>
        </p:grpSpPr>
        <p:sp>
          <p:nvSpPr>
            <p:cNvPr id="495" name="Google Shape;495;p21"/>
            <p:cNvSpPr/>
            <p:nvPr/>
          </p:nvSpPr>
          <p:spPr>
            <a:xfrm>
              <a:off x="-78450" y="46060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496" name="Google Shape;496;p21"/>
            <p:cNvGrpSpPr/>
            <p:nvPr/>
          </p:nvGrpSpPr>
          <p:grpSpPr>
            <a:xfrm>
              <a:off x="-218875" y="-13775"/>
              <a:ext cx="9354950" cy="5157275"/>
              <a:chOff x="-218875" y="-13775"/>
              <a:chExt cx="9354950" cy="5157275"/>
            </a:xfrm>
          </p:grpSpPr>
          <p:sp>
            <p:nvSpPr>
              <p:cNvPr id="497" name="Google Shape;497;p21"/>
              <p:cNvSpPr/>
              <p:nvPr/>
            </p:nvSpPr>
            <p:spPr>
              <a:xfrm rot="10800000">
                <a:off x="8413675" y="327210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98" name="Google Shape;498;p21"/>
              <p:cNvSpPr/>
              <p:nvPr/>
            </p:nvSpPr>
            <p:spPr>
              <a:xfrm rot="10800000" flipH="1">
                <a:off x="-11111" y="-13775"/>
                <a:ext cx="1277100" cy="11223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499" name="Google Shape;499;p21"/>
              <p:cNvSpPr/>
              <p:nvPr/>
            </p:nvSpPr>
            <p:spPr>
              <a:xfrm flipH="1">
                <a:off x="6872575" y="482970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00" name="Google Shape;500;p21"/>
              <p:cNvSpPr/>
              <p:nvPr/>
            </p:nvSpPr>
            <p:spPr>
              <a:xfrm>
                <a:off x="-218875" y="3071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501" name="Google Shape;501;p21"/>
            <p:cNvGrpSpPr/>
            <p:nvPr/>
          </p:nvGrpSpPr>
          <p:grpSpPr>
            <a:xfrm>
              <a:off x="-260288" y="1809525"/>
              <a:ext cx="986125" cy="2095500"/>
              <a:chOff x="7631225" y="2241175"/>
              <a:chExt cx="986125" cy="2095500"/>
            </a:xfrm>
          </p:grpSpPr>
          <p:cxnSp>
            <p:nvCxnSpPr>
              <p:cNvPr id="502" name="Google Shape;502;p2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3" name="Google Shape;503;p2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4" name="Google Shape;504;p2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5" name="Google Shape;505;p2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6" name="Google Shape;506;p2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7" name="Google Shape;507;p2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8" name="Google Shape;508;p2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09" name="Google Shape;509;p2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0" name="Google Shape;510;p2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1" name="Google Shape;511;p2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2" name="Google Shape;512;p2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3" name="Google Shape;513;p2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4" name="Google Shape;514;p2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15" name="Google Shape;515;p2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516" name="Google Shape;516;p21"/>
            <p:cNvSpPr/>
            <p:nvPr/>
          </p:nvSpPr>
          <p:spPr>
            <a:xfrm rot="-5400000">
              <a:off x="5322038" y="-137485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 name="Google Shape;517;p21"/>
          <p:cNvSpPr txBox="1">
            <a:spLocks noGrp="1"/>
          </p:cNvSpPr>
          <p:nvPr>
            <p:ph type="title"/>
          </p:nvPr>
        </p:nvSpPr>
        <p:spPr>
          <a:xfrm>
            <a:off x="4596287" y="1944159"/>
            <a:ext cx="3029700" cy="598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18" name="Google Shape;518;p21"/>
          <p:cNvSpPr txBox="1">
            <a:spLocks noGrp="1"/>
          </p:cNvSpPr>
          <p:nvPr>
            <p:ph type="subTitle" idx="1"/>
          </p:nvPr>
        </p:nvSpPr>
        <p:spPr>
          <a:xfrm>
            <a:off x="4596287" y="2482430"/>
            <a:ext cx="3029700" cy="7170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1">
  <p:cSld name="CUSTOM_6">
    <p:spTree>
      <p:nvGrpSpPr>
        <p:cNvPr id="1" name="Shape 555"/>
        <p:cNvGrpSpPr/>
        <p:nvPr/>
      </p:nvGrpSpPr>
      <p:grpSpPr>
        <a:xfrm>
          <a:off x="0" y="0"/>
          <a:ext cx="0" cy="0"/>
          <a:chOff x="0" y="0"/>
          <a:chExt cx="0" cy="0"/>
        </a:xfrm>
      </p:grpSpPr>
      <p:pic>
        <p:nvPicPr>
          <p:cNvPr id="556" name="Google Shape;556;p24"/>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557" name="Google Shape;557;p24"/>
          <p:cNvGrpSpPr/>
          <p:nvPr/>
        </p:nvGrpSpPr>
        <p:grpSpPr>
          <a:xfrm>
            <a:off x="0" y="-8724"/>
            <a:ext cx="9143975" cy="5152249"/>
            <a:chOff x="0" y="-8724"/>
            <a:chExt cx="9143975" cy="5152249"/>
          </a:xfrm>
        </p:grpSpPr>
        <p:sp>
          <p:nvSpPr>
            <p:cNvPr id="558" name="Google Shape;558;p24"/>
            <p:cNvSpPr/>
            <p:nvPr/>
          </p:nvSpPr>
          <p:spPr>
            <a:xfrm>
              <a:off x="8421575" y="3272125"/>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59" name="Google Shape;559;p24"/>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60" name="Google Shape;560;p24"/>
            <p:cNvSpPr/>
            <p:nvPr/>
          </p:nvSpPr>
          <p:spPr>
            <a:xfrm rot="5400000">
              <a:off x="870900" y="-879624"/>
              <a:ext cx="433500" cy="21753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561" name="Google Shape;561;p24"/>
          <p:cNvGrpSpPr/>
          <p:nvPr/>
        </p:nvGrpSpPr>
        <p:grpSpPr>
          <a:xfrm>
            <a:off x="-394025" y="-169100"/>
            <a:ext cx="10831138" cy="3165538"/>
            <a:chOff x="-394025" y="-169100"/>
            <a:chExt cx="10831138" cy="3165538"/>
          </a:xfrm>
        </p:grpSpPr>
        <p:sp>
          <p:nvSpPr>
            <p:cNvPr id="562" name="Google Shape;562;p24"/>
            <p:cNvSpPr/>
            <p:nvPr/>
          </p:nvSpPr>
          <p:spPr>
            <a:xfrm rot="10800000">
              <a:off x="6344350" y="-169100"/>
              <a:ext cx="2936100" cy="708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563" name="Google Shape;563;p24"/>
            <p:cNvGrpSpPr/>
            <p:nvPr/>
          </p:nvGrpSpPr>
          <p:grpSpPr>
            <a:xfrm>
              <a:off x="-394025" y="172575"/>
              <a:ext cx="986125" cy="2095500"/>
              <a:chOff x="7631225" y="2241175"/>
              <a:chExt cx="986125" cy="2095500"/>
            </a:xfrm>
          </p:grpSpPr>
          <p:cxnSp>
            <p:nvCxnSpPr>
              <p:cNvPr id="564" name="Google Shape;564;p2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5" name="Google Shape;565;p2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6" name="Google Shape;566;p2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7" name="Google Shape;567;p2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8" name="Google Shape;568;p2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69" name="Google Shape;569;p2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0" name="Google Shape;570;p2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1" name="Google Shape;571;p2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2" name="Google Shape;572;p2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3" name="Google Shape;573;p2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4" name="Google Shape;574;p2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5" name="Google Shape;575;p2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6" name="Google Shape;576;p2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577" name="Google Shape;577;p2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578" name="Google Shape;578;p24"/>
            <p:cNvGrpSpPr/>
            <p:nvPr/>
          </p:nvGrpSpPr>
          <p:grpSpPr>
            <a:xfrm>
              <a:off x="8551838" y="1112188"/>
              <a:ext cx="1885275" cy="1884250"/>
              <a:chOff x="2609275" y="3149350"/>
              <a:chExt cx="1885275" cy="1884250"/>
            </a:xfrm>
          </p:grpSpPr>
          <p:sp>
            <p:nvSpPr>
              <p:cNvPr id="579" name="Google Shape;579;p24"/>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4"/>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4"/>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4"/>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4"/>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4"/>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4"/>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4"/>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4"/>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4"/>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4"/>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4"/>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4"/>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4"/>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4"/>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4"/>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4"/>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4"/>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4"/>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8" name="Google Shape;598;p24"/>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99" name="Google Shape;599;p24"/>
          <p:cNvSpPr txBox="1">
            <a:spLocks noGrp="1"/>
          </p:cNvSpPr>
          <p:nvPr>
            <p:ph type="subTitle" idx="1"/>
          </p:nvPr>
        </p:nvSpPr>
        <p:spPr>
          <a:xfrm>
            <a:off x="991525" y="2867950"/>
            <a:ext cx="31890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00" name="Google Shape;600;p24"/>
          <p:cNvSpPr txBox="1">
            <a:spLocks noGrp="1"/>
          </p:cNvSpPr>
          <p:nvPr>
            <p:ph type="subTitle" idx="2"/>
          </p:nvPr>
        </p:nvSpPr>
        <p:spPr>
          <a:xfrm>
            <a:off x="4963503" y="2867950"/>
            <a:ext cx="3189000" cy="1242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601" name="Google Shape;601;p24"/>
          <p:cNvSpPr txBox="1">
            <a:spLocks noGrp="1"/>
          </p:cNvSpPr>
          <p:nvPr>
            <p:ph type="subTitle" idx="3"/>
          </p:nvPr>
        </p:nvSpPr>
        <p:spPr>
          <a:xfrm>
            <a:off x="991525" y="2567475"/>
            <a:ext cx="31890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602" name="Google Shape;602;p24"/>
          <p:cNvSpPr txBox="1">
            <a:spLocks noGrp="1"/>
          </p:cNvSpPr>
          <p:nvPr>
            <p:ph type="subTitle" idx="4"/>
          </p:nvPr>
        </p:nvSpPr>
        <p:spPr>
          <a:xfrm>
            <a:off x="4963514" y="2567475"/>
            <a:ext cx="31890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1_1">
    <p:spTree>
      <p:nvGrpSpPr>
        <p:cNvPr id="1" name="Shape 687"/>
        <p:cNvGrpSpPr/>
        <p:nvPr/>
      </p:nvGrpSpPr>
      <p:grpSpPr>
        <a:xfrm>
          <a:off x="0" y="0"/>
          <a:ext cx="0" cy="0"/>
          <a:chOff x="0" y="0"/>
          <a:chExt cx="0" cy="0"/>
        </a:xfrm>
      </p:grpSpPr>
      <p:pic>
        <p:nvPicPr>
          <p:cNvPr id="688" name="Google Shape;688;p27"/>
          <p:cNvPicPr preferRelativeResize="0"/>
          <p:nvPr/>
        </p:nvPicPr>
        <p:blipFill>
          <a:blip r:embed="rId2">
            <a:alphaModFix/>
          </a:blip>
          <a:stretch>
            <a:fillRect/>
          </a:stretch>
        </p:blipFill>
        <p:spPr>
          <a:xfrm rot="10800000">
            <a:off x="7924" y="0"/>
            <a:ext cx="9128151" cy="5143499"/>
          </a:xfrm>
          <a:prstGeom prst="rect">
            <a:avLst/>
          </a:prstGeom>
          <a:noFill/>
          <a:ln>
            <a:noFill/>
          </a:ln>
        </p:spPr>
      </p:pic>
      <p:grpSp>
        <p:nvGrpSpPr>
          <p:cNvPr id="689" name="Google Shape;689;p27"/>
          <p:cNvGrpSpPr/>
          <p:nvPr/>
        </p:nvGrpSpPr>
        <p:grpSpPr>
          <a:xfrm>
            <a:off x="-373450" y="0"/>
            <a:ext cx="9517450" cy="5162825"/>
            <a:chOff x="-373450" y="0"/>
            <a:chExt cx="9517450" cy="5162825"/>
          </a:xfrm>
        </p:grpSpPr>
        <p:sp>
          <p:nvSpPr>
            <p:cNvPr id="690" name="Google Shape;690;p27"/>
            <p:cNvSpPr/>
            <p:nvPr/>
          </p:nvSpPr>
          <p:spPr>
            <a:xfrm flipH="1">
              <a:off x="8421600"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91" name="Google Shape;691;p27"/>
            <p:cNvSpPr/>
            <p:nvPr/>
          </p:nvSpPr>
          <p:spPr>
            <a:xfrm rot="5400000" flipH="1">
              <a:off x="893400" y="3800225"/>
              <a:ext cx="441600" cy="2283600"/>
            </a:xfrm>
            <a:prstGeom prst="round1Rect">
              <a:avLst>
                <a:gd name="adj" fmla="val 4934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92" name="Google Shape;692;p27"/>
            <p:cNvSpPr/>
            <p:nvPr/>
          </p:nvSpPr>
          <p:spPr>
            <a:xfrm rot="10800000">
              <a:off x="688050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693" name="Google Shape;693;p27"/>
            <p:cNvSpPr/>
            <p:nvPr/>
          </p:nvSpPr>
          <p:spPr>
            <a:xfrm>
              <a:off x="-373450" y="1008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694" name="Google Shape;694;p27"/>
          <p:cNvGrpSpPr/>
          <p:nvPr/>
        </p:nvGrpSpPr>
        <p:grpSpPr>
          <a:xfrm>
            <a:off x="8575563" y="3999888"/>
            <a:ext cx="1885275" cy="1884250"/>
            <a:chOff x="2609275" y="3149350"/>
            <a:chExt cx="1885275" cy="1884250"/>
          </a:xfrm>
        </p:grpSpPr>
        <p:sp>
          <p:nvSpPr>
            <p:cNvPr id="695" name="Google Shape;695;p2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4" name="Google Shape;714;p27"/>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15" name="Google Shape;715;p27"/>
          <p:cNvSpPr txBox="1">
            <a:spLocks noGrp="1"/>
          </p:cNvSpPr>
          <p:nvPr>
            <p:ph type="subTitle" idx="1"/>
          </p:nvPr>
        </p:nvSpPr>
        <p:spPr>
          <a:xfrm>
            <a:off x="1677575" y="1762200"/>
            <a:ext cx="2703300" cy="884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16" name="Google Shape;716;p27"/>
          <p:cNvSpPr txBox="1">
            <a:spLocks noGrp="1"/>
          </p:cNvSpPr>
          <p:nvPr>
            <p:ph type="subTitle" idx="2"/>
          </p:nvPr>
        </p:nvSpPr>
        <p:spPr>
          <a:xfrm>
            <a:off x="5718250" y="1762200"/>
            <a:ext cx="2703300" cy="884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17" name="Google Shape;717;p27"/>
          <p:cNvSpPr txBox="1">
            <a:spLocks noGrp="1"/>
          </p:cNvSpPr>
          <p:nvPr>
            <p:ph type="subTitle" idx="3"/>
          </p:nvPr>
        </p:nvSpPr>
        <p:spPr>
          <a:xfrm>
            <a:off x="1677575" y="1461725"/>
            <a:ext cx="27033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18" name="Google Shape;718;p27"/>
          <p:cNvSpPr txBox="1">
            <a:spLocks noGrp="1"/>
          </p:cNvSpPr>
          <p:nvPr>
            <p:ph type="subTitle" idx="4"/>
          </p:nvPr>
        </p:nvSpPr>
        <p:spPr>
          <a:xfrm>
            <a:off x="5718266" y="1461725"/>
            <a:ext cx="27033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19" name="Google Shape;719;p27"/>
          <p:cNvSpPr txBox="1">
            <a:spLocks noGrp="1"/>
          </p:cNvSpPr>
          <p:nvPr>
            <p:ph type="subTitle" idx="5"/>
          </p:nvPr>
        </p:nvSpPr>
        <p:spPr>
          <a:xfrm>
            <a:off x="1677575" y="3453100"/>
            <a:ext cx="2703300" cy="884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20" name="Google Shape;720;p27"/>
          <p:cNvSpPr txBox="1">
            <a:spLocks noGrp="1"/>
          </p:cNvSpPr>
          <p:nvPr>
            <p:ph type="subTitle" idx="6"/>
          </p:nvPr>
        </p:nvSpPr>
        <p:spPr>
          <a:xfrm>
            <a:off x="5718250" y="3453100"/>
            <a:ext cx="2703300" cy="8841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721" name="Google Shape;721;p27"/>
          <p:cNvSpPr txBox="1">
            <a:spLocks noGrp="1"/>
          </p:cNvSpPr>
          <p:nvPr>
            <p:ph type="subTitle" idx="7"/>
          </p:nvPr>
        </p:nvSpPr>
        <p:spPr>
          <a:xfrm>
            <a:off x="1677575" y="3152625"/>
            <a:ext cx="27033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722" name="Google Shape;722;p27"/>
          <p:cNvSpPr txBox="1">
            <a:spLocks noGrp="1"/>
          </p:cNvSpPr>
          <p:nvPr>
            <p:ph type="subTitle" idx="8"/>
          </p:nvPr>
        </p:nvSpPr>
        <p:spPr>
          <a:xfrm>
            <a:off x="5718266" y="3152625"/>
            <a:ext cx="2703300" cy="4029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8_1">
    <p:spTree>
      <p:nvGrpSpPr>
        <p:cNvPr id="1" name="Shape 877"/>
        <p:cNvGrpSpPr/>
        <p:nvPr/>
      </p:nvGrpSpPr>
      <p:grpSpPr>
        <a:xfrm>
          <a:off x="0" y="0"/>
          <a:ext cx="0" cy="0"/>
          <a:chOff x="0" y="0"/>
          <a:chExt cx="0" cy="0"/>
        </a:xfrm>
      </p:grpSpPr>
      <p:pic>
        <p:nvPicPr>
          <p:cNvPr id="878" name="Google Shape;878;p32"/>
          <p:cNvPicPr preferRelativeResize="0"/>
          <p:nvPr/>
        </p:nvPicPr>
        <p:blipFill>
          <a:blip r:embed="rId2">
            <a:alphaModFix/>
          </a:blip>
          <a:stretch>
            <a:fillRect/>
          </a:stretch>
        </p:blipFill>
        <p:spPr>
          <a:xfrm rot="10800000">
            <a:off x="7924" y="0"/>
            <a:ext cx="9128151" cy="514349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8_1_1">
    <p:spTree>
      <p:nvGrpSpPr>
        <p:cNvPr id="1" name="Shape 879"/>
        <p:cNvGrpSpPr/>
        <p:nvPr/>
      </p:nvGrpSpPr>
      <p:grpSpPr>
        <a:xfrm>
          <a:off x="0" y="0"/>
          <a:ext cx="0" cy="0"/>
          <a:chOff x="0" y="0"/>
          <a:chExt cx="0" cy="0"/>
        </a:xfrm>
      </p:grpSpPr>
      <p:pic>
        <p:nvPicPr>
          <p:cNvPr id="880" name="Google Shape;880;p33"/>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881" name="Google Shape;881;p33"/>
          <p:cNvGrpSpPr/>
          <p:nvPr/>
        </p:nvGrpSpPr>
        <p:grpSpPr>
          <a:xfrm>
            <a:off x="0" y="-25"/>
            <a:ext cx="9552075" cy="5143375"/>
            <a:chOff x="0" y="-25"/>
            <a:chExt cx="9552075" cy="5143375"/>
          </a:xfrm>
        </p:grpSpPr>
        <p:sp>
          <p:nvSpPr>
            <p:cNvPr id="882" name="Google Shape;882;p33"/>
            <p:cNvSpPr/>
            <p:nvPr/>
          </p:nvSpPr>
          <p:spPr>
            <a:xfrm>
              <a:off x="0" y="0"/>
              <a:ext cx="722400" cy="24021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3" name="Google Shape;883;p33"/>
            <p:cNvSpPr/>
            <p:nvPr/>
          </p:nvSpPr>
          <p:spPr>
            <a:xfrm flipH="1">
              <a:off x="6943500" y="4306950"/>
              <a:ext cx="2200500" cy="8364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4" name="Google Shape;884;p33"/>
            <p:cNvSpPr/>
            <p:nvPr/>
          </p:nvSpPr>
          <p:spPr>
            <a:xfrm rot="10800000" flipH="1">
              <a:off x="0" y="-25"/>
              <a:ext cx="2263500" cy="8421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5" name="Google Shape;885;p33"/>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886" name="Google Shape;886;p33"/>
          <p:cNvGrpSpPr/>
          <p:nvPr/>
        </p:nvGrpSpPr>
        <p:grpSpPr>
          <a:xfrm>
            <a:off x="489563" y="-211525"/>
            <a:ext cx="8425113" cy="6291588"/>
            <a:chOff x="489563" y="-211525"/>
            <a:chExt cx="8425113" cy="6291588"/>
          </a:xfrm>
        </p:grpSpPr>
        <p:grpSp>
          <p:nvGrpSpPr>
            <p:cNvPr id="887" name="Google Shape;887;p33"/>
            <p:cNvGrpSpPr/>
            <p:nvPr/>
          </p:nvGrpSpPr>
          <p:grpSpPr>
            <a:xfrm>
              <a:off x="489563" y="4195813"/>
              <a:ext cx="1885275" cy="1884250"/>
              <a:chOff x="2609275" y="3149350"/>
              <a:chExt cx="1885275" cy="1884250"/>
            </a:xfrm>
          </p:grpSpPr>
          <p:sp>
            <p:nvSpPr>
              <p:cNvPr id="888" name="Google Shape;888;p3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33"/>
            <p:cNvGrpSpPr/>
            <p:nvPr/>
          </p:nvGrpSpPr>
          <p:grpSpPr>
            <a:xfrm>
              <a:off x="7928550" y="-211525"/>
              <a:ext cx="986125" cy="2095500"/>
              <a:chOff x="7631225" y="2241175"/>
              <a:chExt cx="986125" cy="2095500"/>
            </a:xfrm>
          </p:grpSpPr>
          <p:cxnSp>
            <p:nvCxnSpPr>
              <p:cNvPr id="908" name="Google Shape;908;p3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9" name="Google Shape;909;p3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0" name="Google Shape;910;p3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1" name="Google Shape;911;p3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2" name="Google Shape;912;p3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3" name="Google Shape;913;p3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4" name="Google Shape;914;p3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5" name="Google Shape;915;p3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6" name="Google Shape;916;p3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7" name="Google Shape;917;p3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8" name="Google Shape;918;p3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9" name="Google Shape;919;p3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0" name="Google Shape;920;p3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1" name="Google Shape;921;p33"/>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539500"/>
            <a:ext cx="76992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2375" y="1187600"/>
            <a:ext cx="76992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marL="914400" lvl="1"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marL="1371600" lvl="2"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marL="1828800" lvl="3"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marL="2286000" lvl="4"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marL="2743200" lvl="5"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marL="3200400" lvl="6"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marL="3657600" lvl="7"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marL="4114800" lvl="8"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5" r:id="rId4"/>
    <p:sldLayoutId id="2147483658" r:id="rId5"/>
    <p:sldLayoutId id="2147483662" r:id="rId6"/>
    <p:sldLayoutId id="2147483664" r:id="rId7"/>
    <p:sldLayoutId id="2147483666" r:id="rId8"/>
    <p:sldLayoutId id="2147483667" r:id="rId9"/>
    <p:sldLayoutId id="2147483670" r:id="rId10"/>
    <p:sldLayoutId id="2147483673" r:id="rId11"/>
    <p:sldLayoutId id="2147483678" r:id="rId12"/>
    <p:sldLayoutId id="214748367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37"/>
          <p:cNvSpPr txBox="1">
            <a:spLocks noGrp="1"/>
          </p:cNvSpPr>
          <p:nvPr>
            <p:ph type="ctrTitle"/>
          </p:nvPr>
        </p:nvSpPr>
        <p:spPr>
          <a:xfrm>
            <a:off x="1654010" y="1448477"/>
            <a:ext cx="5846000" cy="171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600"/>
              <a:t>TheLook</a:t>
            </a:r>
            <a:r>
              <a:rPr lang="en" sz="6500"/>
              <a:t> </a:t>
            </a:r>
            <a:r>
              <a:rPr lang="en" sz="4100" b="0"/>
              <a:t>Ecommerce Analysis</a:t>
            </a:r>
            <a:endParaRPr sz="4100" b="0"/>
          </a:p>
        </p:txBody>
      </p:sp>
      <p:sp>
        <p:nvSpPr>
          <p:cNvPr id="933" name="Google Shape;933;p37"/>
          <p:cNvSpPr txBox="1">
            <a:spLocks noGrp="1"/>
          </p:cNvSpPr>
          <p:nvPr>
            <p:ph type="subTitle" idx="1"/>
          </p:nvPr>
        </p:nvSpPr>
        <p:spPr>
          <a:xfrm>
            <a:off x="2308350" y="3197821"/>
            <a:ext cx="4527300" cy="84694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a:t>Akmal Zuhdy Prasetya</a:t>
            </a:r>
          </a:p>
          <a:p>
            <a:pPr marL="0" lvl="0" indent="0" algn="ctr" rtl="0">
              <a:spcBef>
                <a:spcPts val="0"/>
              </a:spcBef>
              <a:spcAft>
                <a:spcPts val="0"/>
              </a:spcAft>
              <a:buNone/>
            </a:pPr>
            <a:r>
              <a:rPr lang="en" sz="1400"/>
              <a:t>Data Analyst &amp; Business Intelligence</a:t>
            </a:r>
          </a:p>
          <a:p>
            <a:pPr marL="0" lvl="0" indent="0" algn="ctr" rtl="0">
              <a:spcBef>
                <a:spcPts val="0"/>
              </a:spcBef>
              <a:spcAft>
                <a:spcPts val="0"/>
              </a:spcAft>
              <a:buNone/>
            </a:pPr>
            <a:r>
              <a:rPr lang="en-US" sz="1400"/>
              <a:t>d</a:t>
            </a:r>
            <a:r>
              <a:rPr lang="en" sz="1400"/>
              <a:t>ibimbing.id Bootcamp Batch 19</a:t>
            </a:r>
            <a:endParaRPr sz="1400"/>
          </a:p>
        </p:txBody>
      </p:sp>
      <p:grpSp>
        <p:nvGrpSpPr>
          <p:cNvPr id="934" name="Google Shape;934;p37"/>
          <p:cNvGrpSpPr/>
          <p:nvPr/>
        </p:nvGrpSpPr>
        <p:grpSpPr>
          <a:xfrm>
            <a:off x="5524419" y="2241175"/>
            <a:ext cx="3619432" cy="2902209"/>
            <a:chOff x="5524419" y="2241175"/>
            <a:chExt cx="3619432" cy="2902209"/>
          </a:xfrm>
        </p:grpSpPr>
        <p:grpSp>
          <p:nvGrpSpPr>
            <p:cNvPr id="935" name="Google Shape;935;p37"/>
            <p:cNvGrpSpPr/>
            <p:nvPr/>
          </p:nvGrpSpPr>
          <p:grpSpPr>
            <a:xfrm>
              <a:off x="5524419" y="4160759"/>
              <a:ext cx="3619432" cy="982624"/>
              <a:chOff x="4986600" y="4014825"/>
              <a:chExt cx="4157400" cy="1128675"/>
            </a:xfrm>
          </p:grpSpPr>
          <p:sp>
            <p:nvSpPr>
              <p:cNvPr id="936" name="Google Shape;936;p37"/>
              <p:cNvSpPr/>
              <p:nvPr/>
            </p:nvSpPr>
            <p:spPr>
              <a:xfrm flipH="1">
                <a:off x="5715000" y="4014825"/>
                <a:ext cx="34290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37" name="Google Shape;937;p37"/>
              <p:cNvSpPr/>
              <p:nvPr/>
            </p:nvSpPr>
            <p:spPr>
              <a:xfrm flipH="1">
                <a:off x="4986600" y="4527300"/>
                <a:ext cx="4157400" cy="6162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938" name="Google Shape;938;p37"/>
            <p:cNvGrpSpPr/>
            <p:nvPr/>
          </p:nvGrpSpPr>
          <p:grpSpPr>
            <a:xfrm>
              <a:off x="7631225" y="2241175"/>
              <a:ext cx="986125" cy="2095500"/>
              <a:chOff x="7631225" y="2241175"/>
              <a:chExt cx="986125" cy="2095500"/>
            </a:xfrm>
          </p:grpSpPr>
          <p:cxnSp>
            <p:nvCxnSpPr>
              <p:cNvPr id="939" name="Google Shape;939;p37"/>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0" name="Google Shape;940;p37"/>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1" name="Google Shape;941;p37"/>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2" name="Google Shape;942;p37"/>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3" name="Google Shape;943;p37"/>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4" name="Google Shape;944;p37"/>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5" name="Google Shape;945;p37"/>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6" name="Google Shape;946;p37"/>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7" name="Google Shape;947;p37"/>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8" name="Google Shape;948;p37"/>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9" name="Google Shape;949;p37"/>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0" name="Google Shape;950;p37"/>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1" name="Google Shape;951;p37"/>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2" name="Google Shape;952;p37"/>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953" name="Google Shape;953;p37"/>
          <p:cNvGrpSpPr/>
          <p:nvPr/>
        </p:nvGrpSpPr>
        <p:grpSpPr>
          <a:xfrm>
            <a:off x="-630087" y="1859288"/>
            <a:ext cx="2893588" cy="3284238"/>
            <a:chOff x="-630087" y="1859288"/>
            <a:chExt cx="2893588" cy="3284238"/>
          </a:xfrm>
        </p:grpSpPr>
        <p:sp>
          <p:nvSpPr>
            <p:cNvPr id="954" name="Google Shape;954;p37"/>
            <p:cNvSpPr/>
            <p:nvPr/>
          </p:nvSpPr>
          <p:spPr>
            <a:xfrm>
              <a:off x="0" y="3272100"/>
              <a:ext cx="12552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Maven Pro"/>
                <a:ea typeface="Maven Pro"/>
                <a:cs typeface="Maven Pro"/>
                <a:sym typeface="Maven Pro"/>
              </a:endParaRPr>
            </a:p>
          </p:txBody>
        </p:sp>
        <p:sp>
          <p:nvSpPr>
            <p:cNvPr id="955" name="Google Shape;955;p37"/>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956" name="Google Shape;956;p37"/>
            <p:cNvGrpSpPr/>
            <p:nvPr/>
          </p:nvGrpSpPr>
          <p:grpSpPr>
            <a:xfrm>
              <a:off x="-630087" y="1859288"/>
              <a:ext cx="1885275" cy="1884250"/>
              <a:chOff x="2609275" y="3149350"/>
              <a:chExt cx="1885275" cy="1884250"/>
            </a:xfrm>
          </p:grpSpPr>
          <p:sp>
            <p:nvSpPr>
              <p:cNvPr id="957" name="Google Shape;957;p3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76" name="Google Shape;976;p37"/>
          <p:cNvGrpSpPr/>
          <p:nvPr/>
        </p:nvGrpSpPr>
        <p:grpSpPr>
          <a:xfrm>
            <a:off x="5969750" y="-1678600"/>
            <a:ext cx="3756875" cy="2788075"/>
            <a:chOff x="5969750" y="-1678600"/>
            <a:chExt cx="3756875" cy="2788075"/>
          </a:xfrm>
        </p:grpSpPr>
        <p:sp>
          <p:nvSpPr>
            <p:cNvPr id="977" name="Google Shape;977;p37"/>
            <p:cNvSpPr/>
            <p:nvPr/>
          </p:nvSpPr>
          <p:spPr>
            <a:xfrm>
              <a:off x="7844125" y="896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78" name="Google Shape;978;p37"/>
            <p:cNvSpPr/>
            <p:nvPr/>
          </p:nvSpPr>
          <p:spPr>
            <a:xfrm rot="-5400000">
              <a:off x="5969750" y="-1678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57"/>
          <p:cNvSpPr txBox="1">
            <a:spLocks noGrp="1"/>
          </p:cNvSpPr>
          <p:nvPr>
            <p:ph type="title"/>
          </p:nvPr>
        </p:nvSpPr>
        <p:spPr>
          <a:xfrm>
            <a:off x="927301" y="4054632"/>
            <a:ext cx="2611568" cy="28678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t>Akmal Zuhdy Prasetya</a:t>
            </a:r>
            <a:endParaRPr sz="1600"/>
          </a:p>
        </p:txBody>
      </p:sp>
      <p:sp>
        <p:nvSpPr>
          <p:cNvPr id="1411" name="Google Shape;1411;p57"/>
          <p:cNvSpPr txBox="1">
            <a:spLocks noGrp="1"/>
          </p:cNvSpPr>
          <p:nvPr>
            <p:ph type="subTitle" idx="1"/>
          </p:nvPr>
        </p:nvSpPr>
        <p:spPr>
          <a:xfrm>
            <a:off x="3807823" y="1314617"/>
            <a:ext cx="4526280" cy="26999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050" b="1"/>
              <a:t>Professional Summary</a:t>
            </a:r>
          </a:p>
          <a:p>
            <a:pPr marL="0" lvl="0" indent="0" algn="l" rtl="0">
              <a:spcBef>
                <a:spcPts val="0"/>
              </a:spcBef>
              <a:spcAft>
                <a:spcPts val="0"/>
              </a:spcAft>
              <a:buNone/>
            </a:pPr>
            <a:r>
              <a:rPr lang="en-US" sz="1050"/>
              <a:t>Computer Science graduate with a strong foundation in data analysis, business intelligence, and machine learning.</a:t>
            </a:r>
          </a:p>
          <a:p>
            <a:pPr marL="0" lvl="0" indent="0" algn="l" rtl="0">
              <a:spcBef>
                <a:spcPts val="0"/>
              </a:spcBef>
              <a:spcAft>
                <a:spcPts val="0"/>
              </a:spcAft>
              <a:buNone/>
            </a:pPr>
            <a:endParaRPr lang="en-US" sz="1050"/>
          </a:p>
          <a:p>
            <a:pPr marL="0" lvl="0" indent="0" algn="l" rtl="0">
              <a:spcBef>
                <a:spcPts val="0"/>
              </a:spcBef>
              <a:spcAft>
                <a:spcPts val="0"/>
              </a:spcAft>
              <a:buNone/>
            </a:pPr>
            <a:r>
              <a:rPr lang="en-US" sz="1050" b="1"/>
              <a:t>Education</a:t>
            </a:r>
          </a:p>
          <a:p>
            <a:pPr marL="0" lvl="0" indent="0" algn="l" rtl="0">
              <a:spcBef>
                <a:spcPts val="0"/>
              </a:spcBef>
              <a:spcAft>
                <a:spcPts val="0"/>
              </a:spcAft>
              <a:buNone/>
            </a:pPr>
            <a:r>
              <a:rPr lang="en-US" sz="1050"/>
              <a:t>Bachelor of Computer Science - Information Systems</a:t>
            </a:r>
          </a:p>
          <a:p>
            <a:pPr marL="0" lvl="0" indent="0" algn="l" rtl="0">
              <a:spcBef>
                <a:spcPts val="0"/>
              </a:spcBef>
              <a:spcAft>
                <a:spcPts val="0"/>
              </a:spcAft>
              <a:buNone/>
            </a:pPr>
            <a:r>
              <a:rPr lang="en-US" sz="1050"/>
              <a:t>GPA: 3.86 / 4.00</a:t>
            </a:r>
          </a:p>
          <a:p>
            <a:pPr marL="0" lvl="0" indent="0" algn="l" rtl="0">
              <a:spcBef>
                <a:spcPts val="0"/>
              </a:spcBef>
              <a:spcAft>
                <a:spcPts val="0"/>
              </a:spcAft>
              <a:buNone/>
            </a:pPr>
            <a:endParaRPr lang="en-US" sz="1050"/>
          </a:p>
          <a:p>
            <a:pPr marL="0" lvl="0" indent="0" algn="l" rtl="0">
              <a:spcBef>
                <a:spcPts val="0"/>
              </a:spcBef>
              <a:spcAft>
                <a:spcPts val="0"/>
              </a:spcAft>
              <a:buNone/>
            </a:pPr>
            <a:r>
              <a:rPr lang="en-US" sz="1050" b="1"/>
              <a:t>Working/Project Experience</a:t>
            </a:r>
          </a:p>
          <a:p>
            <a:pPr marL="171450" lvl="0" indent="-171450" algn="l" rtl="0">
              <a:spcBef>
                <a:spcPts val="0"/>
              </a:spcBef>
              <a:spcAft>
                <a:spcPts val="0"/>
              </a:spcAft>
              <a:buFontTx/>
              <a:buChar char="-"/>
            </a:pPr>
            <a:r>
              <a:rPr lang="en-US" sz="1050"/>
              <a:t>Developed Ethereum price prediction application using LSTM and Streamlit deployment</a:t>
            </a:r>
          </a:p>
          <a:p>
            <a:pPr marL="171450" lvl="0" indent="-171450" algn="l" rtl="0">
              <a:spcBef>
                <a:spcPts val="0"/>
              </a:spcBef>
              <a:spcAft>
                <a:spcPts val="0"/>
              </a:spcAft>
              <a:buFontTx/>
              <a:buChar char="-"/>
            </a:pPr>
            <a:r>
              <a:rPr lang="en-US" sz="1050"/>
              <a:t>Conducted airline customer satisfaction analysis to identify service improvement priorities</a:t>
            </a:r>
          </a:p>
          <a:p>
            <a:pPr marL="171450" lvl="0" indent="-171450" algn="l" rtl="0">
              <a:spcBef>
                <a:spcPts val="0"/>
              </a:spcBef>
              <a:spcAft>
                <a:spcPts val="0"/>
              </a:spcAft>
              <a:buFontTx/>
              <a:buChar char="-"/>
            </a:pPr>
            <a:r>
              <a:rPr lang="en-US" sz="1050"/>
              <a:t>Built interactive ecommerce business intelligence dashboard using Power BI for revenue, returns, and operational analysis</a:t>
            </a:r>
          </a:p>
        </p:txBody>
      </p:sp>
      <p:grpSp>
        <p:nvGrpSpPr>
          <p:cNvPr id="1412" name="Google Shape;1412;p57"/>
          <p:cNvGrpSpPr/>
          <p:nvPr/>
        </p:nvGrpSpPr>
        <p:grpSpPr>
          <a:xfrm>
            <a:off x="884465" y="1314617"/>
            <a:ext cx="2697276" cy="2699925"/>
            <a:chOff x="1655550" y="790900"/>
            <a:chExt cx="2510262" cy="3417671"/>
          </a:xfrm>
        </p:grpSpPr>
        <p:sp>
          <p:nvSpPr>
            <p:cNvPr id="1413" name="Google Shape;1413;p57"/>
            <p:cNvSpPr/>
            <p:nvPr/>
          </p:nvSpPr>
          <p:spPr>
            <a:xfrm>
              <a:off x="1655550" y="790900"/>
              <a:ext cx="2510262" cy="3417671"/>
            </a:xfrm>
            <a:custGeom>
              <a:avLst/>
              <a:gdLst/>
              <a:ahLst/>
              <a:cxnLst/>
              <a:rect l="l" t="t" r="r" b="b"/>
              <a:pathLst>
                <a:path w="143096" h="190426" extrusionOk="0">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7"/>
            <p:cNvSpPr/>
            <p:nvPr/>
          </p:nvSpPr>
          <p:spPr>
            <a:xfrm>
              <a:off x="1735300" y="886765"/>
              <a:ext cx="2350730" cy="3115776"/>
            </a:xfrm>
            <a:custGeom>
              <a:avLst/>
              <a:gdLst/>
              <a:ahLst/>
              <a:cxnLst/>
              <a:rect l="l" t="t" r="r" b="b"/>
              <a:pathLst>
                <a:path w="134002" h="173605" extrusionOk="0">
                  <a:moveTo>
                    <a:pt x="1" y="1"/>
                  </a:moveTo>
                  <a:lnTo>
                    <a:pt x="1" y="53821"/>
                  </a:lnTo>
                  <a:lnTo>
                    <a:pt x="1" y="127599"/>
                  </a:lnTo>
                  <a:lnTo>
                    <a:pt x="1" y="173605"/>
                  </a:lnTo>
                  <a:lnTo>
                    <a:pt x="134001" y="173605"/>
                  </a:lnTo>
                  <a:lnTo>
                    <a:pt x="134001" y="34615"/>
                  </a:lnTo>
                  <a:lnTo>
                    <a:pt x="134001" y="1"/>
                  </a:lnTo>
                  <a:close/>
                </a:path>
              </a:pathLst>
            </a:custGeom>
            <a:solidFill>
              <a:srgbClr val="C2C2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A person with his hands together&#10;&#10;AI-generated content may be incorrect.">
            <a:extLst>
              <a:ext uri="{FF2B5EF4-FFF2-40B4-BE49-F238E27FC236}">
                <a16:creationId xmlns:a16="http://schemas.microsoft.com/office/drawing/2014/main" id="{49BEB7E5-4BB1-719F-23F2-180F5278DBD4}"/>
              </a:ext>
            </a:extLst>
          </p:cNvPr>
          <p:cNvPicPr>
            <a:picLocks noChangeAspect="1"/>
          </p:cNvPicPr>
          <p:nvPr/>
        </p:nvPicPr>
        <p:blipFill>
          <a:blip r:embed="rId3"/>
          <a:stretch>
            <a:fillRect/>
          </a:stretch>
        </p:blipFill>
        <p:spPr>
          <a:xfrm>
            <a:off x="1042460" y="1430439"/>
            <a:ext cx="2381250" cy="2381250"/>
          </a:xfrm>
          <a:prstGeom prst="rect">
            <a:avLst/>
          </a:prstGeom>
        </p:spPr>
      </p:pic>
    </p:spTree>
    <p:extLst>
      <p:ext uri="{BB962C8B-B14F-4D97-AF65-F5344CB8AC3E}">
        <p14:creationId xmlns:p14="http://schemas.microsoft.com/office/powerpoint/2010/main" val="413464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sp>
        <p:nvSpPr>
          <p:cNvPr id="1399" name="Google Shape;1399;p56"/>
          <p:cNvSpPr txBox="1">
            <a:spLocks noGrp="1"/>
          </p:cNvSpPr>
          <p:nvPr>
            <p:ph type="title"/>
          </p:nvPr>
        </p:nvSpPr>
        <p:spPr>
          <a:xfrm>
            <a:off x="3937516" y="977697"/>
            <a:ext cx="4416489" cy="69181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a:t>Ethereum Price Prediction Using LSTM</a:t>
            </a:r>
          </a:p>
        </p:txBody>
      </p:sp>
      <p:sp>
        <p:nvSpPr>
          <p:cNvPr id="1400" name="Google Shape;1400;p56"/>
          <p:cNvSpPr txBox="1">
            <a:spLocks noGrp="1"/>
          </p:cNvSpPr>
          <p:nvPr>
            <p:ph type="subTitle" idx="1"/>
          </p:nvPr>
        </p:nvSpPr>
        <p:spPr>
          <a:xfrm>
            <a:off x="3937515" y="1752054"/>
            <a:ext cx="4416489" cy="255246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a:t>Objective</a:t>
            </a:r>
          </a:p>
          <a:p>
            <a:pPr marL="0" lvl="0" indent="0" algn="l" rtl="0">
              <a:spcBef>
                <a:spcPts val="0"/>
              </a:spcBef>
              <a:spcAft>
                <a:spcPts val="0"/>
              </a:spcAft>
              <a:buNone/>
            </a:pPr>
            <a:r>
              <a:rPr lang="en-US" sz="1100"/>
              <a:t>Predict Ethereum price movement using time-series forecasting and machine learning modeling.</a:t>
            </a:r>
          </a:p>
          <a:p>
            <a:pPr marL="0" lvl="0" indent="0" algn="l" rtl="0">
              <a:spcBef>
                <a:spcPts val="0"/>
              </a:spcBef>
              <a:spcAft>
                <a:spcPts val="0"/>
              </a:spcAft>
              <a:buNone/>
            </a:pPr>
            <a:endParaRPr lang="en-US" sz="1100"/>
          </a:p>
          <a:p>
            <a:pPr marL="0" lvl="0" indent="0" algn="l" rtl="0">
              <a:spcBef>
                <a:spcPts val="0"/>
              </a:spcBef>
              <a:spcAft>
                <a:spcPts val="0"/>
              </a:spcAft>
              <a:buNone/>
            </a:pPr>
            <a:r>
              <a:rPr lang="en-US" sz="1100" b="1"/>
              <a:t>Key Analysis</a:t>
            </a:r>
          </a:p>
          <a:p>
            <a:pPr marL="0" lvl="0" indent="0" algn="l" rtl="0">
              <a:spcBef>
                <a:spcPts val="0"/>
              </a:spcBef>
              <a:spcAft>
                <a:spcPts val="0"/>
              </a:spcAft>
              <a:buNone/>
            </a:pPr>
            <a:r>
              <a:rPr lang="en-US" sz="1100"/>
              <a:t>Data preprocessing, Feature engineering, LSTM forecasting, dan Model evaluation.</a:t>
            </a:r>
          </a:p>
          <a:p>
            <a:pPr marL="0" lvl="0" indent="0" algn="l" rtl="0">
              <a:spcBef>
                <a:spcPts val="0"/>
              </a:spcBef>
              <a:spcAft>
                <a:spcPts val="0"/>
              </a:spcAft>
              <a:buNone/>
            </a:pPr>
            <a:endParaRPr lang="en-US" sz="1100"/>
          </a:p>
          <a:p>
            <a:pPr marL="0" lvl="0" indent="0" algn="l" rtl="0">
              <a:spcBef>
                <a:spcPts val="0"/>
              </a:spcBef>
              <a:spcAft>
                <a:spcPts val="0"/>
              </a:spcAft>
              <a:buNone/>
            </a:pPr>
            <a:r>
              <a:rPr lang="en-US" sz="1100" b="1"/>
              <a:t>Tools</a:t>
            </a:r>
          </a:p>
          <a:p>
            <a:pPr marL="0" lvl="0" indent="0" algn="l" rtl="0">
              <a:spcBef>
                <a:spcPts val="0"/>
              </a:spcBef>
              <a:spcAft>
                <a:spcPts val="0"/>
              </a:spcAft>
              <a:buNone/>
            </a:pPr>
            <a:r>
              <a:rPr lang="en-US" sz="1100"/>
              <a:t>Python, TensorFlow, Streamlit, Google Colaboratory.</a:t>
            </a:r>
          </a:p>
          <a:p>
            <a:pPr marL="0" lvl="0" indent="0" algn="l" rtl="0">
              <a:spcBef>
                <a:spcPts val="0"/>
              </a:spcBef>
              <a:spcAft>
                <a:spcPts val="0"/>
              </a:spcAft>
              <a:buNone/>
            </a:pPr>
            <a:endParaRPr lang="en-US" sz="1100"/>
          </a:p>
          <a:p>
            <a:pPr marL="0" lvl="0" indent="0" algn="l" rtl="0">
              <a:spcBef>
                <a:spcPts val="0"/>
              </a:spcBef>
              <a:spcAft>
                <a:spcPts val="0"/>
              </a:spcAft>
              <a:buNone/>
            </a:pPr>
            <a:r>
              <a:rPr lang="en-US" sz="1100" b="1"/>
              <a:t>Key Output</a:t>
            </a:r>
          </a:p>
          <a:p>
            <a:pPr marL="0" lvl="0" indent="0" algn="l" rtl="0">
              <a:spcBef>
                <a:spcPts val="0"/>
              </a:spcBef>
              <a:spcAft>
                <a:spcPts val="0"/>
              </a:spcAft>
              <a:buNone/>
            </a:pPr>
            <a:r>
              <a:rPr lang="en-US" sz="1100"/>
              <a:t>Interactive Ethereum prediction web application with forecasting visualization.</a:t>
            </a:r>
            <a:endParaRPr sz="1100"/>
          </a:p>
        </p:txBody>
      </p:sp>
      <p:grpSp>
        <p:nvGrpSpPr>
          <p:cNvPr id="1401" name="Google Shape;1401;p56"/>
          <p:cNvGrpSpPr/>
          <p:nvPr/>
        </p:nvGrpSpPr>
        <p:grpSpPr>
          <a:xfrm>
            <a:off x="262553" y="1497773"/>
            <a:ext cx="3432984" cy="2496295"/>
            <a:chOff x="331763" y="414153"/>
            <a:chExt cx="6903246" cy="5019697"/>
          </a:xfrm>
        </p:grpSpPr>
        <p:sp>
          <p:nvSpPr>
            <p:cNvPr id="1402" name="Google Shape;1402;p56"/>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6"/>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6"/>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descr="A screenshot of a computer screen&#10;&#10;AI-generated content may be incorrect.">
            <a:extLst>
              <a:ext uri="{FF2B5EF4-FFF2-40B4-BE49-F238E27FC236}">
                <a16:creationId xmlns:a16="http://schemas.microsoft.com/office/drawing/2014/main" id="{CB964700-9721-4A94-D093-E6A5BBE6BEA3}"/>
              </a:ext>
            </a:extLst>
          </p:cNvPr>
          <p:cNvPicPr>
            <a:picLocks noChangeAspect="1"/>
          </p:cNvPicPr>
          <p:nvPr/>
        </p:nvPicPr>
        <p:blipFill>
          <a:blip r:embed="rId3"/>
          <a:stretch>
            <a:fillRect/>
          </a:stretch>
        </p:blipFill>
        <p:spPr>
          <a:xfrm>
            <a:off x="299616" y="1625226"/>
            <a:ext cx="3358138" cy="1888953"/>
          </a:xfrm>
          <a:prstGeom prst="rect">
            <a:avLst/>
          </a:prstGeom>
          <a:ln>
            <a:solidFill>
              <a:srgbClr val="FFC000"/>
            </a:solidFill>
          </a:ln>
        </p:spPr>
      </p:pic>
    </p:spTree>
    <p:extLst>
      <p:ext uri="{BB962C8B-B14F-4D97-AF65-F5344CB8AC3E}">
        <p14:creationId xmlns:p14="http://schemas.microsoft.com/office/powerpoint/2010/main" val="2524037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sp>
        <p:nvSpPr>
          <p:cNvPr id="1399" name="Google Shape;1399;p56"/>
          <p:cNvSpPr txBox="1">
            <a:spLocks noGrp="1"/>
          </p:cNvSpPr>
          <p:nvPr>
            <p:ph type="title"/>
          </p:nvPr>
        </p:nvSpPr>
        <p:spPr>
          <a:xfrm>
            <a:off x="3937516" y="977697"/>
            <a:ext cx="4416489" cy="69181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a:t>Airline Passenger Satisfaction Analysis</a:t>
            </a:r>
          </a:p>
        </p:txBody>
      </p:sp>
      <p:sp>
        <p:nvSpPr>
          <p:cNvPr id="1400" name="Google Shape;1400;p56"/>
          <p:cNvSpPr txBox="1">
            <a:spLocks noGrp="1"/>
          </p:cNvSpPr>
          <p:nvPr>
            <p:ph type="subTitle" idx="1"/>
          </p:nvPr>
        </p:nvSpPr>
        <p:spPr>
          <a:xfrm>
            <a:off x="3937515" y="1752054"/>
            <a:ext cx="4416489" cy="255246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a:t>Objective</a:t>
            </a:r>
          </a:p>
          <a:p>
            <a:pPr marL="0" lvl="0" indent="0" algn="l" rtl="0">
              <a:spcBef>
                <a:spcPts val="0"/>
              </a:spcBef>
              <a:spcAft>
                <a:spcPts val="0"/>
              </a:spcAft>
              <a:buNone/>
            </a:pPr>
            <a:r>
              <a:rPr lang="en-US" sz="1100"/>
              <a:t>Analyze customer satisfaction drivers and identify service improvement priorities.</a:t>
            </a:r>
          </a:p>
          <a:p>
            <a:pPr marL="0" lvl="0" indent="0" algn="l" rtl="0">
              <a:spcBef>
                <a:spcPts val="0"/>
              </a:spcBef>
              <a:spcAft>
                <a:spcPts val="0"/>
              </a:spcAft>
              <a:buNone/>
            </a:pPr>
            <a:endParaRPr lang="en-US" sz="1100"/>
          </a:p>
          <a:p>
            <a:pPr marL="0" lvl="0" indent="0" algn="l" rtl="0">
              <a:spcBef>
                <a:spcPts val="0"/>
              </a:spcBef>
              <a:spcAft>
                <a:spcPts val="0"/>
              </a:spcAft>
              <a:buNone/>
            </a:pPr>
            <a:r>
              <a:rPr lang="en-US" sz="1100" b="1"/>
              <a:t>Key Analysis</a:t>
            </a:r>
          </a:p>
          <a:p>
            <a:pPr marL="0" lvl="0" indent="0" algn="l" rtl="0">
              <a:spcBef>
                <a:spcPts val="0"/>
              </a:spcBef>
              <a:spcAft>
                <a:spcPts val="0"/>
              </a:spcAft>
              <a:buNone/>
            </a:pPr>
            <a:r>
              <a:rPr lang="en-US" sz="1100"/>
              <a:t>Customer segmentation, Satisfaction analysis, Correlation analysis, dan Business recommendation.</a:t>
            </a:r>
          </a:p>
          <a:p>
            <a:pPr marL="0" lvl="0" indent="0" algn="l" rtl="0">
              <a:spcBef>
                <a:spcPts val="0"/>
              </a:spcBef>
              <a:spcAft>
                <a:spcPts val="0"/>
              </a:spcAft>
              <a:buNone/>
            </a:pPr>
            <a:endParaRPr lang="en-US" sz="1100"/>
          </a:p>
          <a:p>
            <a:pPr marL="0" lvl="0" indent="0" algn="l" rtl="0">
              <a:spcBef>
                <a:spcPts val="0"/>
              </a:spcBef>
              <a:spcAft>
                <a:spcPts val="0"/>
              </a:spcAft>
              <a:buNone/>
            </a:pPr>
            <a:r>
              <a:rPr lang="en-US" sz="1100" b="1"/>
              <a:t>Tools</a:t>
            </a:r>
          </a:p>
          <a:p>
            <a:pPr marL="0" lvl="0" indent="0" algn="l" rtl="0">
              <a:spcBef>
                <a:spcPts val="0"/>
              </a:spcBef>
              <a:spcAft>
                <a:spcPts val="0"/>
              </a:spcAft>
              <a:buNone/>
            </a:pPr>
            <a:r>
              <a:rPr lang="en-US" sz="1100"/>
              <a:t>Python, PowerBI, Google Colaboratory.</a:t>
            </a:r>
          </a:p>
          <a:p>
            <a:pPr marL="0" lvl="0" indent="0" algn="l" rtl="0">
              <a:spcBef>
                <a:spcPts val="0"/>
              </a:spcBef>
              <a:spcAft>
                <a:spcPts val="0"/>
              </a:spcAft>
              <a:buNone/>
            </a:pPr>
            <a:endParaRPr lang="en-US" sz="1100"/>
          </a:p>
          <a:p>
            <a:pPr marL="0" lvl="0" indent="0" algn="l" rtl="0">
              <a:spcBef>
                <a:spcPts val="0"/>
              </a:spcBef>
              <a:spcAft>
                <a:spcPts val="0"/>
              </a:spcAft>
              <a:buNone/>
            </a:pPr>
            <a:r>
              <a:rPr lang="en-US" sz="1100" b="1"/>
              <a:t>Key Output</a:t>
            </a:r>
          </a:p>
          <a:p>
            <a:pPr marL="0" lvl="0" indent="0" algn="l" rtl="0">
              <a:spcBef>
                <a:spcPts val="0"/>
              </a:spcBef>
              <a:spcAft>
                <a:spcPts val="0"/>
              </a:spcAft>
              <a:buNone/>
            </a:pPr>
            <a:r>
              <a:rPr lang="en-US" sz="1100"/>
              <a:t>Business insight and recommendation framework for airline service improvement.</a:t>
            </a:r>
            <a:endParaRPr sz="1100"/>
          </a:p>
        </p:txBody>
      </p:sp>
      <p:grpSp>
        <p:nvGrpSpPr>
          <p:cNvPr id="1401" name="Google Shape;1401;p56"/>
          <p:cNvGrpSpPr/>
          <p:nvPr/>
        </p:nvGrpSpPr>
        <p:grpSpPr>
          <a:xfrm>
            <a:off x="262553" y="1497773"/>
            <a:ext cx="3432984" cy="2496295"/>
            <a:chOff x="331763" y="414153"/>
            <a:chExt cx="6903246" cy="5019697"/>
          </a:xfrm>
        </p:grpSpPr>
        <p:sp>
          <p:nvSpPr>
            <p:cNvPr id="1402" name="Google Shape;1402;p56"/>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6"/>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6"/>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378F561D-5315-5650-A16A-27ED4EFC9352}"/>
              </a:ext>
            </a:extLst>
          </p:cNvPr>
          <p:cNvPicPr>
            <a:picLocks noChangeAspect="1"/>
          </p:cNvPicPr>
          <p:nvPr/>
        </p:nvPicPr>
        <p:blipFill>
          <a:blip r:embed="rId3"/>
          <a:stretch>
            <a:fillRect/>
          </a:stretch>
        </p:blipFill>
        <p:spPr>
          <a:xfrm>
            <a:off x="545843" y="1597730"/>
            <a:ext cx="2875382" cy="1948040"/>
          </a:xfrm>
          <a:prstGeom prst="rect">
            <a:avLst/>
          </a:prstGeom>
          <a:ln>
            <a:solidFill>
              <a:schemeClr val="tx2">
                <a:lumMod val="75000"/>
              </a:schemeClr>
            </a:solidFill>
          </a:ln>
        </p:spPr>
      </p:pic>
    </p:spTree>
    <p:extLst>
      <p:ext uri="{BB962C8B-B14F-4D97-AF65-F5344CB8AC3E}">
        <p14:creationId xmlns:p14="http://schemas.microsoft.com/office/powerpoint/2010/main" val="1458944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42"/>
          <p:cNvSpPr txBox="1">
            <a:spLocks noGrp="1"/>
          </p:cNvSpPr>
          <p:nvPr>
            <p:ph type="title"/>
          </p:nvPr>
        </p:nvSpPr>
        <p:spPr>
          <a:xfrm>
            <a:off x="1272960" y="1673614"/>
            <a:ext cx="6598079" cy="73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600"/>
              <a:t>Main Project Background</a:t>
            </a:r>
          </a:p>
        </p:txBody>
      </p:sp>
      <p:sp>
        <p:nvSpPr>
          <p:cNvPr id="1079" name="Google Shape;1079;p42"/>
          <p:cNvSpPr txBox="1">
            <a:spLocks noGrp="1"/>
          </p:cNvSpPr>
          <p:nvPr>
            <p:ph type="subTitle" idx="1"/>
          </p:nvPr>
        </p:nvSpPr>
        <p:spPr>
          <a:xfrm>
            <a:off x="2330699" y="2392463"/>
            <a:ext cx="4482600" cy="132147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400"/>
              <a:t>Project ini bertujuan untuk menganalisis performa bisnis platform ecommerce TheLook dengan fokus pada customer acquisition, product performance, operational efficiency, dan revenue leakage akibat product returns.</a:t>
            </a:r>
            <a:endParaRPr sz="1400"/>
          </a:p>
        </p:txBody>
      </p:sp>
      <p:grpSp>
        <p:nvGrpSpPr>
          <p:cNvPr id="1080" name="Google Shape;1080;p42"/>
          <p:cNvGrpSpPr/>
          <p:nvPr/>
        </p:nvGrpSpPr>
        <p:grpSpPr>
          <a:xfrm>
            <a:off x="917550" y="2904450"/>
            <a:ext cx="986125" cy="2095500"/>
            <a:chOff x="7631225" y="2241175"/>
            <a:chExt cx="986125" cy="2095500"/>
          </a:xfrm>
        </p:grpSpPr>
        <p:cxnSp>
          <p:nvCxnSpPr>
            <p:cNvPr id="1081" name="Google Shape;1081;p42"/>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2" name="Google Shape;1082;p42"/>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3" name="Google Shape;1083;p42"/>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4" name="Google Shape;1084;p42"/>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5" name="Google Shape;1085;p42"/>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6" name="Google Shape;1086;p42"/>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7" name="Google Shape;1087;p42"/>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8" name="Google Shape;1088;p42"/>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89" name="Google Shape;1089;p42"/>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0" name="Google Shape;1090;p42"/>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1" name="Google Shape;1091;p42"/>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2" name="Google Shape;1092;p42"/>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3" name="Google Shape;1093;p42"/>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94" name="Google Shape;1094;p42"/>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1095" name="Google Shape;1095;p42"/>
          <p:cNvGrpSpPr/>
          <p:nvPr/>
        </p:nvGrpSpPr>
        <p:grpSpPr>
          <a:xfrm>
            <a:off x="2035713" y="-744737"/>
            <a:ext cx="1885275" cy="1884250"/>
            <a:chOff x="2609275" y="3149350"/>
            <a:chExt cx="1885275" cy="1884250"/>
          </a:xfrm>
        </p:grpSpPr>
        <p:sp>
          <p:nvSpPr>
            <p:cNvPr id="1096" name="Google Shape;1096;p42"/>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2"/>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2"/>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2"/>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2"/>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2"/>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2"/>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2"/>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2"/>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2"/>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2"/>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2"/>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2"/>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2"/>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2"/>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2"/>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2"/>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2"/>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2"/>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5" name="Google Shape;1115;p42"/>
          <p:cNvSpPr/>
          <p:nvPr/>
        </p:nvSpPr>
        <p:spPr>
          <a:xfrm rot="10800000">
            <a:off x="5857425"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45"/>
          <p:cNvSpPr txBox="1">
            <a:spLocks noGrp="1"/>
          </p:cNvSpPr>
          <p:nvPr>
            <p:ph type="title"/>
          </p:nvPr>
        </p:nvSpPr>
        <p:spPr>
          <a:xfrm>
            <a:off x="722375" y="4760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Project Overview</a:t>
            </a:r>
            <a:endParaRPr/>
          </a:p>
        </p:txBody>
      </p:sp>
      <p:sp>
        <p:nvSpPr>
          <p:cNvPr id="1154" name="Google Shape;1154;p45"/>
          <p:cNvSpPr txBox="1">
            <a:spLocks noGrp="1"/>
          </p:cNvSpPr>
          <p:nvPr>
            <p:ph type="subTitle" idx="3"/>
          </p:nvPr>
        </p:nvSpPr>
        <p:spPr>
          <a:xfrm>
            <a:off x="735603" y="1242650"/>
            <a:ext cx="3189000"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Business Context</a:t>
            </a:r>
            <a:endParaRPr/>
          </a:p>
        </p:txBody>
      </p:sp>
      <p:sp>
        <p:nvSpPr>
          <p:cNvPr id="1451" name="Google Shape;1451;p59"/>
          <p:cNvSpPr txBox="1"/>
          <p:nvPr/>
        </p:nvSpPr>
        <p:spPr>
          <a:xfrm>
            <a:off x="5139348" y="1950881"/>
            <a:ext cx="3007701"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solidFill>
                  <a:schemeClr val="dk1"/>
                </a:solidFill>
                <a:latin typeface="Maven Pro"/>
                <a:ea typeface="Maven Pro"/>
                <a:cs typeface="Maven Pro"/>
                <a:sym typeface="Maven Pro"/>
              </a:rPr>
              <a:t>Menganalisis customer acquisition dan behavior pattern.</a:t>
            </a:r>
            <a:endParaRPr sz="1200">
              <a:solidFill>
                <a:schemeClr val="dk1"/>
              </a:solidFill>
              <a:latin typeface="Maven Pro"/>
              <a:ea typeface="Maven Pro"/>
              <a:cs typeface="Maven Pro"/>
              <a:sym typeface="Maven Pro"/>
            </a:endParaRPr>
          </a:p>
        </p:txBody>
      </p:sp>
      <p:sp>
        <p:nvSpPr>
          <p:cNvPr id="1452" name="Google Shape;1452;p59"/>
          <p:cNvSpPr txBox="1"/>
          <p:nvPr/>
        </p:nvSpPr>
        <p:spPr>
          <a:xfrm>
            <a:off x="5139363" y="1675808"/>
            <a:ext cx="3007685"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a:solidFill>
                  <a:schemeClr val="bg2">
                    <a:lumMod val="25000"/>
                  </a:schemeClr>
                </a:solidFill>
                <a:latin typeface="Montserrat"/>
                <a:ea typeface="Montserrat"/>
                <a:cs typeface="Montserrat"/>
                <a:sym typeface="Montserrat"/>
              </a:rPr>
              <a:t>Customer Analysis</a:t>
            </a:r>
            <a:endParaRPr sz="1800" b="1">
              <a:solidFill>
                <a:schemeClr val="bg2">
                  <a:lumMod val="25000"/>
                </a:schemeClr>
              </a:solidFill>
              <a:latin typeface="Montserrat"/>
              <a:ea typeface="Montserrat"/>
              <a:cs typeface="Montserrat"/>
              <a:sym typeface="Montserrat"/>
            </a:endParaRPr>
          </a:p>
        </p:txBody>
      </p:sp>
      <p:sp>
        <p:nvSpPr>
          <p:cNvPr id="1453" name="Google Shape;1453;p59"/>
          <p:cNvSpPr txBox="1"/>
          <p:nvPr/>
        </p:nvSpPr>
        <p:spPr>
          <a:xfrm>
            <a:off x="5139348" y="2772130"/>
            <a:ext cx="3007701"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solidFill>
                  <a:schemeClr val="dk1"/>
                </a:solidFill>
                <a:latin typeface="Maven Pro"/>
                <a:ea typeface="Maven Pro"/>
                <a:cs typeface="Maven Pro"/>
                <a:sym typeface="Maven Pro"/>
              </a:rPr>
              <a:t>Mengidentifikasi kategori dengan revenue dan profitability tertinggi.</a:t>
            </a:r>
            <a:endParaRPr sz="1200">
              <a:solidFill>
                <a:schemeClr val="dk1"/>
              </a:solidFill>
              <a:latin typeface="Maven Pro"/>
              <a:ea typeface="Maven Pro"/>
              <a:cs typeface="Maven Pro"/>
              <a:sym typeface="Maven Pro"/>
            </a:endParaRPr>
          </a:p>
        </p:txBody>
      </p:sp>
      <p:sp>
        <p:nvSpPr>
          <p:cNvPr id="1454" name="Google Shape;1454;p59"/>
          <p:cNvSpPr txBox="1"/>
          <p:nvPr/>
        </p:nvSpPr>
        <p:spPr>
          <a:xfrm>
            <a:off x="5139348" y="3632296"/>
            <a:ext cx="3007701"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solidFill>
                  <a:schemeClr val="dk1"/>
                </a:solidFill>
                <a:latin typeface="Maven Pro"/>
                <a:ea typeface="Maven Pro"/>
                <a:cs typeface="Maven Pro"/>
                <a:sym typeface="Maven Pro"/>
              </a:rPr>
              <a:t>Mengevaluasi fulfillment performance dan operational efficiency.</a:t>
            </a:r>
            <a:endParaRPr sz="1200">
              <a:solidFill>
                <a:schemeClr val="dk1"/>
              </a:solidFill>
              <a:latin typeface="Maven Pro"/>
              <a:ea typeface="Maven Pro"/>
              <a:cs typeface="Maven Pro"/>
              <a:sym typeface="Maven Pro"/>
            </a:endParaRPr>
          </a:p>
        </p:txBody>
      </p:sp>
      <p:sp>
        <p:nvSpPr>
          <p:cNvPr id="1455" name="Google Shape;1455;p59"/>
          <p:cNvSpPr txBox="1"/>
          <p:nvPr/>
        </p:nvSpPr>
        <p:spPr>
          <a:xfrm>
            <a:off x="5139348" y="2497057"/>
            <a:ext cx="3007685"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800" b="1">
                <a:solidFill>
                  <a:schemeClr val="bg2">
                    <a:lumMod val="25000"/>
                  </a:schemeClr>
                </a:solidFill>
                <a:latin typeface="Montserrat"/>
                <a:ea typeface="Montserrat"/>
                <a:cs typeface="Montserrat"/>
                <a:sym typeface="Montserrat"/>
              </a:rPr>
              <a:t>Product Performance</a:t>
            </a:r>
            <a:endParaRPr sz="1800" b="1">
              <a:solidFill>
                <a:schemeClr val="bg2">
                  <a:lumMod val="25000"/>
                </a:schemeClr>
              </a:solidFill>
              <a:latin typeface="Montserrat"/>
              <a:ea typeface="Montserrat"/>
              <a:cs typeface="Montserrat"/>
              <a:sym typeface="Montserrat"/>
            </a:endParaRPr>
          </a:p>
        </p:txBody>
      </p:sp>
      <p:sp>
        <p:nvSpPr>
          <p:cNvPr id="1456" name="Google Shape;1456;p59"/>
          <p:cNvSpPr txBox="1"/>
          <p:nvPr/>
        </p:nvSpPr>
        <p:spPr>
          <a:xfrm>
            <a:off x="5139363" y="3357223"/>
            <a:ext cx="3007685"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800" b="1">
                <a:solidFill>
                  <a:schemeClr val="bg2">
                    <a:lumMod val="25000"/>
                  </a:schemeClr>
                </a:solidFill>
                <a:latin typeface="Montserrat"/>
                <a:ea typeface="Montserrat"/>
                <a:cs typeface="Montserrat"/>
                <a:sym typeface="Montserrat"/>
              </a:rPr>
              <a:t>Operational Analysis</a:t>
            </a:r>
            <a:endParaRPr sz="1800" b="1">
              <a:solidFill>
                <a:schemeClr val="bg2">
                  <a:lumMod val="25000"/>
                </a:schemeClr>
              </a:solidFill>
              <a:latin typeface="Montserrat"/>
              <a:ea typeface="Montserrat"/>
              <a:cs typeface="Montserrat"/>
              <a:sym typeface="Montserrat"/>
            </a:endParaRPr>
          </a:p>
        </p:txBody>
      </p:sp>
      <p:sp>
        <p:nvSpPr>
          <p:cNvPr id="1457" name="Google Shape;1457;p59"/>
          <p:cNvSpPr/>
          <p:nvPr/>
        </p:nvSpPr>
        <p:spPr>
          <a:xfrm>
            <a:off x="4704849" y="1748508"/>
            <a:ext cx="330000" cy="330000"/>
          </a:xfrm>
          <a:prstGeom prst="round1Rect">
            <a:avLst>
              <a:gd name="adj" fmla="val 50000"/>
            </a:avLst>
          </a:pr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bg2">
                  <a:lumMod val="25000"/>
                </a:schemeClr>
              </a:solidFill>
              <a:latin typeface="Maven Pro"/>
              <a:ea typeface="Maven Pro"/>
              <a:cs typeface="Maven Pro"/>
              <a:sym typeface="Maven Pro"/>
            </a:endParaRPr>
          </a:p>
        </p:txBody>
      </p:sp>
      <p:sp>
        <p:nvSpPr>
          <p:cNvPr id="1458" name="Google Shape;1458;p59"/>
          <p:cNvSpPr/>
          <p:nvPr/>
        </p:nvSpPr>
        <p:spPr>
          <a:xfrm>
            <a:off x="4704849" y="2564318"/>
            <a:ext cx="330000" cy="330000"/>
          </a:xfrm>
          <a:prstGeom prst="round1Rect">
            <a:avLst>
              <a:gd name="adj" fmla="val 50000"/>
            </a:avLst>
          </a:prstGeom>
          <a:solidFill>
            <a:schemeClr val="tx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59" name="Google Shape;1459;p59"/>
          <p:cNvSpPr/>
          <p:nvPr/>
        </p:nvSpPr>
        <p:spPr>
          <a:xfrm>
            <a:off x="4704849" y="3419053"/>
            <a:ext cx="330000" cy="330000"/>
          </a:xfrm>
          <a:prstGeom prst="round1Rect">
            <a:avLst>
              <a:gd name="adj" fmla="val 50000"/>
            </a:avLst>
          </a:prstGeom>
          <a:solidFill>
            <a:schemeClr val="bg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 name="Google Shape;1128;p44">
            <a:extLst>
              <a:ext uri="{FF2B5EF4-FFF2-40B4-BE49-F238E27FC236}">
                <a16:creationId xmlns:a16="http://schemas.microsoft.com/office/drawing/2014/main" id="{A1F5CD6F-A185-C28C-C72B-A682AD3D66F6}"/>
              </a:ext>
            </a:extLst>
          </p:cNvPr>
          <p:cNvSpPr txBox="1">
            <a:spLocks/>
          </p:cNvSpPr>
          <p:nvPr/>
        </p:nvSpPr>
        <p:spPr>
          <a:xfrm>
            <a:off x="735603" y="1675808"/>
            <a:ext cx="3703550" cy="1443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1pPr>
            <a:lvl2pPr marL="914400" marR="0" lvl="1"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2pPr>
            <a:lvl3pPr marL="1371600" marR="0" lvl="2"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3pPr>
            <a:lvl4pPr marL="1828800" marR="0" lvl="3"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4pPr>
            <a:lvl5pPr marL="2286000" marR="0" lvl="4"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5pPr>
            <a:lvl6pPr marL="2743200" marR="0" lvl="5"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6pPr>
            <a:lvl7pPr marL="3200400" marR="0" lvl="6"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7pPr>
            <a:lvl8pPr marL="3657600" marR="0" lvl="7"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8pPr>
            <a:lvl9pPr marL="4114800" marR="0" lvl="8"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9pPr>
          </a:lstStyle>
          <a:p>
            <a:pPr marL="0" indent="0">
              <a:buSzPts val="1100"/>
              <a:buFont typeface="Arial"/>
              <a:buNone/>
            </a:pPr>
            <a:r>
              <a:rPr lang="en-US"/>
              <a:t>Ecommerce Industry Challenges:</a:t>
            </a:r>
          </a:p>
          <a:p>
            <a:pPr indent="-317500">
              <a:spcBef>
                <a:spcPts val="1000"/>
              </a:spcBef>
              <a:buSzPts val="1400"/>
              <a:buFont typeface="Maven Pro"/>
              <a:buChar char="●"/>
            </a:pPr>
            <a:r>
              <a:rPr lang="en-US"/>
              <a:t>Increasing customer acquisition competition</a:t>
            </a:r>
          </a:p>
          <a:p>
            <a:pPr indent="-317500">
              <a:buSzPts val="1400"/>
              <a:buFont typeface="Maven Pro"/>
              <a:buChar char="●"/>
            </a:pPr>
            <a:r>
              <a:rPr lang="en-US"/>
              <a:t>High product return behavior</a:t>
            </a:r>
          </a:p>
          <a:p>
            <a:pPr indent="-317500">
              <a:buSzPts val="1400"/>
              <a:buFont typeface="Maven Pro"/>
              <a:buChar char="●"/>
            </a:pPr>
            <a:r>
              <a:rPr lang="en-US"/>
              <a:t>Revenue leakage risk</a:t>
            </a:r>
          </a:p>
          <a:p>
            <a:pPr indent="-317500">
              <a:buSzPts val="1400"/>
              <a:buFont typeface="Maven Pro"/>
              <a:buChar char="●"/>
            </a:pPr>
            <a:r>
              <a:rPr lang="en-US"/>
              <a:t>Operational scalability challenges</a:t>
            </a:r>
          </a:p>
          <a:p>
            <a:pPr indent="-317500">
              <a:buSzPts val="1400"/>
              <a:buFont typeface="Maven Pro"/>
              <a:buChar char="●"/>
            </a:pPr>
            <a:r>
              <a:rPr lang="en-US"/>
              <a:t>Profitability optimization</a:t>
            </a:r>
          </a:p>
        </p:txBody>
      </p:sp>
      <p:sp>
        <p:nvSpPr>
          <p:cNvPr id="9" name="Google Shape;1154;p45">
            <a:extLst>
              <a:ext uri="{FF2B5EF4-FFF2-40B4-BE49-F238E27FC236}">
                <a16:creationId xmlns:a16="http://schemas.microsoft.com/office/drawing/2014/main" id="{684BA6B6-6EA3-328D-D396-160CC11BB6BD}"/>
              </a:ext>
            </a:extLst>
          </p:cNvPr>
          <p:cNvSpPr txBox="1">
            <a:spLocks/>
          </p:cNvSpPr>
          <p:nvPr/>
        </p:nvSpPr>
        <p:spPr>
          <a:xfrm>
            <a:off x="4571975" y="1237004"/>
            <a:ext cx="3189000" cy="402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ontserrat"/>
              <a:buNone/>
              <a:defRPr sz="2000" b="1" i="0" u="none" strike="noStrike" cap="none">
                <a:solidFill>
                  <a:schemeClr val="lt1"/>
                </a:solidFill>
                <a:latin typeface="Montserrat"/>
                <a:ea typeface="Montserrat"/>
                <a:cs typeface="Montserrat"/>
                <a:sym typeface="Montserrat"/>
              </a:defRPr>
            </a:lvl1pPr>
            <a:lvl2pPr marL="914400" marR="0" lvl="1"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2pPr>
            <a:lvl3pPr marL="1371600" marR="0" lvl="2"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3pPr>
            <a:lvl4pPr marL="1828800" marR="0" lvl="3"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4pPr>
            <a:lvl5pPr marL="2286000" marR="0" lvl="4"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5pPr>
            <a:lvl6pPr marL="2743200" marR="0" lvl="5"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6pPr>
            <a:lvl7pPr marL="3200400" marR="0" lvl="6"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7pPr>
            <a:lvl8pPr marL="3657600" marR="0" lvl="7"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8pPr>
            <a:lvl9pPr marL="4114800" marR="0" lvl="8"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9pPr>
          </a:lstStyle>
          <a:p>
            <a:pPr marL="0" indent="0"/>
            <a:r>
              <a:rPr lang="en-US"/>
              <a:t>Objectives</a:t>
            </a:r>
          </a:p>
        </p:txBody>
      </p:sp>
      <p:sp>
        <p:nvSpPr>
          <p:cNvPr id="10" name="Google Shape;1454;p59">
            <a:extLst>
              <a:ext uri="{FF2B5EF4-FFF2-40B4-BE49-F238E27FC236}">
                <a16:creationId xmlns:a16="http://schemas.microsoft.com/office/drawing/2014/main" id="{60AC1CDA-26D6-011A-489D-44E6937A720E}"/>
              </a:ext>
            </a:extLst>
          </p:cNvPr>
          <p:cNvSpPr txBox="1"/>
          <p:nvPr/>
        </p:nvSpPr>
        <p:spPr>
          <a:xfrm>
            <a:off x="5139348" y="4498101"/>
            <a:ext cx="3007701"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solidFill>
                  <a:schemeClr val="dk1"/>
                </a:solidFill>
                <a:latin typeface="Maven Pro"/>
                <a:ea typeface="Maven Pro"/>
                <a:cs typeface="Maven Pro"/>
                <a:sym typeface="Maven Pro"/>
              </a:rPr>
              <a:t>Menganalisis return behavior dan dampaknya terhadap bisnis.</a:t>
            </a:r>
            <a:endParaRPr sz="1200">
              <a:solidFill>
                <a:schemeClr val="dk1"/>
              </a:solidFill>
              <a:latin typeface="Maven Pro"/>
              <a:ea typeface="Maven Pro"/>
              <a:cs typeface="Maven Pro"/>
              <a:sym typeface="Maven Pro"/>
            </a:endParaRPr>
          </a:p>
        </p:txBody>
      </p:sp>
      <p:sp>
        <p:nvSpPr>
          <p:cNvPr id="11" name="Google Shape;1456;p59">
            <a:extLst>
              <a:ext uri="{FF2B5EF4-FFF2-40B4-BE49-F238E27FC236}">
                <a16:creationId xmlns:a16="http://schemas.microsoft.com/office/drawing/2014/main" id="{73F2EC80-9B13-3300-96E4-63C9E2E17F6E}"/>
              </a:ext>
            </a:extLst>
          </p:cNvPr>
          <p:cNvSpPr txBox="1"/>
          <p:nvPr/>
        </p:nvSpPr>
        <p:spPr>
          <a:xfrm>
            <a:off x="5139363" y="4223028"/>
            <a:ext cx="3007685"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800" b="1">
                <a:solidFill>
                  <a:schemeClr val="bg2">
                    <a:lumMod val="25000"/>
                  </a:schemeClr>
                </a:solidFill>
                <a:latin typeface="Montserrat"/>
                <a:ea typeface="Montserrat"/>
                <a:cs typeface="Montserrat"/>
                <a:sym typeface="Montserrat"/>
              </a:rPr>
              <a:t>Revenue Leakage</a:t>
            </a:r>
            <a:endParaRPr sz="1800" b="1">
              <a:solidFill>
                <a:schemeClr val="bg2">
                  <a:lumMod val="25000"/>
                </a:schemeClr>
              </a:solidFill>
              <a:latin typeface="Montserrat"/>
              <a:ea typeface="Montserrat"/>
              <a:cs typeface="Montserrat"/>
              <a:sym typeface="Montserrat"/>
            </a:endParaRPr>
          </a:p>
        </p:txBody>
      </p:sp>
      <p:sp>
        <p:nvSpPr>
          <p:cNvPr id="12" name="Google Shape;1459;p59">
            <a:extLst>
              <a:ext uri="{FF2B5EF4-FFF2-40B4-BE49-F238E27FC236}">
                <a16:creationId xmlns:a16="http://schemas.microsoft.com/office/drawing/2014/main" id="{4C222298-B2F7-B7CA-4B89-B501459A6A8F}"/>
              </a:ext>
            </a:extLst>
          </p:cNvPr>
          <p:cNvSpPr/>
          <p:nvPr/>
        </p:nvSpPr>
        <p:spPr>
          <a:xfrm>
            <a:off x="4704849" y="4284858"/>
            <a:ext cx="330000" cy="330000"/>
          </a:xfrm>
          <a:prstGeom prst="round1Rect">
            <a:avLst>
              <a:gd name="adj" fmla="val 50000"/>
            </a:avLst>
          </a:prstGeom>
          <a:solidFill>
            <a:schemeClr val="accent2">
              <a:lumMod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3" name="Google Shape;1154;p45">
            <a:extLst>
              <a:ext uri="{FF2B5EF4-FFF2-40B4-BE49-F238E27FC236}">
                <a16:creationId xmlns:a16="http://schemas.microsoft.com/office/drawing/2014/main" id="{DE30B7B3-5503-7843-5E61-A12D36056EA0}"/>
              </a:ext>
            </a:extLst>
          </p:cNvPr>
          <p:cNvSpPr txBox="1">
            <a:spLocks/>
          </p:cNvSpPr>
          <p:nvPr/>
        </p:nvSpPr>
        <p:spPr>
          <a:xfrm>
            <a:off x="735603" y="3147724"/>
            <a:ext cx="3189000" cy="402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ontserrat"/>
              <a:buNone/>
              <a:defRPr sz="2000" b="1" i="0" u="none" strike="noStrike" cap="none">
                <a:solidFill>
                  <a:schemeClr val="lt1"/>
                </a:solidFill>
                <a:latin typeface="Montserrat"/>
                <a:ea typeface="Montserrat"/>
                <a:cs typeface="Montserrat"/>
                <a:sym typeface="Montserrat"/>
              </a:defRPr>
            </a:lvl1pPr>
            <a:lvl2pPr marL="914400" marR="0" lvl="1"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2pPr>
            <a:lvl3pPr marL="1371600" marR="0" lvl="2"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3pPr>
            <a:lvl4pPr marL="1828800" marR="0" lvl="3"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4pPr>
            <a:lvl5pPr marL="2286000" marR="0" lvl="4"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5pPr>
            <a:lvl6pPr marL="2743200" marR="0" lvl="5"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6pPr>
            <a:lvl7pPr marL="3200400" marR="0" lvl="6"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7pPr>
            <a:lvl8pPr marL="3657600" marR="0" lvl="7"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8pPr>
            <a:lvl9pPr marL="4114800" marR="0" lvl="8"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9pPr>
          </a:lstStyle>
          <a:p>
            <a:pPr marL="0" indent="0"/>
            <a:r>
              <a:rPr lang="en-US"/>
              <a:t>Expected Outcome</a:t>
            </a:r>
          </a:p>
        </p:txBody>
      </p:sp>
      <p:sp>
        <p:nvSpPr>
          <p:cNvPr id="14" name="Google Shape;1451;p59">
            <a:extLst>
              <a:ext uri="{FF2B5EF4-FFF2-40B4-BE49-F238E27FC236}">
                <a16:creationId xmlns:a16="http://schemas.microsoft.com/office/drawing/2014/main" id="{120F4A34-C55E-8DC4-A0AB-B134A9F5DBEB}"/>
              </a:ext>
            </a:extLst>
          </p:cNvPr>
          <p:cNvSpPr txBox="1"/>
          <p:nvPr/>
        </p:nvSpPr>
        <p:spPr>
          <a:xfrm>
            <a:off x="722375" y="3578939"/>
            <a:ext cx="3703550" cy="919161"/>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200">
                <a:solidFill>
                  <a:schemeClr val="dk1"/>
                </a:solidFill>
                <a:latin typeface="Maven Pro"/>
                <a:ea typeface="Maven Pro"/>
                <a:cs typeface="Maven Pro"/>
                <a:sym typeface="Maven Pro"/>
              </a:rPr>
              <a:t>Menghasilkan interactive business intelligence dashboard serta strategic recommendations untuk mendukung data-driven decision making pada platform ecommerce TheLook.</a:t>
            </a:r>
            <a:endParaRPr sz="12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769897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47"/>
          <p:cNvSpPr txBox="1">
            <a:spLocks noGrp="1"/>
          </p:cNvSpPr>
          <p:nvPr>
            <p:ph type="title"/>
          </p:nvPr>
        </p:nvSpPr>
        <p:spPr>
          <a:xfrm>
            <a:off x="722400" y="311736"/>
            <a:ext cx="6935699" cy="5053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Problem</a:t>
            </a:r>
            <a:endParaRPr/>
          </a:p>
        </p:txBody>
      </p:sp>
      <p:sp>
        <p:nvSpPr>
          <p:cNvPr id="1195" name="Google Shape;1195;p47"/>
          <p:cNvSpPr txBox="1">
            <a:spLocks noGrp="1"/>
          </p:cNvSpPr>
          <p:nvPr>
            <p:ph type="subTitle" idx="1"/>
          </p:nvPr>
        </p:nvSpPr>
        <p:spPr>
          <a:xfrm>
            <a:off x="1478043" y="2369299"/>
            <a:ext cx="2703300" cy="670551"/>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000"/>
              <a:t>Traffic source performance</a:t>
            </a:r>
          </a:p>
          <a:p>
            <a:pPr marL="171450" lvl="0" indent="-171450" algn="l" rtl="0">
              <a:spcBef>
                <a:spcPts val="0"/>
              </a:spcBef>
              <a:spcAft>
                <a:spcPts val="0"/>
              </a:spcAft>
              <a:buFont typeface="Arial" panose="020B0604020202020204" pitchFamily="34" charset="0"/>
              <a:buChar char="•"/>
            </a:pPr>
            <a:r>
              <a:rPr lang="en-US" sz="1000"/>
              <a:t>Customer engagement pattern</a:t>
            </a:r>
          </a:p>
          <a:p>
            <a:pPr marL="171450" lvl="0" indent="-171450" algn="l" rtl="0">
              <a:spcBef>
                <a:spcPts val="0"/>
              </a:spcBef>
              <a:spcAft>
                <a:spcPts val="0"/>
              </a:spcAft>
              <a:buFont typeface="Arial" panose="020B0604020202020204" pitchFamily="34" charset="0"/>
              <a:buChar char="•"/>
            </a:pPr>
            <a:r>
              <a:rPr lang="en-US" sz="1000"/>
              <a:t>Conversion efficiency</a:t>
            </a:r>
          </a:p>
        </p:txBody>
      </p:sp>
      <p:sp>
        <p:nvSpPr>
          <p:cNvPr id="1196" name="Google Shape;1196;p47"/>
          <p:cNvSpPr txBox="1">
            <a:spLocks noGrp="1"/>
          </p:cNvSpPr>
          <p:nvPr>
            <p:ph type="subTitle" idx="2"/>
          </p:nvPr>
        </p:nvSpPr>
        <p:spPr>
          <a:xfrm>
            <a:off x="5328218" y="2369299"/>
            <a:ext cx="2703300" cy="670551"/>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000"/>
              <a:t>Profitability comparison</a:t>
            </a:r>
          </a:p>
          <a:p>
            <a:pPr marL="171450" lvl="0" indent="-171450" algn="l" rtl="0">
              <a:spcBef>
                <a:spcPts val="0"/>
              </a:spcBef>
              <a:spcAft>
                <a:spcPts val="0"/>
              </a:spcAft>
              <a:buFont typeface="Arial" panose="020B0604020202020204" pitchFamily="34" charset="0"/>
              <a:buChar char="•"/>
            </a:pPr>
            <a:r>
              <a:rPr lang="en-US" sz="1000"/>
              <a:t>Product performance distribution</a:t>
            </a:r>
          </a:p>
          <a:p>
            <a:pPr marL="171450" lvl="0" indent="-171450" algn="l" rtl="0">
              <a:spcBef>
                <a:spcPts val="0"/>
              </a:spcBef>
              <a:spcAft>
                <a:spcPts val="0"/>
              </a:spcAft>
              <a:buFont typeface="Arial" panose="020B0604020202020204" pitchFamily="34" charset="0"/>
              <a:buChar char="•"/>
            </a:pPr>
            <a:r>
              <a:rPr lang="en-US" sz="1000"/>
              <a:t>Revenue contribution by category</a:t>
            </a:r>
          </a:p>
        </p:txBody>
      </p:sp>
      <p:sp>
        <p:nvSpPr>
          <p:cNvPr id="1197" name="Google Shape;1197;p47"/>
          <p:cNvSpPr txBox="1">
            <a:spLocks noGrp="1"/>
          </p:cNvSpPr>
          <p:nvPr>
            <p:ph type="subTitle" idx="3"/>
          </p:nvPr>
        </p:nvSpPr>
        <p:spPr>
          <a:xfrm>
            <a:off x="1455325" y="2054708"/>
            <a:ext cx="2846389"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a:t>Customer Acquisition &amp; Behavior</a:t>
            </a:r>
          </a:p>
        </p:txBody>
      </p:sp>
      <p:sp>
        <p:nvSpPr>
          <p:cNvPr id="1198" name="Google Shape;1198;p47"/>
          <p:cNvSpPr txBox="1">
            <a:spLocks noGrp="1"/>
          </p:cNvSpPr>
          <p:nvPr>
            <p:ph type="subTitle" idx="4"/>
          </p:nvPr>
        </p:nvSpPr>
        <p:spPr>
          <a:xfrm>
            <a:off x="5305516" y="2054708"/>
            <a:ext cx="2846389"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a:t>Product &amp; Revenue Performance</a:t>
            </a:r>
            <a:endParaRPr sz="1400"/>
          </a:p>
        </p:txBody>
      </p:sp>
      <p:sp>
        <p:nvSpPr>
          <p:cNvPr id="1199" name="Google Shape;1199;p47"/>
          <p:cNvSpPr txBox="1">
            <a:spLocks noGrp="1"/>
          </p:cNvSpPr>
          <p:nvPr>
            <p:ph type="subTitle" idx="5"/>
          </p:nvPr>
        </p:nvSpPr>
        <p:spPr>
          <a:xfrm>
            <a:off x="1478043" y="3609349"/>
            <a:ext cx="2703300" cy="670551"/>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000"/>
              <a:t>Fulfillment efficiency</a:t>
            </a:r>
          </a:p>
          <a:p>
            <a:pPr marL="171450" lvl="0" indent="-171450" algn="l" rtl="0">
              <a:spcBef>
                <a:spcPts val="0"/>
              </a:spcBef>
              <a:spcAft>
                <a:spcPts val="0"/>
              </a:spcAft>
              <a:buFont typeface="Arial" panose="020B0604020202020204" pitchFamily="34" charset="0"/>
              <a:buChar char="•"/>
            </a:pPr>
            <a:r>
              <a:rPr lang="en-US" sz="1000"/>
              <a:t>Operational bottleneck analysis</a:t>
            </a:r>
          </a:p>
          <a:p>
            <a:pPr marL="171450" lvl="0" indent="-171450" algn="l" rtl="0">
              <a:spcBef>
                <a:spcPts val="0"/>
              </a:spcBef>
              <a:spcAft>
                <a:spcPts val="0"/>
              </a:spcAft>
              <a:buFont typeface="Arial" panose="020B0604020202020204" pitchFamily="34" charset="0"/>
              <a:buChar char="•"/>
            </a:pPr>
            <a:r>
              <a:rPr lang="en-US" sz="1000"/>
              <a:t>Delivery performance impact</a:t>
            </a:r>
          </a:p>
        </p:txBody>
      </p:sp>
      <p:sp>
        <p:nvSpPr>
          <p:cNvPr id="1200" name="Google Shape;1200;p47"/>
          <p:cNvSpPr txBox="1">
            <a:spLocks noGrp="1"/>
          </p:cNvSpPr>
          <p:nvPr>
            <p:ph type="subTitle" idx="6"/>
          </p:nvPr>
        </p:nvSpPr>
        <p:spPr>
          <a:xfrm>
            <a:off x="5328218" y="3609349"/>
            <a:ext cx="2703300" cy="670551"/>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000"/>
              <a:t>Return rate analysis</a:t>
            </a:r>
          </a:p>
          <a:p>
            <a:pPr marL="171450" lvl="0" indent="-171450" algn="l" rtl="0">
              <a:spcBef>
                <a:spcPts val="0"/>
              </a:spcBef>
              <a:spcAft>
                <a:spcPts val="0"/>
              </a:spcAft>
              <a:buFont typeface="Arial" panose="020B0604020202020204" pitchFamily="34" charset="0"/>
              <a:buChar char="•"/>
            </a:pPr>
            <a:r>
              <a:rPr lang="en-US" sz="1000"/>
              <a:t>Revenue leakage impact</a:t>
            </a:r>
          </a:p>
          <a:p>
            <a:pPr marL="171450" lvl="0" indent="-171450" algn="l" rtl="0">
              <a:spcBef>
                <a:spcPts val="0"/>
              </a:spcBef>
              <a:spcAft>
                <a:spcPts val="0"/>
              </a:spcAft>
              <a:buFont typeface="Arial" panose="020B0604020202020204" pitchFamily="34" charset="0"/>
              <a:buChar char="•"/>
            </a:pPr>
            <a:r>
              <a:rPr lang="en-US" sz="1000"/>
              <a:t>Return behavior factors</a:t>
            </a:r>
          </a:p>
        </p:txBody>
      </p:sp>
      <p:sp>
        <p:nvSpPr>
          <p:cNvPr id="1201" name="Google Shape;1201;p47"/>
          <p:cNvSpPr txBox="1">
            <a:spLocks noGrp="1"/>
          </p:cNvSpPr>
          <p:nvPr>
            <p:ph type="subTitle" idx="7"/>
          </p:nvPr>
        </p:nvSpPr>
        <p:spPr>
          <a:xfrm>
            <a:off x="1455325" y="3294758"/>
            <a:ext cx="2846389"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a:t>Fulfillment &amp; Operational Performance</a:t>
            </a:r>
            <a:endParaRPr sz="1400"/>
          </a:p>
        </p:txBody>
      </p:sp>
      <p:sp>
        <p:nvSpPr>
          <p:cNvPr id="1202" name="Google Shape;1202;p47"/>
          <p:cNvSpPr txBox="1">
            <a:spLocks noGrp="1"/>
          </p:cNvSpPr>
          <p:nvPr>
            <p:ph type="subTitle" idx="8"/>
          </p:nvPr>
        </p:nvSpPr>
        <p:spPr>
          <a:xfrm>
            <a:off x="5305516" y="3294758"/>
            <a:ext cx="2846389" cy="40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a:t>Returns &amp; Revenue Leakage</a:t>
            </a:r>
            <a:endParaRPr sz="1400"/>
          </a:p>
        </p:txBody>
      </p:sp>
      <p:sp>
        <p:nvSpPr>
          <p:cNvPr id="1203" name="Google Shape;1203;p47"/>
          <p:cNvSpPr/>
          <p:nvPr/>
        </p:nvSpPr>
        <p:spPr>
          <a:xfrm>
            <a:off x="500125" y="2049575"/>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04" name="Google Shape;1204;p47"/>
          <p:cNvSpPr/>
          <p:nvPr/>
        </p:nvSpPr>
        <p:spPr>
          <a:xfrm>
            <a:off x="4350300" y="2049575"/>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05" name="Google Shape;1205;p47"/>
          <p:cNvSpPr/>
          <p:nvPr/>
        </p:nvSpPr>
        <p:spPr>
          <a:xfrm>
            <a:off x="500125" y="3287018"/>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206" name="Google Shape;1206;p47"/>
          <p:cNvSpPr/>
          <p:nvPr/>
        </p:nvSpPr>
        <p:spPr>
          <a:xfrm>
            <a:off x="4350300" y="3287018"/>
            <a:ext cx="879000" cy="87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217" name="Google Shape;1217;p47"/>
          <p:cNvGrpSpPr/>
          <p:nvPr/>
        </p:nvGrpSpPr>
        <p:grpSpPr>
          <a:xfrm>
            <a:off x="709442" y="2323621"/>
            <a:ext cx="460382" cy="330893"/>
            <a:chOff x="1920918" y="2978345"/>
            <a:chExt cx="460382" cy="330893"/>
          </a:xfrm>
        </p:grpSpPr>
        <p:sp>
          <p:nvSpPr>
            <p:cNvPr id="1218" name="Google Shape;1218;p47"/>
            <p:cNvSpPr/>
            <p:nvPr/>
          </p:nvSpPr>
          <p:spPr>
            <a:xfrm>
              <a:off x="1920918" y="2978345"/>
              <a:ext cx="180732" cy="330893"/>
            </a:xfrm>
            <a:custGeom>
              <a:avLst/>
              <a:gdLst/>
              <a:ahLst/>
              <a:cxnLst/>
              <a:rect l="l" t="t" r="r" b="b"/>
              <a:pathLst>
                <a:path w="180732" h="330893" extrusionOk="0">
                  <a:moveTo>
                    <a:pt x="152571" y="0"/>
                  </a:moveTo>
                  <a:lnTo>
                    <a:pt x="28198" y="0"/>
                  </a:lnTo>
                  <a:cubicBezTo>
                    <a:pt x="12624" y="0"/>
                    <a:pt x="0" y="12624"/>
                    <a:pt x="0" y="28198"/>
                  </a:cubicBezTo>
                  <a:lnTo>
                    <a:pt x="0" y="302695"/>
                  </a:lnTo>
                  <a:cubicBezTo>
                    <a:pt x="0" y="318269"/>
                    <a:pt x="12624" y="330893"/>
                    <a:pt x="28198" y="330893"/>
                  </a:cubicBezTo>
                  <a:lnTo>
                    <a:pt x="152535" y="330893"/>
                  </a:lnTo>
                  <a:cubicBezTo>
                    <a:pt x="168108" y="330893"/>
                    <a:pt x="180733" y="318269"/>
                    <a:pt x="180733" y="302695"/>
                  </a:cubicBezTo>
                  <a:lnTo>
                    <a:pt x="180733" y="28216"/>
                  </a:lnTo>
                  <a:cubicBezTo>
                    <a:pt x="180733" y="12660"/>
                    <a:pt x="168099" y="0"/>
                    <a:pt x="152571" y="0"/>
                  </a:cubicBezTo>
                  <a:close/>
                  <a:moveTo>
                    <a:pt x="153758" y="302075"/>
                  </a:moveTo>
                  <a:cubicBezTo>
                    <a:pt x="153758" y="303595"/>
                    <a:pt x="152526" y="304818"/>
                    <a:pt x="151015" y="304818"/>
                  </a:cubicBezTo>
                  <a:lnTo>
                    <a:pt x="30617" y="304818"/>
                  </a:lnTo>
                  <a:cubicBezTo>
                    <a:pt x="29097" y="304818"/>
                    <a:pt x="27865" y="303604"/>
                    <a:pt x="27874" y="302102"/>
                  </a:cubicBezTo>
                  <a:lnTo>
                    <a:pt x="27910" y="285036"/>
                  </a:lnTo>
                  <a:lnTo>
                    <a:pt x="153758" y="285036"/>
                  </a:lnTo>
                  <a:lnTo>
                    <a:pt x="153758" y="302075"/>
                  </a:lnTo>
                  <a:close/>
                  <a:moveTo>
                    <a:pt x="153758" y="257162"/>
                  </a:moveTo>
                  <a:lnTo>
                    <a:pt x="27874" y="257162"/>
                  </a:lnTo>
                  <a:lnTo>
                    <a:pt x="27874" y="72833"/>
                  </a:lnTo>
                  <a:lnTo>
                    <a:pt x="153758" y="72833"/>
                  </a:lnTo>
                  <a:lnTo>
                    <a:pt x="153758" y="257162"/>
                  </a:lnTo>
                  <a:close/>
                  <a:moveTo>
                    <a:pt x="153758" y="46757"/>
                  </a:moveTo>
                  <a:lnTo>
                    <a:pt x="27874" y="46757"/>
                  </a:lnTo>
                  <a:lnTo>
                    <a:pt x="27874" y="29718"/>
                  </a:lnTo>
                  <a:cubicBezTo>
                    <a:pt x="27874" y="28207"/>
                    <a:pt x="29097" y="26975"/>
                    <a:pt x="30617" y="26975"/>
                  </a:cubicBezTo>
                  <a:lnTo>
                    <a:pt x="151015" y="26975"/>
                  </a:lnTo>
                  <a:cubicBezTo>
                    <a:pt x="152535" y="26975"/>
                    <a:pt x="153758" y="28207"/>
                    <a:pt x="153758" y="29718"/>
                  </a:cubicBezTo>
                  <a:lnTo>
                    <a:pt x="153758" y="46757"/>
                  </a:lnTo>
                  <a:lnTo>
                    <a:pt x="153758" y="4675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19" name="Google Shape;1219;p47"/>
            <p:cNvSpPr/>
            <p:nvPr/>
          </p:nvSpPr>
          <p:spPr>
            <a:xfrm>
              <a:off x="1962704" y="3063185"/>
              <a:ext cx="96873" cy="160245"/>
            </a:xfrm>
            <a:custGeom>
              <a:avLst/>
              <a:gdLst/>
              <a:ahLst/>
              <a:cxnLst/>
              <a:rect l="l" t="t" r="r" b="b"/>
              <a:pathLst>
                <a:path w="96873" h="160245" extrusionOk="0">
                  <a:moveTo>
                    <a:pt x="61915" y="66220"/>
                  </a:moveTo>
                  <a:lnTo>
                    <a:pt x="35434" y="66220"/>
                  </a:lnTo>
                  <a:cubicBezTo>
                    <a:pt x="31352" y="66750"/>
                    <a:pt x="28025" y="63424"/>
                    <a:pt x="28025" y="59341"/>
                  </a:cubicBezTo>
                  <a:cubicBezTo>
                    <a:pt x="28025" y="55259"/>
                    <a:pt x="35434" y="51833"/>
                    <a:pt x="35434" y="51833"/>
                  </a:cubicBezTo>
                  <a:lnTo>
                    <a:pt x="82802" y="51833"/>
                  </a:lnTo>
                  <a:cubicBezTo>
                    <a:pt x="89177" y="51833"/>
                    <a:pt x="94923" y="47607"/>
                    <a:pt x="96443" y="41421"/>
                  </a:cubicBezTo>
                  <a:cubicBezTo>
                    <a:pt x="98700" y="32196"/>
                    <a:pt x="91785" y="23959"/>
                    <a:pt x="82937" y="23959"/>
                  </a:cubicBezTo>
                  <a:lnTo>
                    <a:pt x="67013" y="23959"/>
                  </a:lnTo>
                  <a:lnTo>
                    <a:pt x="67013" y="14068"/>
                  </a:lnTo>
                  <a:cubicBezTo>
                    <a:pt x="67013" y="7684"/>
                    <a:pt x="62778" y="1912"/>
                    <a:pt x="56565" y="419"/>
                  </a:cubicBezTo>
                  <a:cubicBezTo>
                    <a:pt x="47357" y="-1793"/>
                    <a:pt x="39139" y="5059"/>
                    <a:pt x="39139" y="13808"/>
                  </a:cubicBezTo>
                  <a:lnTo>
                    <a:pt x="39139" y="23950"/>
                  </a:lnTo>
                  <a:lnTo>
                    <a:pt x="35398" y="23950"/>
                  </a:lnTo>
                  <a:cubicBezTo>
                    <a:pt x="19096" y="23950"/>
                    <a:pt x="4566" y="34974"/>
                    <a:pt x="933" y="50862"/>
                  </a:cubicBezTo>
                  <a:cubicBezTo>
                    <a:pt x="-4300" y="73728"/>
                    <a:pt x="13198" y="94085"/>
                    <a:pt x="35398" y="94085"/>
                  </a:cubicBezTo>
                  <a:lnTo>
                    <a:pt x="61744" y="94085"/>
                  </a:lnTo>
                  <a:cubicBezTo>
                    <a:pt x="65592" y="94085"/>
                    <a:pt x="68964" y="96980"/>
                    <a:pt x="69207" y="100820"/>
                  </a:cubicBezTo>
                  <a:cubicBezTo>
                    <a:pt x="69468" y="104992"/>
                    <a:pt x="66150" y="108472"/>
                    <a:pt x="62032" y="108472"/>
                  </a:cubicBezTo>
                  <a:lnTo>
                    <a:pt x="14457" y="108472"/>
                  </a:lnTo>
                  <a:cubicBezTo>
                    <a:pt x="8082" y="108472"/>
                    <a:pt x="2336" y="112698"/>
                    <a:pt x="816" y="118884"/>
                  </a:cubicBezTo>
                  <a:cubicBezTo>
                    <a:pt x="-1441" y="128110"/>
                    <a:pt x="5474" y="136346"/>
                    <a:pt x="14322" y="136346"/>
                  </a:cubicBezTo>
                  <a:lnTo>
                    <a:pt x="39157" y="136346"/>
                  </a:lnTo>
                  <a:lnTo>
                    <a:pt x="39157" y="146525"/>
                  </a:lnTo>
                  <a:cubicBezTo>
                    <a:pt x="39157" y="146525"/>
                    <a:pt x="45280" y="160246"/>
                    <a:pt x="52860" y="160246"/>
                  </a:cubicBezTo>
                  <a:cubicBezTo>
                    <a:pt x="60440" y="160246"/>
                    <a:pt x="66581" y="154105"/>
                    <a:pt x="67031" y="146525"/>
                  </a:cubicBezTo>
                  <a:lnTo>
                    <a:pt x="67031" y="136121"/>
                  </a:lnTo>
                  <a:cubicBezTo>
                    <a:pt x="83612" y="133837"/>
                    <a:pt x="96784" y="119226"/>
                    <a:pt x="96784" y="101593"/>
                  </a:cubicBezTo>
                  <a:cubicBezTo>
                    <a:pt x="96784" y="82378"/>
                    <a:pt x="81148" y="66741"/>
                    <a:pt x="61933" y="662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0" name="Google Shape;1220;p47"/>
            <p:cNvSpPr/>
            <p:nvPr/>
          </p:nvSpPr>
          <p:spPr>
            <a:xfrm>
              <a:off x="2200568" y="2978345"/>
              <a:ext cx="180732" cy="330893"/>
            </a:xfrm>
            <a:custGeom>
              <a:avLst/>
              <a:gdLst/>
              <a:ahLst/>
              <a:cxnLst/>
              <a:rect l="l" t="t" r="r" b="b"/>
              <a:pathLst>
                <a:path w="180732" h="330893" extrusionOk="0">
                  <a:moveTo>
                    <a:pt x="152535" y="0"/>
                  </a:moveTo>
                  <a:lnTo>
                    <a:pt x="28198" y="0"/>
                  </a:lnTo>
                  <a:cubicBezTo>
                    <a:pt x="12624" y="0"/>
                    <a:pt x="0" y="12624"/>
                    <a:pt x="0" y="28198"/>
                  </a:cubicBezTo>
                  <a:lnTo>
                    <a:pt x="0" y="302678"/>
                  </a:lnTo>
                  <a:cubicBezTo>
                    <a:pt x="0" y="318233"/>
                    <a:pt x="12633" y="330893"/>
                    <a:pt x="28162" y="330893"/>
                  </a:cubicBezTo>
                  <a:lnTo>
                    <a:pt x="152535" y="330893"/>
                  </a:lnTo>
                  <a:cubicBezTo>
                    <a:pt x="168108" y="330893"/>
                    <a:pt x="180733" y="318269"/>
                    <a:pt x="180733" y="302695"/>
                  </a:cubicBezTo>
                  <a:lnTo>
                    <a:pt x="180733" y="28198"/>
                  </a:lnTo>
                  <a:cubicBezTo>
                    <a:pt x="180733" y="12624"/>
                    <a:pt x="168108" y="0"/>
                    <a:pt x="152535" y="0"/>
                  </a:cubicBezTo>
                  <a:close/>
                  <a:moveTo>
                    <a:pt x="29717" y="26975"/>
                  </a:moveTo>
                  <a:lnTo>
                    <a:pt x="150116" y="26975"/>
                  </a:lnTo>
                  <a:cubicBezTo>
                    <a:pt x="151636" y="26975"/>
                    <a:pt x="152858" y="28207"/>
                    <a:pt x="152858" y="29718"/>
                  </a:cubicBezTo>
                  <a:lnTo>
                    <a:pt x="152858" y="46757"/>
                  </a:lnTo>
                  <a:lnTo>
                    <a:pt x="26975" y="46757"/>
                  </a:lnTo>
                  <a:lnTo>
                    <a:pt x="26975" y="29718"/>
                  </a:lnTo>
                  <a:cubicBezTo>
                    <a:pt x="26975" y="28198"/>
                    <a:pt x="28207" y="26975"/>
                    <a:pt x="29717" y="26975"/>
                  </a:cubicBezTo>
                  <a:close/>
                  <a:moveTo>
                    <a:pt x="26975" y="72833"/>
                  </a:moveTo>
                  <a:lnTo>
                    <a:pt x="152858" y="72833"/>
                  </a:lnTo>
                  <a:lnTo>
                    <a:pt x="152858" y="257162"/>
                  </a:lnTo>
                  <a:lnTo>
                    <a:pt x="26975" y="257162"/>
                  </a:lnTo>
                  <a:lnTo>
                    <a:pt x="26975" y="72833"/>
                  </a:lnTo>
                  <a:close/>
                  <a:moveTo>
                    <a:pt x="152858" y="302111"/>
                  </a:moveTo>
                  <a:cubicBezTo>
                    <a:pt x="152858" y="303613"/>
                    <a:pt x="151636" y="304818"/>
                    <a:pt x="150116" y="304818"/>
                  </a:cubicBezTo>
                  <a:lnTo>
                    <a:pt x="29717" y="304818"/>
                  </a:lnTo>
                  <a:cubicBezTo>
                    <a:pt x="28198" y="304818"/>
                    <a:pt x="26975" y="303586"/>
                    <a:pt x="26975" y="302075"/>
                  </a:cubicBezTo>
                  <a:lnTo>
                    <a:pt x="26975" y="285036"/>
                  </a:lnTo>
                  <a:lnTo>
                    <a:pt x="152858" y="285036"/>
                  </a:lnTo>
                  <a:lnTo>
                    <a:pt x="152858" y="302111"/>
                  </a:lnTo>
                  <a:lnTo>
                    <a:pt x="152858" y="30211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1" name="Google Shape;1221;p47"/>
            <p:cNvSpPr/>
            <p:nvPr/>
          </p:nvSpPr>
          <p:spPr>
            <a:xfrm>
              <a:off x="2233685" y="3074546"/>
              <a:ext cx="110489" cy="138471"/>
            </a:xfrm>
            <a:custGeom>
              <a:avLst/>
              <a:gdLst/>
              <a:ahLst/>
              <a:cxnLst/>
              <a:rect l="l" t="t" r="r" b="b"/>
              <a:pathLst>
                <a:path w="110489" h="138471" extrusionOk="0">
                  <a:moveTo>
                    <a:pt x="96507" y="87237"/>
                  </a:moveTo>
                  <a:cubicBezTo>
                    <a:pt x="89044" y="87174"/>
                    <a:pt x="82957" y="93172"/>
                    <a:pt x="82903" y="100608"/>
                  </a:cubicBezTo>
                  <a:cubicBezTo>
                    <a:pt x="82858" y="106587"/>
                    <a:pt x="78218" y="111497"/>
                    <a:pt x="72239" y="111497"/>
                  </a:cubicBezTo>
                  <a:lnTo>
                    <a:pt x="60442" y="111497"/>
                  </a:lnTo>
                  <a:cubicBezTo>
                    <a:pt x="54813" y="111497"/>
                    <a:pt x="50191" y="107127"/>
                    <a:pt x="49759" y="101606"/>
                  </a:cubicBezTo>
                  <a:lnTo>
                    <a:pt x="57249" y="101606"/>
                  </a:lnTo>
                  <a:cubicBezTo>
                    <a:pt x="63625" y="101606"/>
                    <a:pt x="69370" y="97380"/>
                    <a:pt x="70890" y="91194"/>
                  </a:cubicBezTo>
                  <a:cubicBezTo>
                    <a:pt x="73147" y="81968"/>
                    <a:pt x="66232" y="73732"/>
                    <a:pt x="57384" y="73732"/>
                  </a:cubicBezTo>
                  <a:lnTo>
                    <a:pt x="49607" y="73732"/>
                  </a:lnTo>
                  <a:lnTo>
                    <a:pt x="49607" y="65639"/>
                  </a:lnTo>
                  <a:lnTo>
                    <a:pt x="57249" y="65639"/>
                  </a:lnTo>
                  <a:cubicBezTo>
                    <a:pt x="63625" y="65639"/>
                    <a:pt x="69370" y="61413"/>
                    <a:pt x="70890" y="55227"/>
                  </a:cubicBezTo>
                  <a:cubicBezTo>
                    <a:pt x="73147" y="46001"/>
                    <a:pt x="66232" y="37765"/>
                    <a:pt x="57384" y="37765"/>
                  </a:cubicBezTo>
                  <a:lnTo>
                    <a:pt x="49759" y="37765"/>
                  </a:lnTo>
                  <a:cubicBezTo>
                    <a:pt x="50191" y="32244"/>
                    <a:pt x="54813" y="27874"/>
                    <a:pt x="60442" y="27874"/>
                  </a:cubicBezTo>
                  <a:lnTo>
                    <a:pt x="71780" y="27874"/>
                  </a:lnTo>
                  <a:cubicBezTo>
                    <a:pt x="77858" y="27874"/>
                    <a:pt x="82651" y="32874"/>
                    <a:pt x="82624" y="38952"/>
                  </a:cubicBezTo>
                  <a:cubicBezTo>
                    <a:pt x="82588" y="47881"/>
                    <a:pt x="90959" y="54876"/>
                    <a:pt x="100275" y="52466"/>
                  </a:cubicBezTo>
                  <a:cubicBezTo>
                    <a:pt x="106065" y="50965"/>
                    <a:pt x="110552" y="44581"/>
                    <a:pt x="110489" y="38592"/>
                  </a:cubicBezTo>
                  <a:cubicBezTo>
                    <a:pt x="110264" y="17273"/>
                    <a:pt x="92856" y="0"/>
                    <a:pt x="71483" y="0"/>
                  </a:cubicBezTo>
                  <a:lnTo>
                    <a:pt x="60657" y="0"/>
                  </a:lnTo>
                  <a:cubicBezTo>
                    <a:pt x="39653" y="0"/>
                    <a:pt x="22515" y="16868"/>
                    <a:pt x="22056" y="37765"/>
                  </a:cubicBezTo>
                  <a:lnTo>
                    <a:pt x="14071" y="37765"/>
                  </a:lnTo>
                  <a:cubicBezTo>
                    <a:pt x="7696" y="37765"/>
                    <a:pt x="1951" y="41991"/>
                    <a:pt x="431" y="48177"/>
                  </a:cubicBezTo>
                  <a:cubicBezTo>
                    <a:pt x="-1826" y="57403"/>
                    <a:pt x="5089" y="65639"/>
                    <a:pt x="13937" y="65639"/>
                  </a:cubicBezTo>
                  <a:lnTo>
                    <a:pt x="21714" y="65639"/>
                  </a:lnTo>
                  <a:lnTo>
                    <a:pt x="21714" y="73732"/>
                  </a:lnTo>
                  <a:lnTo>
                    <a:pt x="14071" y="73732"/>
                  </a:lnTo>
                  <a:cubicBezTo>
                    <a:pt x="7696" y="73732"/>
                    <a:pt x="1951" y="77958"/>
                    <a:pt x="431" y="84144"/>
                  </a:cubicBezTo>
                  <a:cubicBezTo>
                    <a:pt x="-1826" y="93369"/>
                    <a:pt x="5089" y="101606"/>
                    <a:pt x="13937" y="101606"/>
                  </a:cubicBezTo>
                  <a:lnTo>
                    <a:pt x="22515" y="101606"/>
                  </a:lnTo>
                  <a:cubicBezTo>
                    <a:pt x="22964" y="122008"/>
                    <a:pt x="39689" y="138472"/>
                    <a:pt x="60199" y="138472"/>
                  </a:cubicBezTo>
                  <a:lnTo>
                    <a:pt x="72113" y="138472"/>
                  </a:lnTo>
                  <a:cubicBezTo>
                    <a:pt x="92668" y="138472"/>
                    <a:pt x="109437" y="121954"/>
                    <a:pt x="109851" y="101498"/>
                  </a:cubicBezTo>
                  <a:cubicBezTo>
                    <a:pt x="110004" y="93981"/>
                    <a:pt x="104015" y="87309"/>
                    <a:pt x="96489" y="872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2" name="Google Shape;1222;p47"/>
            <p:cNvSpPr/>
            <p:nvPr/>
          </p:nvSpPr>
          <p:spPr>
            <a:xfrm>
              <a:off x="2107891" y="3065408"/>
              <a:ext cx="86282" cy="60336"/>
            </a:xfrm>
            <a:custGeom>
              <a:avLst/>
              <a:gdLst/>
              <a:ahLst/>
              <a:cxnLst/>
              <a:rect l="l" t="t" r="r" b="b"/>
              <a:pathLst>
                <a:path w="86282" h="60336" extrusionOk="0">
                  <a:moveTo>
                    <a:pt x="80493" y="18966"/>
                  </a:moveTo>
                  <a:lnTo>
                    <a:pt x="57762" y="2610"/>
                  </a:lnTo>
                  <a:cubicBezTo>
                    <a:pt x="48680" y="-3927"/>
                    <a:pt x="36020" y="2565"/>
                    <a:pt x="36020" y="13751"/>
                  </a:cubicBezTo>
                  <a:lnTo>
                    <a:pt x="36020" y="16350"/>
                  </a:lnTo>
                  <a:lnTo>
                    <a:pt x="14072" y="16350"/>
                  </a:lnTo>
                  <a:cubicBezTo>
                    <a:pt x="7696" y="16350"/>
                    <a:pt x="1951" y="20576"/>
                    <a:pt x="431" y="26762"/>
                  </a:cubicBezTo>
                  <a:cubicBezTo>
                    <a:pt x="-1826" y="35987"/>
                    <a:pt x="5089" y="44224"/>
                    <a:pt x="13937" y="44224"/>
                  </a:cubicBezTo>
                  <a:lnTo>
                    <a:pt x="36020" y="44224"/>
                  </a:lnTo>
                  <a:lnTo>
                    <a:pt x="36020" y="46400"/>
                  </a:lnTo>
                  <a:cubicBezTo>
                    <a:pt x="36020" y="54142"/>
                    <a:pt x="42305" y="60337"/>
                    <a:pt x="49957" y="60337"/>
                  </a:cubicBezTo>
                  <a:cubicBezTo>
                    <a:pt x="57609" y="60337"/>
                    <a:pt x="59605" y="55742"/>
                    <a:pt x="80493" y="41598"/>
                  </a:cubicBezTo>
                  <a:cubicBezTo>
                    <a:pt x="88208" y="36041"/>
                    <a:pt x="88217" y="24532"/>
                    <a:pt x="80493" y="189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3" name="Google Shape;1223;p47"/>
            <p:cNvSpPr/>
            <p:nvPr/>
          </p:nvSpPr>
          <p:spPr>
            <a:xfrm>
              <a:off x="2108054" y="3161614"/>
              <a:ext cx="86282" cy="60341"/>
            </a:xfrm>
            <a:custGeom>
              <a:avLst/>
              <a:gdLst/>
              <a:ahLst/>
              <a:cxnLst/>
              <a:rect l="l" t="t" r="r" b="b"/>
              <a:pathLst>
                <a:path w="86282" h="60341" extrusionOk="0">
                  <a:moveTo>
                    <a:pt x="72202" y="16346"/>
                  </a:moveTo>
                  <a:lnTo>
                    <a:pt x="50253" y="16346"/>
                  </a:lnTo>
                  <a:cubicBezTo>
                    <a:pt x="50253" y="16346"/>
                    <a:pt x="50253" y="13747"/>
                    <a:pt x="50253" y="13747"/>
                  </a:cubicBezTo>
                  <a:cubicBezTo>
                    <a:pt x="50253" y="2562"/>
                    <a:pt x="37593" y="-3921"/>
                    <a:pt x="28511" y="2606"/>
                  </a:cubicBezTo>
                  <a:lnTo>
                    <a:pt x="5790" y="18962"/>
                  </a:lnTo>
                  <a:cubicBezTo>
                    <a:pt x="-1925" y="24519"/>
                    <a:pt x="-1934" y="36029"/>
                    <a:pt x="5790" y="41585"/>
                  </a:cubicBezTo>
                  <a:lnTo>
                    <a:pt x="28179" y="57698"/>
                  </a:lnTo>
                  <a:cubicBezTo>
                    <a:pt x="37386" y="64325"/>
                    <a:pt x="50262" y="57725"/>
                    <a:pt x="50262" y="46387"/>
                  </a:cubicBezTo>
                  <a:lnTo>
                    <a:pt x="50262" y="44211"/>
                  </a:lnTo>
                  <a:lnTo>
                    <a:pt x="72346" y="44211"/>
                  </a:lnTo>
                  <a:cubicBezTo>
                    <a:pt x="81194" y="44211"/>
                    <a:pt x="88108" y="35975"/>
                    <a:pt x="85851" y="26749"/>
                  </a:cubicBezTo>
                  <a:cubicBezTo>
                    <a:pt x="84332" y="20563"/>
                    <a:pt x="78586" y="16337"/>
                    <a:pt x="72211" y="16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grpSp>
        <p:nvGrpSpPr>
          <p:cNvPr id="1224" name="Google Shape;1224;p47"/>
          <p:cNvGrpSpPr/>
          <p:nvPr/>
        </p:nvGrpSpPr>
        <p:grpSpPr>
          <a:xfrm>
            <a:off x="4559271" y="2265636"/>
            <a:ext cx="461065" cy="446886"/>
            <a:chOff x="7254672" y="1567552"/>
            <a:chExt cx="461065" cy="446886"/>
          </a:xfrm>
        </p:grpSpPr>
        <p:sp>
          <p:nvSpPr>
            <p:cNvPr id="1225" name="Google Shape;1225;p47"/>
            <p:cNvSpPr/>
            <p:nvPr/>
          </p:nvSpPr>
          <p:spPr>
            <a:xfrm>
              <a:off x="7254672" y="1675452"/>
              <a:ext cx="259604" cy="259611"/>
            </a:xfrm>
            <a:custGeom>
              <a:avLst/>
              <a:gdLst/>
              <a:ahLst/>
              <a:cxnLst/>
              <a:rect l="l" t="t" r="r" b="b"/>
              <a:pathLst>
                <a:path w="259604" h="259611" extrusionOk="0">
                  <a:moveTo>
                    <a:pt x="251971" y="115993"/>
                  </a:moveTo>
                  <a:lnTo>
                    <a:pt x="143980" y="115993"/>
                  </a:lnTo>
                  <a:lnTo>
                    <a:pt x="143980" y="7472"/>
                  </a:lnTo>
                  <a:cubicBezTo>
                    <a:pt x="143980" y="3345"/>
                    <a:pt x="140636" y="0"/>
                    <a:pt x="136508" y="0"/>
                  </a:cubicBezTo>
                  <a:lnTo>
                    <a:pt x="129801" y="0"/>
                  </a:lnTo>
                  <a:cubicBezTo>
                    <a:pt x="31549" y="0"/>
                    <a:pt x="-41554" y="109725"/>
                    <a:pt x="26594" y="213076"/>
                  </a:cubicBezTo>
                  <a:cubicBezTo>
                    <a:pt x="31863" y="221069"/>
                    <a:pt x="38742" y="227894"/>
                    <a:pt x="46736" y="233154"/>
                  </a:cubicBezTo>
                  <a:cubicBezTo>
                    <a:pt x="152370" y="302606"/>
                    <a:pt x="264577" y="224612"/>
                    <a:pt x="259434" y="123096"/>
                  </a:cubicBezTo>
                  <a:cubicBezTo>
                    <a:pt x="259236" y="119122"/>
                    <a:pt x="255945" y="116002"/>
                    <a:pt x="251971" y="116002"/>
                  </a:cubicBezTo>
                  <a:close/>
                  <a:moveTo>
                    <a:pt x="27413" y="133203"/>
                  </a:moveTo>
                  <a:cubicBezTo>
                    <a:pt x="25803" y="80008"/>
                    <a:pt x="65079" y="35481"/>
                    <a:pt x="116106" y="28746"/>
                  </a:cubicBezTo>
                  <a:lnTo>
                    <a:pt x="116106" y="130056"/>
                  </a:lnTo>
                  <a:cubicBezTo>
                    <a:pt x="116106" y="137680"/>
                    <a:pt x="122293" y="143867"/>
                    <a:pt x="129918" y="143867"/>
                  </a:cubicBezTo>
                  <a:lnTo>
                    <a:pt x="230813" y="143867"/>
                  </a:lnTo>
                  <a:cubicBezTo>
                    <a:pt x="223908" y="194751"/>
                    <a:pt x="179408" y="233855"/>
                    <a:pt x="126294" y="232192"/>
                  </a:cubicBezTo>
                  <a:cubicBezTo>
                    <a:pt x="72596" y="230510"/>
                    <a:pt x="29040" y="186901"/>
                    <a:pt x="27413" y="1332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6" name="Google Shape;1226;p47"/>
            <p:cNvSpPr/>
            <p:nvPr/>
          </p:nvSpPr>
          <p:spPr>
            <a:xfrm>
              <a:off x="7416627" y="1630727"/>
              <a:ext cx="143264" cy="143623"/>
            </a:xfrm>
            <a:custGeom>
              <a:avLst/>
              <a:gdLst/>
              <a:ahLst/>
              <a:cxnLst/>
              <a:rect l="l" t="t" r="r" b="b"/>
              <a:pathLst>
                <a:path w="143264" h="143623" extrusionOk="0">
                  <a:moveTo>
                    <a:pt x="9" y="13811"/>
                  </a:moveTo>
                  <a:lnTo>
                    <a:pt x="9" y="129813"/>
                  </a:lnTo>
                  <a:cubicBezTo>
                    <a:pt x="9" y="137438"/>
                    <a:pt x="6195" y="143624"/>
                    <a:pt x="13820" y="143624"/>
                  </a:cubicBezTo>
                  <a:lnTo>
                    <a:pt x="129453" y="143624"/>
                  </a:lnTo>
                  <a:cubicBezTo>
                    <a:pt x="137087" y="143624"/>
                    <a:pt x="143264" y="137429"/>
                    <a:pt x="143264" y="129795"/>
                  </a:cubicBezTo>
                  <a:cubicBezTo>
                    <a:pt x="143255" y="58104"/>
                    <a:pt x="84656" y="0"/>
                    <a:pt x="13811" y="0"/>
                  </a:cubicBezTo>
                  <a:cubicBezTo>
                    <a:pt x="6186" y="0"/>
                    <a:pt x="0" y="6186"/>
                    <a:pt x="0" y="13811"/>
                  </a:cubicBezTo>
                  <a:close/>
                  <a:moveTo>
                    <a:pt x="26984" y="115750"/>
                  </a:moveTo>
                  <a:lnTo>
                    <a:pt x="26984" y="28360"/>
                  </a:lnTo>
                  <a:cubicBezTo>
                    <a:pt x="72104" y="34663"/>
                    <a:pt x="107918" y="70603"/>
                    <a:pt x="114059" y="115750"/>
                  </a:cubicBezTo>
                  <a:lnTo>
                    <a:pt x="26984" y="1157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7" name="Google Shape;1227;p47"/>
            <p:cNvSpPr/>
            <p:nvPr/>
          </p:nvSpPr>
          <p:spPr>
            <a:xfrm>
              <a:off x="7585884" y="1567552"/>
              <a:ext cx="99731" cy="27874"/>
            </a:xfrm>
            <a:custGeom>
              <a:avLst/>
              <a:gdLst/>
              <a:ahLst/>
              <a:cxnLst/>
              <a:rect l="l" t="t" r="r" b="b"/>
              <a:pathLst>
                <a:path w="99731" h="27874" extrusionOk="0">
                  <a:moveTo>
                    <a:pt x="85792" y="0"/>
                  </a:moveTo>
                  <a:lnTo>
                    <a:pt x="14137" y="0"/>
                  </a:lnTo>
                  <a:cubicBezTo>
                    <a:pt x="7726" y="0"/>
                    <a:pt x="1909" y="4244"/>
                    <a:pt x="416" y="10484"/>
                  </a:cubicBezTo>
                  <a:cubicBezTo>
                    <a:pt x="-1796" y="19683"/>
                    <a:pt x="5119" y="27874"/>
                    <a:pt x="13939" y="27874"/>
                  </a:cubicBezTo>
                  <a:lnTo>
                    <a:pt x="85594" y="27874"/>
                  </a:lnTo>
                  <a:cubicBezTo>
                    <a:pt x="92005" y="27874"/>
                    <a:pt x="97823" y="23630"/>
                    <a:pt x="99316" y="17390"/>
                  </a:cubicBezTo>
                  <a:cubicBezTo>
                    <a:pt x="101527" y="8191"/>
                    <a:pt x="94613" y="0"/>
                    <a:pt x="8579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8" name="Google Shape;1228;p47"/>
            <p:cNvSpPr/>
            <p:nvPr/>
          </p:nvSpPr>
          <p:spPr>
            <a:xfrm>
              <a:off x="7585749" y="1609813"/>
              <a:ext cx="129988" cy="27874"/>
            </a:xfrm>
            <a:custGeom>
              <a:avLst/>
              <a:gdLst/>
              <a:ahLst/>
              <a:cxnLst/>
              <a:rect l="l" t="t" r="r" b="b"/>
              <a:pathLst>
                <a:path w="129988" h="27874" extrusionOk="0">
                  <a:moveTo>
                    <a:pt x="116049" y="0"/>
                  </a:moveTo>
                  <a:lnTo>
                    <a:pt x="14137" y="0"/>
                  </a:lnTo>
                  <a:cubicBezTo>
                    <a:pt x="7726" y="0"/>
                    <a:pt x="1909" y="4244"/>
                    <a:pt x="416" y="10484"/>
                  </a:cubicBezTo>
                  <a:cubicBezTo>
                    <a:pt x="-1796" y="19683"/>
                    <a:pt x="5119" y="27874"/>
                    <a:pt x="13939" y="27874"/>
                  </a:cubicBezTo>
                  <a:lnTo>
                    <a:pt x="115851" y="27874"/>
                  </a:lnTo>
                  <a:cubicBezTo>
                    <a:pt x="122262" y="27874"/>
                    <a:pt x="128080" y="23630"/>
                    <a:pt x="129572" y="17390"/>
                  </a:cubicBezTo>
                  <a:cubicBezTo>
                    <a:pt x="131784" y="8191"/>
                    <a:pt x="124879" y="0"/>
                    <a:pt x="11604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29" name="Google Shape;1229;p47"/>
            <p:cNvSpPr/>
            <p:nvPr/>
          </p:nvSpPr>
          <p:spPr>
            <a:xfrm>
              <a:off x="7549180" y="1791444"/>
              <a:ext cx="68584" cy="27874"/>
            </a:xfrm>
            <a:custGeom>
              <a:avLst/>
              <a:gdLst/>
              <a:ahLst/>
              <a:cxnLst/>
              <a:rect l="l" t="t" r="r" b="b"/>
              <a:pathLst>
                <a:path w="68584" h="27874" extrusionOk="0">
                  <a:moveTo>
                    <a:pt x="54645" y="0"/>
                  </a:moveTo>
                  <a:lnTo>
                    <a:pt x="14137" y="0"/>
                  </a:lnTo>
                  <a:cubicBezTo>
                    <a:pt x="7726" y="0"/>
                    <a:pt x="1909" y="4244"/>
                    <a:pt x="416" y="10484"/>
                  </a:cubicBezTo>
                  <a:cubicBezTo>
                    <a:pt x="-1796" y="19683"/>
                    <a:pt x="5119" y="27874"/>
                    <a:pt x="13939" y="27874"/>
                  </a:cubicBezTo>
                  <a:lnTo>
                    <a:pt x="54447" y="27874"/>
                  </a:lnTo>
                  <a:cubicBezTo>
                    <a:pt x="60858" y="27874"/>
                    <a:pt x="66676" y="23630"/>
                    <a:pt x="68168" y="17390"/>
                  </a:cubicBezTo>
                  <a:cubicBezTo>
                    <a:pt x="70380" y="8191"/>
                    <a:pt x="63466" y="0"/>
                    <a:pt x="5464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0" name="Google Shape;1230;p47"/>
            <p:cNvSpPr/>
            <p:nvPr/>
          </p:nvSpPr>
          <p:spPr>
            <a:xfrm>
              <a:off x="7626382" y="1791444"/>
              <a:ext cx="84463" cy="27874"/>
            </a:xfrm>
            <a:custGeom>
              <a:avLst/>
              <a:gdLst/>
              <a:ahLst/>
              <a:cxnLst/>
              <a:rect l="l" t="t" r="r" b="b"/>
              <a:pathLst>
                <a:path w="84463" h="27874" extrusionOk="0">
                  <a:moveTo>
                    <a:pt x="70524" y="0"/>
                  </a:moveTo>
                  <a:lnTo>
                    <a:pt x="14137" y="0"/>
                  </a:lnTo>
                  <a:cubicBezTo>
                    <a:pt x="7726" y="0"/>
                    <a:pt x="1909" y="4244"/>
                    <a:pt x="416" y="10484"/>
                  </a:cubicBezTo>
                  <a:cubicBezTo>
                    <a:pt x="-1796" y="19683"/>
                    <a:pt x="5119" y="27874"/>
                    <a:pt x="13939" y="27874"/>
                  </a:cubicBezTo>
                  <a:lnTo>
                    <a:pt x="70326" y="27874"/>
                  </a:lnTo>
                  <a:cubicBezTo>
                    <a:pt x="76738" y="27874"/>
                    <a:pt x="82555" y="23630"/>
                    <a:pt x="84048" y="17390"/>
                  </a:cubicBezTo>
                  <a:cubicBezTo>
                    <a:pt x="86260" y="8191"/>
                    <a:pt x="79345" y="0"/>
                    <a:pt x="7052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1" name="Google Shape;1231;p47"/>
            <p:cNvSpPr/>
            <p:nvPr/>
          </p:nvSpPr>
          <p:spPr>
            <a:xfrm>
              <a:off x="7548766" y="1833705"/>
              <a:ext cx="162421" cy="27874"/>
            </a:xfrm>
            <a:custGeom>
              <a:avLst/>
              <a:gdLst/>
              <a:ahLst/>
              <a:cxnLst/>
              <a:rect l="l" t="t" r="r" b="b"/>
              <a:pathLst>
                <a:path w="162421" h="27874" extrusionOk="0">
                  <a:moveTo>
                    <a:pt x="148491" y="0"/>
                  </a:moveTo>
                  <a:lnTo>
                    <a:pt x="14137" y="0"/>
                  </a:lnTo>
                  <a:cubicBezTo>
                    <a:pt x="7726" y="0"/>
                    <a:pt x="1909" y="4244"/>
                    <a:pt x="416" y="10484"/>
                  </a:cubicBezTo>
                  <a:cubicBezTo>
                    <a:pt x="-1796" y="19683"/>
                    <a:pt x="5119" y="27874"/>
                    <a:pt x="13939" y="27874"/>
                  </a:cubicBezTo>
                  <a:lnTo>
                    <a:pt x="148284" y="27874"/>
                  </a:lnTo>
                  <a:cubicBezTo>
                    <a:pt x="154695" y="27874"/>
                    <a:pt x="160512" y="23630"/>
                    <a:pt x="162005" y="17390"/>
                  </a:cubicBezTo>
                  <a:cubicBezTo>
                    <a:pt x="164217" y="8200"/>
                    <a:pt x="157312" y="0"/>
                    <a:pt x="14848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2" name="Google Shape;1232;p47"/>
            <p:cNvSpPr/>
            <p:nvPr/>
          </p:nvSpPr>
          <p:spPr>
            <a:xfrm>
              <a:off x="7548766" y="1876865"/>
              <a:ext cx="162421" cy="27874"/>
            </a:xfrm>
            <a:custGeom>
              <a:avLst/>
              <a:gdLst/>
              <a:ahLst/>
              <a:cxnLst/>
              <a:rect l="l" t="t" r="r" b="b"/>
              <a:pathLst>
                <a:path w="162421" h="27874" extrusionOk="0">
                  <a:moveTo>
                    <a:pt x="148491" y="0"/>
                  </a:moveTo>
                  <a:lnTo>
                    <a:pt x="14137" y="0"/>
                  </a:lnTo>
                  <a:cubicBezTo>
                    <a:pt x="7726" y="0"/>
                    <a:pt x="1909" y="4244"/>
                    <a:pt x="416" y="10484"/>
                  </a:cubicBezTo>
                  <a:cubicBezTo>
                    <a:pt x="-1796" y="19683"/>
                    <a:pt x="5119" y="27874"/>
                    <a:pt x="13939" y="27874"/>
                  </a:cubicBezTo>
                  <a:lnTo>
                    <a:pt x="148284" y="27874"/>
                  </a:lnTo>
                  <a:cubicBezTo>
                    <a:pt x="154695" y="27874"/>
                    <a:pt x="160512" y="23630"/>
                    <a:pt x="162005" y="17390"/>
                  </a:cubicBezTo>
                  <a:cubicBezTo>
                    <a:pt x="164217" y="8200"/>
                    <a:pt x="157312" y="0"/>
                    <a:pt x="14848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3" name="Google Shape;1233;p47"/>
            <p:cNvSpPr/>
            <p:nvPr/>
          </p:nvSpPr>
          <p:spPr>
            <a:xfrm>
              <a:off x="7472526" y="1944303"/>
              <a:ext cx="99731" cy="27874"/>
            </a:xfrm>
            <a:custGeom>
              <a:avLst/>
              <a:gdLst/>
              <a:ahLst/>
              <a:cxnLst/>
              <a:rect l="l" t="t" r="r" b="b"/>
              <a:pathLst>
                <a:path w="99731" h="27874" extrusionOk="0">
                  <a:moveTo>
                    <a:pt x="85792" y="0"/>
                  </a:moveTo>
                  <a:lnTo>
                    <a:pt x="14137" y="0"/>
                  </a:lnTo>
                  <a:cubicBezTo>
                    <a:pt x="7726" y="0"/>
                    <a:pt x="1909" y="4244"/>
                    <a:pt x="416" y="10484"/>
                  </a:cubicBezTo>
                  <a:cubicBezTo>
                    <a:pt x="-1796" y="19683"/>
                    <a:pt x="5119" y="27874"/>
                    <a:pt x="13939" y="27874"/>
                  </a:cubicBezTo>
                  <a:lnTo>
                    <a:pt x="85594" y="27874"/>
                  </a:lnTo>
                  <a:cubicBezTo>
                    <a:pt x="92005" y="27874"/>
                    <a:pt x="97823" y="23630"/>
                    <a:pt x="99316" y="17390"/>
                  </a:cubicBezTo>
                  <a:cubicBezTo>
                    <a:pt x="101527" y="8191"/>
                    <a:pt x="94613" y="0"/>
                    <a:pt x="85792"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4" name="Google Shape;1234;p47"/>
            <p:cNvSpPr/>
            <p:nvPr/>
          </p:nvSpPr>
          <p:spPr>
            <a:xfrm>
              <a:off x="7472229" y="1986564"/>
              <a:ext cx="165334" cy="27874"/>
            </a:xfrm>
            <a:custGeom>
              <a:avLst/>
              <a:gdLst/>
              <a:ahLst/>
              <a:cxnLst/>
              <a:rect l="l" t="t" r="r" b="b"/>
              <a:pathLst>
                <a:path w="165334" h="27874" extrusionOk="0">
                  <a:moveTo>
                    <a:pt x="151395" y="0"/>
                  </a:moveTo>
                  <a:lnTo>
                    <a:pt x="14137" y="0"/>
                  </a:lnTo>
                  <a:cubicBezTo>
                    <a:pt x="7726" y="0"/>
                    <a:pt x="1909" y="4244"/>
                    <a:pt x="416" y="10484"/>
                  </a:cubicBezTo>
                  <a:cubicBezTo>
                    <a:pt x="-1796" y="19683"/>
                    <a:pt x="5119" y="27874"/>
                    <a:pt x="13939" y="27874"/>
                  </a:cubicBezTo>
                  <a:lnTo>
                    <a:pt x="151197" y="27874"/>
                  </a:lnTo>
                  <a:cubicBezTo>
                    <a:pt x="157609" y="27874"/>
                    <a:pt x="163426" y="23630"/>
                    <a:pt x="164919" y="17390"/>
                  </a:cubicBezTo>
                  <a:cubicBezTo>
                    <a:pt x="167131" y="8191"/>
                    <a:pt x="160216" y="0"/>
                    <a:pt x="15139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5" name="Google Shape;1235;p47"/>
            <p:cNvSpPr/>
            <p:nvPr/>
          </p:nvSpPr>
          <p:spPr>
            <a:xfrm>
              <a:off x="7490368" y="1567552"/>
              <a:ext cx="82384" cy="73716"/>
            </a:xfrm>
            <a:custGeom>
              <a:avLst/>
              <a:gdLst/>
              <a:ahLst/>
              <a:cxnLst/>
              <a:rect l="l" t="t" r="r" b="b"/>
              <a:pathLst>
                <a:path w="82384" h="73716" extrusionOk="0">
                  <a:moveTo>
                    <a:pt x="68445" y="0"/>
                  </a:moveTo>
                  <a:lnTo>
                    <a:pt x="14405" y="0"/>
                  </a:lnTo>
                  <a:cubicBezTo>
                    <a:pt x="6447" y="0"/>
                    <a:pt x="0" y="6447"/>
                    <a:pt x="0" y="14405"/>
                  </a:cubicBezTo>
                  <a:lnTo>
                    <a:pt x="0" y="64686"/>
                  </a:lnTo>
                  <a:cubicBezTo>
                    <a:pt x="0" y="65873"/>
                    <a:pt x="459" y="67024"/>
                    <a:pt x="1304" y="67869"/>
                  </a:cubicBezTo>
                  <a:cubicBezTo>
                    <a:pt x="13362" y="79864"/>
                    <a:pt x="27874" y="71520"/>
                    <a:pt x="27874" y="59777"/>
                  </a:cubicBezTo>
                  <a:lnTo>
                    <a:pt x="27874" y="33521"/>
                  </a:lnTo>
                  <a:cubicBezTo>
                    <a:pt x="27874" y="30401"/>
                    <a:pt x="30401" y="27874"/>
                    <a:pt x="33521" y="27874"/>
                  </a:cubicBezTo>
                  <a:lnTo>
                    <a:pt x="73354" y="27874"/>
                  </a:lnTo>
                  <a:cubicBezTo>
                    <a:pt x="74541" y="27874"/>
                    <a:pt x="75692" y="27416"/>
                    <a:pt x="76537" y="26570"/>
                  </a:cubicBezTo>
                  <a:cubicBezTo>
                    <a:pt x="88532" y="14513"/>
                    <a:pt x="80188" y="0"/>
                    <a:pt x="6844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1236" name="Google Shape;1236;p47"/>
            <p:cNvSpPr/>
            <p:nvPr/>
          </p:nvSpPr>
          <p:spPr>
            <a:xfrm>
              <a:off x="7366283" y="1940721"/>
              <a:ext cx="82382" cy="73716"/>
            </a:xfrm>
            <a:custGeom>
              <a:avLst/>
              <a:gdLst/>
              <a:ahLst/>
              <a:cxnLst/>
              <a:rect l="l" t="t" r="r" b="b"/>
              <a:pathLst>
                <a:path w="82382" h="73716" extrusionOk="0">
                  <a:moveTo>
                    <a:pt x="68445" y="45843"/>
                  </a:moveTo>
                  <a:lnTo>
                    <a:pt x="33521" y="45843"/>
                  </a:lnTo>
                  <a:cubicBezTo>
                    <a:pt x="30401" y="45843"/>
                    <a:pt x="27874" y="43316"/>
                    <a:pt x="27874" y="40196"/>
                  </a:cubicBezTo>
                  <a:lnTo>
                    <a:pt x="27874" y="9031"/>
                  </a:lnTo>
                  <a:cubicBezTo>
                    <a:pt x="27874" y="7844"/>
                    <a:pt x="27416" y="6693"/>
                    <a:pt x="26571" y="5848"/>
                  </a:cubicBezTo>
                  <a:cubicBezTo>
                    <a:pt x="14513" y="-6147"/>
                    <a:pt x="0" y="2197"/>
                    <a:pt x="0" y="13940"/>
                  </a:cubicBezTo>
                  <a:lnTo>
                    <a:pt x="0" y="59312"/>
                  </a:lnTo>
                  <a:cubicBezTo>
                    <a:pt x="0" y="67270"/>
                    <a:pt x="6447" y="73717"/>
                    <a:pt x="14405" y="73717"/>
                  </a:cubicBezTo>
                  <a:lnTo>
                    <a:pt x="73345" y="73717"/>
                  </a:lnTo>
                  <a:cubicBezTo>
                    <a:pt x="74532" y="73717"/>
                    <a:pt x="75683" y="73258"/>
                    <a:pt x="76528" y="72413"/>
                  </a:cubicBezTo>
                  <a:cubicBezTo>
                    <a:pt x="88532" y="60355"/>
                    <a:pt x="80188" y="45843"/>
                    <a:pt x="68445" y="458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sp>
        <p:nvSpPr>
          <p:cNvPr id="2" name="Google Shape;1195;p47">
            <a:extLst>
              <a:ext uri="{FF2B5EF4-FFF2-40B4-BE49-F238E27FC236}">
                <a16:creationId xmlns:a16="http://schemas.microsoft.com/office/drawing/2014/main" id="{92BB62DD-017F-3D5E-3D7A-B51084F5C718}"/>
              </a:ext>
            </a:extLst>
          </p:cNvPr>
          <p:cNvSpPr txBox="1">
            <a:spLocks/>
          </p:cNvSpPr>
          <p:nvPr/>
        </p:nvSpPr>
        <p:spPr>
          <a:xfrm>
            <a:off x="722374" y="817047"/>
            <a:ext cx="6935725" cy="3912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1pPr>
            <a:lvl2pPr marL="914400" marR="0" lvl="1"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2pPr>
            <a:lvl3pPr marL="1371600" marR="0" lvl="2"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3pPr>
            <a:lvl4pPr marL="1828800" marR="0" lvl="3"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4pPr>
            <a:lvl5pPr marL="2286000" marR="0" lvl="4"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5pPr>
            <a:lvl6pPr marL="2743200" marR="0" lvl="5"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6pPr>
            <a:lvl7pPr marL="3200400" marR="0" lvl="6"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7pPr>
            <a:lvl8pPr marL="3657600" marR="0" lvl="7"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8pPr>
            <a:lvl9pPr marL="4114800" marR="0" lvl="8"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9pPr>
          </a:lstStyle>
          <a:p>
            <a:pPr marL="0" indent="0"/>
            <a:r>
              <a:rPr lang="en-US" sz="900"/>
              <a:t>Bagaimana customer behavior, product performance, dan operational efficiency memengaruhi revenue leakage dan overall business performance pada platform ecommerce TheLook?</a:t>
            </a:r>
          </a:p>
        </p:txBody>
      </p:sp>
      <p:grpSp>
        <p:nvGrpSpPr>
          <p:cNvPr id="1159" name="Google Shape;1159;p45"/>
          <p:cNvGrpSpPr/>
          <p:nvPr/>
        </p:nvGrpSpPr>
        <p:grpSpPr>
          <a:xfrm>
            <a:off x="4572000" y="3515558"/>
            <a:ext cx="423069" cy="420796"/>
            <a:chOff x="-5635200" y="2037975"/>
            <a:chExt cx="293025" cy="291450"/>
          </a:xfrm>
        </p:grpSpPr>
        <p:sp>
          <p:nvSpPr>
            <p:cNvPr id="1160" name="Google Shape;1160;p45"/>
            <p:cNvSpPr/>
            <p:nvPr/>
          </p:nvSpPr>
          <p:spPr>
            <a:xfrm>
              <a:off x="-5635200" y="2037975"/>
              <a:ext cx="293025" cy="291450"/>
            </a:xfrm>
            <a:custGeom>
              <a:avLst/>
              <a:gdLst/>
              <a:ahLst/>
              <a:cxnLst/>
              <a:rect l="l" t="t" r="r" b="b"/>
              <a:pathLst>
                <a:path w="11721" h="11658" extrusionOk="0">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5"/>
            <p:cNvSpPr/>
            <p:nvPr/>
          </p:nvSpPr>
          <p:spPr>
            <a:xfrm>
              <a:off x="-5496575" y="2072625"/>
              <a:ext cx="102425" cy="102425"/>
            </a:xfrm>
            <a:custGeom>
              <a:avLst/>
              <a:gdLst/>
              <a:ahLst/>
              <a:cxnLst/>
              <a:rect l="l" t="t" r="r" b="b"/>
              <a:pathLst>
                <a:path w="4097" h="4097" extrusionOk="0">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 name="Google Shape;1176;p46">
            <a:extLst>
              <a:ext uri="{FF2B5EF4-FFF2-40B4-BE49-F238E27FC236}">
                <a16:creationId xmlns:a16="http://schemas.microsoft.com/office/drawing/2014/main" id="{CBF6AD30-E83C-4E89-55C6-D23C3218E558}"/>
              </a:ext>
            </a:extLst>
          </p:cNvPr>
          <p:cNvGrpSpPr/>
          <p:nvPr/>
        </p:nvGrpSpPr>
        <p:grpSpPr>
          <a:xfrm>
            <a:off x="748717" y="3515588"/>
            <a:ext cx="425344" cy="425013"/>
            <a:chOff x="6527358" y="3766015"/>
            <a:chExt cx="459831" cy="459474"/>
          </a:xfrm>
        </p:grpSpPr>
        <p:sp>
          <p:nvSpPr>
            <p:cNvPr id="4" name="Google Shape;1177;p46">
              <a:extLst>
                <a:ext uri="{FF2B5EF4-FFF2-40B4-BE49-F238E27FC236}">
                  <a16:creationId xmlns:a16="http://schemas.microsoft.com/office/drawing/2014/main" id="{D0FCF6AA-DAAC-717B-1C99-4721728F49FA}"/>
                </a:ext>
              </a:extLst>
            </p:cNvPr>
            <p:cNvSpPr/>
            <p:nvPr/>
          </p:nvSpPr>
          <p:spPr>
            <a:xfrm>
              <a:off x="6527358" y="3766015"/>
              <a:ext cx="459831" cy="459474"/>
            </a:xfrm>
            <a:custGeom>
              <a:avLst/>
              <a:gdLst/>
              <a:ahLst/>
              <a:cxnLst/>
              <a:rect l="l" t="t" r="r" b="b"/>
              <a:pathLst>
                <a:path w="459831" h="459474" extrusionOk="0">
                  <a:moveTo>
                    <a:pt x="457553" y="143390"/>
                  </a:moveTo>
                  <a:cubicBezTo>
                    <a:pt x="457130" y="142698"/>
                    <a:pt x="459585" y="145935"/>
                    <a:pt x="403728" y="73714"/>
                  </a:cubicBezTo>
                  <a:lnTo>
                    <a:pt x="403728" y="27236"/>
                  </a:lnTo>
                  <a:cubicBezTo>
                    <a:pt x="403728" y="12211"/>
                    <a:pt x="391607" y="0"/>
                    <a:pt x="376708" y="0"/>
                  </a:cubicBezTo>
                  <a:lnTo>
                    <a:pt x="82978" y="0"/>
                  </a:lnTo>
                  <a:cubicBezTo>
                    <a:pt x="67943" y="0"/>
                    <a:pt x="55751" y="12193"/>
                    <a:pt x="55751" y="27227"/>
                  </a:cubicBezTo>
                  <a:lnTo>
                    <a:pt x="55751" y="74226"/>
                  </a:lnTo>
                  <a:cubicBezTo>
                    <a:pt x="-1239" y="147733"/>
                    <a:pt x="2" y="144460"/>
                    <a:pt x="2" y="150817"/>
                  </a:cubicBezTo>
                  <a:lnTo>
                    <a:pt x="2" y="177855"/>
                  </a:lnTo>
                  <a:cubicBezTo>
                    <a:pt x="2" y="195677"/>
                    <a:pt x="6827" y="211916"/>
                    <a:pt x="17986" y="224018"/>
                  </a:cubicBezTo>
                  <a:lnTo>
                    <a:pt x="17986" y="445861"/>
                  </a:lnTo>
                  <a:cubicBezTo>
                    <a:pt x="17986" y="453378"/>
                    <a:pt x="24082" y="459474"/>
                    <a:pt x="31599" y="459474"/>
                  </a:cubicBezTo>
                  <a:lnTo>
                    <a:pt x="427988" y="459474"/>
                  </a:lnTo>
                  <a:cubicBezTo>
                    <a:pt x="435442" y="459474"/>
                    <a:pt x="441502" y="453387"/>
                    <a:pt x="441502" y="445861"/>
                  </a:cubicBezTo>
                  <a:lnTo>
                    <a:pt x="441502" y="224153"/>
                  </a:lnTo>
                  <a:cubicBezTo>
                    <a:pt x="452832" y="212015"/>
                    <a:pt x="459773" y="195695"/>
                    <a:pt x="459773" y="177765"/>
                  </a:cubicBezTo>
                  <a:cubicBezTo>
                    <a:pt x="459207" y="152427"/>
                    <a:pt x="461230" y="148992"/>
                    <a:pt x="457561" y="143390"/>
                  </a:cubicBezTo>
                  <a:close/>
                  <a:moveTo>
                    <a:pt x="383650" y="91715"/>
                  </a:moveTo>
                  <a:lnTo>
                    <a:pt x="418682" y="136673"/>
                  </a:lnTo>
                  <a:lnTo>
                    <a:pt x="347935" y="136673"/>
                  </a:lnTo>
                  <a:lnTo>
                    <a:pt x="330419" y="91715"/>
                  </a:lnTo>
                  <a:cubicBezTo>
                    <a:pt x="330419" y="91715"/>
                    <a:pt x="383650" y="91715"/>
                    <a:pt x="383650" y="91715"/>
                  </a:cubicBezTo>
                  <a:close/>
                  <a:moveTo>
                    <a:pt x="83625" y="26975"/>
                  </a:moveTo>
                  <a:lnTo>
                    <a:pt x="376753" y="26975"/>
                  </a:lnTo>
                  <a:lnTo>
                    <a:pt x="376753" y="64740"/>
                  </a:lnTo>
                  <a:lnTo>
                    <a:pt x="83625" y="64740"/>
                  </a:lnTo>
                  <a:lnTo>
                    <a:pt x="83625" y="26975"/>
                  </a:lnTo>
                  <a:close/>
                  <a:moveTo>
                    <a:pt x="243676" y="176030"/>
                  </a:moveTo>
                  <a:lnTo>
                    <a:pt x="243676" y="164548"/>
                  </a:lnTo>
                  <a:lnTo>
                    <a:pt x="324727" y="164548"/>
                  </a:lnTo>
                  <a:cubicBezTo>
                    <a:pt x="323873" y="172613"/>
                    <a:pt x="328117" y="187917"/>
                    <a:pt x="315745" y="203248"/>
                  </a:cubicBezTo>
                  <a:cubicBezTo>
                    <a:pt x="299470" y="223371"/>
                    <a:pt x="268934" y="223389"/>
                    <a:pt x="252668" y="203248"/>
                  </a:cubicBezTo>
                  <a:cubicBezTo>
                    <a:pt x="242265" y="190354"/>
                    <a:pt x="243847" y="177019"/>
                    <a:pt x="243686" y="176021"/>
                  </a:cubicBezTo>
                  <a:close/>
                  <a:moveTo>
                    <a:pt x="318047" y="136673"/>
                  </a:moveTo>
                  <a:lnTo>
                    <a:pt x="243676" y="136673"/>
                  </a:lnTo>
                  <a:lnTo>
                    <a:pt x="243676" y="91715"/>
                  </a:lnTo>
                  <a:lnTo>
                    <a:pt x="300531" y="91715"/>
                  </a:lnTo>
                  <a:cubicBezTo>
                    <a:pt x="323037" y="149487"/>
                    <a:pt x="316986" y="133949"/>
                    <a:pt x="318047" y="136673"/>
                  </a:cubicBezTo>
                  <a:close/>
                  <a:moveTo>
                    <a:pt x="135776" y="176030"/>
                  </a:moveTo>
                  <a:lnTo>
                    <a:pt x="135776" y="164548"/>
                  </a:lnTo>
                  <a:lnTo>
                    <a:pt x="216827" y="164548"/>
                  </a:lnTo>
                  <a:cubicBezTo>
                    <a:pt x="215973" y="172613"/>
                    <a:pt x="220217" y="187917"/>
                    <a:pt x="207845" y="203248"/>
                  </a:cubicBezTo>
                  <a:cubicBezTo>
                    <a:pt x="191570" y="223371"/>
                    <a:pt x="161034" y="223389"/>
                    <a:pt x="144768" y="203248"/>
                  </a:cubicBezTo>
                  <a:cubicBezTo>
                    <a:pt x="134365" y="190354"/>
                    <a:pt x="135947" y="177019"/>
                    <a:pt x="135786" y="176021"/>
                  </a:cubicBezTo>
                  <a:close/>
                  <a:moveTo>
                    <a:pt x="141972" y="136961"/>
                  </a:moveTo>
                  <a:cubicBezTo>
                    <a:pt x="141972" y="136961"/>
                    <a:pt x="141972" y="136961"/>
                    <a:pt x="141972" y="136952"/>
                  </a:cubicBezTo>
                  <a:cubicBezTo>
                    <a:pt x="141972" y="136952"/>
                    <a:pt x="141972" y="136952"/>
                    <a:pt x="141972" y="136961"/>
                  </a:cubicBezTo>
                  <a:close/>
                  <a:moveTo>
                    <a:pt x="142449" y="136386"/>
                  </a:moveTo>
                  <a:cubicBezTo>
                    <a:pt x="143033" y="134893"/>
                    <a:pt x="146144" y="126899"/>
                    <a:pt x="159847" y="91724"/>
                  </a:cubicBezTo>
                  <a:lnTo>
                    <a:pt x="216701" y="91724"/>
                  </a:lnTo>
                  <a:lnTo>
                    <a:pt x="216701" y="136682"/>
                  </a:lnTo>
                  <a:lnTo>
                    <a:pt x="142331" y="136682"/>
                  </a:lnTo>
                  <a:cubicBezTo>
                    <a:pt x="142493" y="136269"/>
                    <a:pt x="142493" y="136278"/>
                    <a:pt x="142449" y="136386"/>
                  </a:cubicBezTo>
                  <a:close/>
                  <a:moveTo>
                    <a:pt x="76809" y="91724"/>
                  </a:moveTo>
                  <a:lnTo>
                    <a:pt x="130040" y="91724"/>
                  </a:lnTo>
                  <a:lnTo>
                    <a:pt x="112524" y="136682"/>
                  </a:lnTo>
                  <a:lnTo>
                    <a:pt x="41777" y="136682"/>
                  </a:lnTo>
                  <a:lnTo>
                    <a:pt x="76809" y="91724"/>
                  </a:lnTo>
                  <a:close/>
                  <a:moveTo>
                    <a:pt x="26977" y="176830"/>
                  </a:moveTo>
                  <a:lnTo>
                    <a:pt x="26977" y="164557"/>
                  </a:lnTo>
                  <a:lnTo>
                    <a:pt x="108028" y="164557"/>
                  </a:lnTo>
                  <a:cubicBezTo>
                    <a:pt x="107138" y="172910"/>
                    <a:pt x="111984" y="190507"/>
                    <a:pt x="96150" y="206485"/>
                  </a:cubicBezTo>
                  <a:cubicBezTo>
                    <a:pt x="82366" y="220251"/>
                    <a:pt x="61074" y="222166"/>
                    <a:pt x="45195" y="211655"/>
                  </a:cubicBezTo>
                  <a:cubicBezTo>
                    <a:pt x="25134" y="198365"/>
                    <a:pt x="27121" y="177361"/>
                    <a:pt x="26977" y="176830"/>
                  </a:cubicBezTo>
                  <a:close/>
                  <a:moveTo>
                    <a:pt x="414518" y="432508"/>
                  </a:moveTo>
                  <a:lnTo>
                    <a:pt x="44961" y="432508"/>
                  </a:lnTo>
                  <a:lnTo>
                    <a:pt x="44961" y="242074"/>
                  </a:lnTo>
                  <a:cubicBezTo>
                    <a:pt x="72008" y="251551"/>
                    <a:pt x="103200" y="243027"/>
                    <a:pt x="121471" y="218794"/>
                  </a:cubicBezTo>
                  <a:cubicBezTo>
                    <a:pt x="148680" y="254869"/>
                    <a:pt x="202630" y="254869"/>
                    <a:pt x="229839" y="218794"/>
                  </a:cubicBezTo>
                  <a:cubicBezTo>
                    <a:pt x="257047" y="254869"/>
                    <a:pt x="310997" y="254869"/>
                    <a:pt x="338206" y="218794"/>
                  </a:cubicBezTo>
                  <a:cubicBezTo>
                    <a:pt x="356324" y="242811"/>
                    <a:pt x="387328" y="251569"/>
                    <a:pt x="414518" y="242146"/>
                  </a:cubicBezTo>
                  <a:lnTo>
                    <a:pt x="414518" y="432508"/>
                  </a:lnTo>
                  <a:lnTo>
                    <a:pt x="414518" y="432508"/>
                  </a:lnTo>
                  <a:close/>
                  <a:moveTo>
                    <a:pt x="433401" y="177846"/>
                  </a:moveTo>
                  <a:cubicBezTo>
                    <a:pt x="433401" y="216088"/>
                    <a:pt x="385214" y="232821"/>
                    <a:pt x="361342" y="203266"/>
                  </a:cubicBezTo>
                  <a:cubicBezTo>
                    <a:pt x="348969" y="187935"/>
                    <a:pt x="353267" y="173108"/>
                    <a:pt x="352359" y="164566"/>
                  </a:cubicBezTo>
                  <a:lnTo>
                    <a:pt x="433410" y="164566"/>
                  </a:lnTo>
                  <a:lnTo>
                    <a:pt x="433410" y="17785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5" name="Google Shape;1178;p46">
              <a:extLst>
                <a:ext uri="{FF2B5EF4-FFF2-40B4-BE49-F238E27FC236}">
                  <a16:creationId xmlns:a16="http://schemas.microsoft.com/office/drawing/2014/main" id="{ECCFA4F6-9126-72C1-E457-748FA68E69DC}"/>
                </a:ext>
              </a:extLst>
            </p:cNvPr>
            <p:cNvSpPr/>
            <p:nvPr/>
          </p:nvSpPr>
          <p:spPr>
            <a:xfrm>
              <a:off x="6679203" y="4021035"/>
              <a:ext cx="73002" cy="72960"/>
            </a:xfrm>
            <a:custGeom>
              <a:avLst/>
              <a:gdLst/>
              <a:ahLst/>
              <a:cxnLst/>
              <a:rect l="l" t="t" r="r" b="b"/>
              <a:pathLst>
                <a:path w="73002" h="72960" extrusionOk="0">
                  <a:moveTo>
                    <a:pt x="10726" y="10675"/>
                  </a:moveTo>
                  <a:cubicBezTo>
                    <a:pt x="-12319" y="33738"/>
                    <a:pt x="4306" y="72960"/>
                    <a:pt x="36523" y="72960"/>
                  </a:cubicBezTo>
                  <a:cubicBezTo>
                    <a:pt x="56674" y="72960"/>
                    <a:pt x="73002" y="56649"/>
                    <a:pt x="73002" y="36481"/>
                  </a:cubicBezTo>
                  <a:cubicBezTo>
                    <a:pt x="73002" y="3823"/>
                    <a:pt x="33457" y="-12056"/>
                    <a:pt x="10726" y="10684"/>
                  </a:cubicBezTo>
                  <a:close/>
                  <a:moveTo>
                    <a:pt x="36514" y="45733"/>
                  </a:moveTo>
                  <a:cubicBezTo>
                    <a:pt x="31407" y="45733"/>
                    <a:pt x="27262" y="41588"/>
                    <a:pt x="27262" y="36481"/>
                  </a:cubicBezTo>
                  <a:cubicBezTo>
                    <a:pt x="27262" y="31374"/>
                    <a:pt x="31407" y="27228"/>
                    <a:pt x="36514" y="27228"/>
                  </a:cubicBezTo>
                  <a:cubicBezTo>
                    <a:pt x="41621" y="27228"/>
                    <a:pt x="45766" y="31374"/>
                    <a:pt x="45766" y="36481"/>
                  </a:cubicBezTo>
                  <a:cubicBezTo>
                    <a:pt x="45766" y="41588"/>
                    <a:pt x="41621" y="45733"/>
                    <a:pt x="36514" y="457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6" name="Google Shape;1179;p46">
              <a:extLst>
                <a:ext uri="{FF2B5EF4-FFF2-40B4-BE49-F238E27FC236}">
                  <a16:creationId xmlns:a16="http://schemas.microsoft.com/office/drawing/2014/main" id="{4B5228A2-097D-4E2C-D88D-AD4B7FBE19A5}"/>
                </a:ext>
              </a:extLst>
            </p:cNvPr>
            <p:cNvSpPr/>
            <p:nvPr/>
          </p:nvSpPr>
          <p:spPr>
            <a:xfrm>
              <a:off x="6762978" y="4104743"/>
              <a:ext cx="72947" cy="72890"/>
            </a:xfrm>
            <a:custGeom>
              <a:avLst/>
              <a:gdLst/>
              <a:ahLst/>
              <a:cxnLst/>
              <a:rect l="l" t="t" r="r" b="b"/>
              <a:pathLst>
                <a:path w="72947" h="72890" extrusionOk="0">
                  <a:moveTo>
                    <a:pt x="62277" y="10698"/>
                  </a:moveTo>
                  <a:cubicBezTo>
                    <a:pt x="39339" y="-12240"/>
                    <a:pt x="0" y="4188"/>
                    <a:pt x="0" y="36486"/>
                  </a:cubicBezTo>
                  <a:cubicBezTo>
                    <a:pt x="0" y="68784"/>
                    <a:pt x="39545" y="85023"/>
                    <a:pt x="62285" y="62283"/>
                  </a:cubicBezTo>
                  <a:cubicBezTo>
                    <a:pt x="76501" y="48058"/>
                    <a:pt x="76501" y="24913"/>
                    <a:pt x="62285" y="10689"/>
                  </a:cubicBezTo>
                  <a:close/>
                  <a:moveTo>
                    <a:pt x="36470" y="45747"/>
                  </a:moveTo>
                  <a:cubicBezTo>
                    <a:pt x="31363" y="45747"/>
                    <a:pt x="27218" y="41602"/>
                    <a:pt x="27218" y="36495"/>
                  </a:cubicBezTo>
                  <a:cubicBezTo>
                    <a:pt x="27218" y="31387"/>
                    <a:pt x="31363" y="27242"/>
                    <a:pt x="36470" y="27242"/>
                  </a:cubicBezTo>
                  <a:cubicBezTo>
                    <a:pt x="41578" y="27242"/>
                    <a:pt x="45723" y="31387"/>
                    <a:pt x="45723" y="36495"/>
                  </a:cubicBezTo>
                  <a:cubicBezTo>
                    <a:pt x="45723" y="41602"/>
                    <a:pt x="41578" y="45747"/>
                    <a:pt x="36470" y="457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sp>
          <p:nvSpPr>
            <p:cNvPr id="7" name="Google Shape;1180;p46">
              <a:extLst>
                <a:ext uri="{FF2B5EF4-FFF2-40B4-BE49-F238E27FC236}">
                  <a16:creationId xmlns:a16="http://schemas.microsoft.com/office/drawing/2014/main" id="{51931889-087F-9F85-D6F1-2E076BBDE3E2}"/>
                </a:ext>
              </a:extLst>
            </p:cNvPr>
            <p:cNvSpPr/>
            <p:nvPr/>
          </p:nvSpPr>
          <p:spPr>
            <a:xfrm>
              <a:off x="6701607" y="4043378"/>
              <a:ext cx="114055" cy="114063"/>
            </a:xfrm>
            <a:custGeom>
              <a:avLst/>
              <a:gdLst/>
              <a:ahLst/>
              <a:cxnLst/>
              <a:rect l="l" t="t" r="r" b="b"/>
              <a:pathLst>
                <a:path w="114055" h="114063" extrusionOk="0">
                  <a:moveTo>
                    <a:pt x="110069" y="3985"/>
                  </a:moveTo>
                  <a:cubicBezTo>
                    <a:pt x="104755" y="-1328"/>
                    <a:pt x="96132" y="-1328"/>
                    <a:pt x="90818" y="3985"/>
                  </a:cubicBezTo>
                  <a:lnTo>
                    <a:pt x="3986" y="90827"/>
                  </a:lnTo>
                  <a:cubicBezTo>
                    <a:pt x="-1329" y="96141"/>
                    <a:pt x="-1329" y="104764"/>
                    <a:pt x="3986" y="110078"/>
                  </a:cubicBezTo>
                  <a:cubicBezTo>
                    <a:pt x="9300" y="115392"/>
                    <a:pt x="17923" y="115392"/>
                    <a:pt x="23237" y="110078"/>
                  </a:cubicBezTo>
                  <a:lnTo>
                    <a:pt x="110069" y="23237"/>
                  </a:lnTo>
                  <a:cubicBezTo>
                    <a:pt x="115384" y="17923"/>
                    <a:pt x="115384" y="9300"/>
                    <a:pt x="110069" y="39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rgbClr val="7B879D"/>
                </a:solidFill>
                <a:latin typeface="Arial"/>
                <a:ea typeface="Arial"/>
                <a:cs typeface="Arial"/>
                <a:sym typeface="Arial"/>
              </a:endParaRPr>
            </a:p>
          </p:txBody>
        </p:sp>
      </p:grpSp>
      <p:sp>
        <p:nvSpPr>
          <p:cNvPr id="8" name="Google Shape;1194;p47">
            <a:extLst>
              <a:ext uri="{FF2B5EF4-FFF2-40B4-BE49-F238E27FC236}">
                <a16:creationId xmlns:a16="http://schemas.microsoft.com/office/drawing/2014/main" id="{2A3A54A1-F6EE-2DF3-60C6-3CBCDF80BF7C}"/>
              </a:ext>
            </a:extLst>
          </p:cNvPr>
          <p:cNvSpPr txBox="1">
            <a:spLocks/>
          </p:cNvSpPr>
          <p:nvPr/>
        </p:nvSpPr>
        <p:spPr>
          <a:xfrm>
            <a:off x="500125" y="1372218"/>
            <a:ext cx="6935699" cy="3796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r>
              <a:rPr lang="en-US" sz="2000"/>
              <a:t>Supporting Problem Statements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8"/>
        <p:cNvGrpSpPr/>
        <p:nvPr/>
      </p:nvGrpSpPr>
      <p:grpSpPr>
        <a:xfrm>
          <a:off x="0" y="0"/>
          <a:ext cx="0" cy="0"/>
          <a:chOff x="0" y="0"/>
          <a:chExt cx="0" cy="0"/>
        </a:xfrm>
      </p:grpSpPr>
      <p:sp>
        <p:nvSpPr>
          <p:cNvPr id="1539" name="Google Shape;1539;p62"/>
          <p:cNvSpPr txBox="1">
            <a:spLocks noGrp="1"/>
          </p:cNvSpPr>
          <p:nvPr>
            <p:ph type="title"/>
          </p:nvPr>
        </p:nvSpPr>
        <p:spPr>
          <a:xfrm>
            <a:off x="722400" y="522465"/>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Dataset Overview</a:t>
            </a:r>
            <a:endParaRPr/>
          </a:p>
        </p:txBody>
      </p:sp>
      <p:graphicFrame>
        <p:nvGraphicFramePr>
          <p:cNvPr id="1540" name="Google Shape;1540;p62"/>
          <p:cNvGraphicFramePr/>
          <p:nvPr>
            <p:extLst>
              <p:ext uri="{D42A27DB-BD31-4B8C-83A1-F6EECF244321}">
                <p14:modId xmlns:p14="http://schemas.microsoft.com/office/powerpoint/2010/main" val="3616386524"/>
              </p:ext>
            </p:extLst>
          </p:nvPr>
        </p:nvGraphicFramePr>
        <p:xfrm>
          <a:off x="207601" y="1551679"/>
          <a:ext cx="5177198" cy="2364111"/>
        </p:xfrm>
        <a:graphic>
          <a:graphicData uri="http://schemas.openxmlformats.org/drawingml/2006/table">
            <a:tbl>
              <a:tblPr>
                <a:noFill/>
                <a:tableStyleId>{797E9F48-5D71-4371-B1A2-E3DF88AB330D}</a:tableStyleId>
              </a:tblPr>
              <a:tblGrid>
                <a:gridCol w="1652949">
                  <a:extLst>
                    <a:ext uri="{9D8B030D-6E8A-4147-A177-3AD203B41FA5}">
                      <a16:colId xmlns:a16="http://schemas.microsoft.com/office/drawing/2014/main" val="20001"/>
                    </a:ext>
                  </a:extLst>
                </a:gridCol>
                <a:gridCol w="2273300">
                  <a:extLst>
                    <a:ext uri="{9D8B030D-6E8A-4147-A177-3AD203B41FA5}">
                      <a16:colId xmlns:a16="http://schemas.microsoft.com/office/drawing/2014/main" val="20002"/>
                    </a:ext>
                  </a:extLst>
                </a:gridCol>
                <a:gridCol w="1250949">
                  <a:extLst>
                    <a:ext uri="{9D8B030D-6E8A-4147-A177-3AD203B41FA5}">
                      <a16:colId xmlns:a16="http://schemas.microsoft.com/office/drawing/2014/main" val="2229944865"/>
                    </a:ext>
                  </a:extLst>
                </a:gridCol>
              </a:tblGrid>
              <a:tr h="369944">
                <a:tc>
                  <a:txBody>
                    <a:bodyPr/>
                    <a:lstStyle/>
                    <a:p>
                      <a:pPr marL="0" lvl="0" indent="0" algn="ctr" rtl="0">
                        <a:spcBef>
                          <a:spcPts val="0"/>
                        </a:spcBef>
                        <a:spcAft>
                          <a:spcPts val="0"/>
                        </a:spcAft>
                        <a:buNone/>
                      </a:pPr>
                      <a:r>
                        <a:rPr lang="en" b="1">
                          <a:solidFill>
                            <a:schemeClr val="lt1"/>
                          </a:solidFill>
                          <a:latin typeface="Montserrat"/>
                          <a:ea typeface="Montserrat"/>
                          <a:cs typeface="Montserrat"/>
                          <a:sym typeface="Montserrat"/>
                        </a:rPr>
                        <a:t>Dataset</a:t>
                      </a:r>
                      <a:endParaRPr b="1">
                        <a:solidFill>
                          <a:schemeClr val="lt1"/>
                        </a:solidFill>
                        <a:latin typeface="Montserrat"/>
                        <a:ea typeface="Montserrat"/>
                        <a:cs typeface="Montserrat"/>
                        <a:sym typeface="Montserrat"/>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lt1"/>
                          </a:solidFill>
                          <a:latin typeface="Montserrat"/>
                          <a:ea typeface="Montserrat"/>
                          <a:cs typeface="Montserrat"/>
                          <a:sym typeface="Montserrat"/>
                        </a:rPr>
                        <a:t>Description</a:t>
                      </a:r>
                      <a:endParaRPr b="1">
                        <a:solidFill>
                          <a:schemeClr val="lt1"/>
                        </a:solidFill>
                        <a:latin typeface="Montserrat"/>
                        <a:ea typeface="Montserrat"/>
                        <a:cs typeface="Montserrat"/>
                        <a:sym typeface="Montserrat"/>
                      </a:endParaRPr>
                    </a:p>
                  </a:txBody>
                  <a:tcPr marL="91425" marR="91425" marT="68575" marB="68575"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b="1">
                          <a:solidFill>
                            <a:schemeClr val="lt1"/>
                          </a:solidFill>
                          <a:latin typeface="Montserrat"/>
                          <a:ea typeface="Montserrat"/>
                          <a:cs typeface="Montserrat"/>
                          <a:sym typeface="Montserrat"/>
                        </a:rPr>
                        <a:t>Size</a:t>
                      </a:r>
                      <a:endParaRPr b="1">
                        <a:solidFill>
                          <a:schemeClr val="lt1"/>
                        </a:solidFill>
                        <a:latin typeface="Montserrat"/>
                        <a:ea typeface="Montserrat"/>
                        <a:cs typeface="Montserrat"/>
                        <a:sym typeface="Montserrat"/>
                      </a:endParaRPr>
                    </a:p>
                  </a:txBody>
                  <a:tcPr marL="91425" marR="91425" marT="68575" marB="6857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284881">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users.csv</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Customer demographic information</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(100.000, 15)</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284881">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events.csv</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Customer activity &amp; interaction</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(2.431.963, 13)</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284881">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orders.csv</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Transaction data</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(125.226, 9)</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284881">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order_items.csv</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Purchased product details</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(181.759, 11)</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284881">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products.csv</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Product catalog information</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(29.120, 9)</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284881">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distribution_centers.csv</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Fulfillment location</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(10, 4)</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6"/>
                  </a:ext>
                </a:extLst>
              </a:tr>
              <a:tr h="284881">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inventory_items.csv</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Inventory &amp; operational data</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050">
                          <a:solidFill>
                            <a:schemeClr val="dk1"/>
                          </a:solidFill>
                          <a:latin typeface="Maven Pro"/>
                          <a:ea typeface="Maven Pro"/>
                          <a:cs typeface="Maven Pro"/>
                          <a:sym typeface="Maven Pro"/>
                        </a:rPr>
                        <a:t>(490.705, 12)</a:t>
                      </a:r>
                      <a:endParaRPr sz="1050">
                        <a:solidFill>
                          <a:schemeClr val="dk1"/>
                        </a:solidFill>
                        <a:latin typeface="Maven Pro"/>
                        <a:ea typeface="Maven Pro"/>
                        <a:cs typeface="Maven Pro"/>
                        <a:sym typeface="Maven Pro"/>
                      </a:endParaRPr>
                    </a:p>
                  </a:txBody>
                  <a:tcPr marL="0" marR="0"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4" name="Google Shape;1242;p48">
            <a:extLst>
              <a:ext uri="{FF2B5EF4-FFF2-40B4-BE49-F238E27FC236}">
                <a16:creationId xmlns:a16="http://schemas.microsoft.com/office/drawing/2014/main" id="{CC5B026C-2096-C488-A438-64BEB07A20BD}"/>
              </a:ext>
            </a:extLst>
          </p:cNvPr>
          <p:cNvSpPr txBox="1">
            <a:spLocks/>
          </p:cNvSpPr>
          <p:nvPr/>
        </p:nvSpPr>
        <p:spPr>
          <a:xfrm>
            <a:off x="5613350" y="1852152"/>
            <a:ext cx="2763775" cy="13863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1pPr>
            <a:lvl2pPr marL="914400" marR="0" lvl="1"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2pPr>
            <a:lvl3pPr marL="1371600" marR="0" lvl="2"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3pPr>
            <a:lvl4pPr marL="1828800" marR="0" lvl="3"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4pPr>
            <a:lvl5pPr marL="2286000" marR="0" lvl="4"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5pPr>
            <a:lvl6pPr marL="2743200" marR="0" lvl="5"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6pPr>
            <a:lvl7pPr marL="3200400" marR="0" lvl="6"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7pPr>
            <a:lvl8pPr marL="3657600" marR="0" lvl="7"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8pPr>
            <a:lvl9pPr marL="4114800" marR="0" lvl="8"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9pPr>
          </a:lstStyle>
          <a:p>
            <a:pPr marL="171450" indent="-171450">
              <a:lnSpc>
                <a:spcPct val="150000"/>
              </a:lnSpc>
              <a:buFont typeface="Arial" panose="020B0604020202020204" pitchFamily="34" charset="0"/>
              <a:buChar char="•"/>
            </a:pPr>
            <a:r>
              <a:rPr lang="en-US" sz="1050"/>
              <a:t>Multiple relational ecommerce datasets</a:t>
            </a:r>
          </a:p>
          <a:p>
            <a:pPr marL="171450" indent="-171450">
              <a:lnSpc>
                <a:spcPct val="150000"/>
              </a:lnSpc>
              <a:buFont typeface="Arial" panose="020B0604020202020204" pitchFamily="34" charset="0"/>
              <a:buChar char="•"/>
            </a:pPr>
            <a:r>
              <a:rPr lang="en-US" sz="1050"/>
              <a:t>Millions of customer activity records</a:t>
            </a:r>
          </a:p>
          <a:p>
            <a:pPr marL="171450" indent="-171450">
              <a:lnSpc>
                <a:spcPct val="150000"/>
              </a:lnSpc>
              <a:buFont typeface="Arial" panose="020B0604020202020204" pitchFamily="34" charset="0"/>
              <a:buChar char="•"/>
            </a:pPr>
            <a:r>
              <a:rPr lang="en-US" sz="1050"/>
              <a:t>Transactional and behavioral data</a:t>
            </a:r>
          </a:p>
          <a:p>
            <a:pPr marL="171450" indent="-171450">
              <a:lnSpc>
                <a:spcPct val="150000"/>
              </a:lnSpc>
              <a:buFont typeface="Arial" panose="020B0604020202020204" pitchFamily="34" charset="0"/>
              <a:buChar char="•"/>
            </a:pPr>
            <a:r>
              <a:rPr lang="en-US" sz="1050"/>
              <a:t>Product and operational information</a:t>
            </a:r>
          </a:p>
          <a:p>
            <a:pPr marL="171450" indent="-171450">
              <a:lnSpc>
                <a:spcPct val="150000"/>
              </a:lnSpc>
              <a:buFont typeface="Arial" panose="020B0604020202020204" pitchFamily="34" charset="0"/>
              <a:buChar char="•"/>
            </a:pPr>
            <a:r>
              <a:rPr lang="en-US" sz="1050"/>
              <a:t>Historical data from 2019–2024</a:t>
            </a:r>
          </a:p>
        </p:txBody>
      </p:sp>
      <p:sp>
        <p:nvSpPr>
          <p:cNvPr id="5" name="Google Shape;1244;p48">
            <a:extLst>
              <a:ext uri="{FF2B5EF4-FFF2-40B4-BE49-F238E27FC236}">
                <a16:creationId xmlns:a16="http://schemas.microsoft.com/office/drawing/2014/main" id="{5E5F80DC-7EE7-28C6-899F-5A70E94AE7E6}"/>
              </a:ext>
            </a:extLst>
          </p:cNvPr>
          <p:cNvSpPr txBox="1">
            <a:spLocks/>
          </p:cNvSpPr>
          <p:nvPr/>
        </p:nvSpPr>
        <p:spPr>
          <a:xfrm>
            <a:off x="5613351" y="1551679"/>
            <a:ext cx="2389800" cy="3004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ontserrat"/>
              <a:buNone/>
              <a:defRPr sz="2000" b="1" i="0" u="none" strike="noStrike" cap="none">
                <a:solidFill>
                  <a:schemeClr val="lt1"/>
                </a:solidFill>
                <a:latin typeface="Montserrat"/>
                <a:ea typeface="Montserrat"/>
                <a:cs typeface="Montserrat"/>
                <a:sym typeface="Montserrat"/>
              </a:defRPr>
            </a:lvl1pPr>
            <a:lvl2pPr marL="914400" marR="0" lvl="1"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2pPr>
            <a:lvl3pPr marL="1371600" marR="0" lvl="2"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3pPr>
            <a:lvl4pPr marL="1828800" marR="0" lvl="3"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4pPr>
            <a:lvl5pPr marL="2286000" marR="0" lvl="4"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5pPr>
            <a:lvl6pPr marL="2743200" marR="0" lvl="5"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6pPr>
            <a:lvl7pPr marL="3200400" marR="0" lvl="6"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7pPr>
            <a:lvl8pPr marL="3657600" marR="0" lvl="7"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8pPr>
            <a:lvl9pPr marL="4114800" marR="0" lvl="8"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9pPr>
          </a:lstStyle>
          <a:p>
            <a:pPr marL="0" indent="0"/>
            <a:r>
              <a:rPr lang="en-US" sz="1400"/>
              <a:t>Data Summary</a:t>
            </a:r>
          </a:p>
        </p:txBody>
      </p:sp>
    </p:spTree>
    <p:extLst>
      <p:ext uri="{BB962C8B-B14F-4D97-AF65-F5344CB8AC3E}">
        <p14:creationId xmlns:p14="http://schemas.microsoft.com/office/powerpoint/2010/main" val="468676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4" name="Google Shape;1464;p60"/>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Data Preprocessing</a:t>
            </a:r>
            <a:endParaRPr/>
          </a:p>
        </p:txBody>
      </p:sp>
      <p:sp>
        <p:nvSpPr>
          <p:cNvPr id="1465" name="Google Shape;1465;p60"/>
          <p:cNvSpPr txBox="1"/>
          <p:nvPr/>
        </p:nvSpPr>
        <p:spPr>
          <a:xfrm>
            <a:off x="722375" y="2102799"/>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aven Pro"/>
                <a:ea typeface="Maven Pro"/>
                <a:cs typeface="Maven Pro"/>
                <a:sym typeface="Maven Pro"/>
              </a:rPr>
              <a:t>Raw Dataset</a:t>
            </a:r>
            <a:endParaRPr sz="1200">
              <a:solidFill>
                <a:schemeClr val="dk1"/>
              </a:solidFill>
              <a:latin typeface="Maven Pro"/>
              <a:ea typeface="Maven Pro"/>
              <a:cs typeface="Maven Pro"/>
              <a:sym typeface="Maven Pro"/>
            </a:endParaRPr>
          </a:p>
        </p:txBody>
      </p:sp>
      <p:sp>
        <p:nvSpPr>
          <p:cNvPr id="1466" name="Google Shape;1466;p60"/>
          <p:cNvSpPr txBox="1"/>
          <p:nvPr/>
        </p:nvSpPr>
        <p:spPr>
          <a:xfrm>
            <a:off x="2696439" y="2102799"/>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chemeClr val="dk1"/>
                </a:solidFill>
                <a:latin typeface="Maven Pro"/>
                <a:ea typeface="Maven Pro"/>
                <a:cs typeface="Maven Pro"/>
                <a:sym typeface="Maven Pro"/>
              </a:rPr>
              <a:t>Data Cleaning</a:t>
            </a:r>
            <a:endParaRPr sz="1200">
              <a:solidFill>
                <a:schemeClr val="dk1"/>
              </a:solidFill>
              <a:latin typeface="Maven Pro"/>
              <a:ea typeface="Maven Pro"/>
              <a:cs typeface="Maven Pro"/>
              <a:sym typeface="Maven Pro"/>
            </a:endParaRPr>
          </a:p>
        </p:txBody>
      </p:sp>
      <p:sp>
        <p:nvSpPr>
          <p:cNvPr id="1467" name="Google Shape;1467;p60"/>
          <p:cNvSpPr txBox="1"/>
          <p:nvPr/>
        </p:nvSpPr>
        <p:spPr>
          <a:xfrm>
            <a:off x="722375" y="1802325"/>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1</a:t>
            </a:r>
            <a:endParaRPr sz="2000" b="1">
              <a:solidFill>
                <a:schemeClr val="lt1"/>
              </a:solidFill>
              <a:latin typeface="Montserrat"/>
              <a:ea typeface="Montserrat"/>
              <a:cs typeface="Montserrat"/>
              <a:sym typeface="Montserrat"/>
            </a:endParaRPr>
          </a:p>
        </p:txBody>
      </p:sp>
      <p:sp>
        <p:nvSpPr>
          <p:cNvPr id="1468" name="Google Shape;1468;p60"/>
          <p:cNvSpPr txBox="1"/>
          <p:nvPr/>
        </p:nvSpPr>
        <p:spPr>
          <a:xfrm>
            <a:off x="2696439" y="1802325"/>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2</a:t>
            </a:r>
            <a:endParaRPr sz="2000" b="1">
              <a:solidFill>
                <a:schemeClr val="lt1"/>
              </a:solidFill>
              <a:latin typeface="Montserrat"/>
              <a:ea typeface="Montserrat"/>
              <a:cs typeface="Montserrat"/>
              <a:sym typeface="Montserrat"/>
            </a:endParaRPr>
          </a:p>
        </p:txBody>
      </p:sp>
      <p:sp>
        <p:nvSpPr>
          <p:cNvPr id="1469" name="Google Shape;1469;p60"/>
          <p:cNvSpPr txBox="1"/>
          <p:nvPr/>
        </p:nvSpPr>
        <p:spPr>
          <a:xfrm>
            <a:off x="4670516" y="2102799"/>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chemeClr val="dk1"/>
                </a:solidFill>
                <a:latin typeface="Maven Pro"/>
                <a:ea typeface="Maven Pro"/>
                <a:cs typeface="Maven Pro"/>
                <a:sym typeface="Maven Pro"/>
              </a:rPr>
              <a:t>Null &amp; Duplicate Handling</a:t>
            </a:r>
            <a:endParaRPr sz="1200">
              <a:solidFill>
                <a:schemeClr val="dk1"/>
              </a:solidFill>
              <a:latin typeface="Maven Pro"/>
              <a:ea typeface="Maven Pro"/>
              <a:cs typeface="Maven Pro"/>
              <a:sym typeface="Maven Pro"/>
            </a:endParaRPr>
          </a:p>
        </p:txBody>
      </p:sp>
      <p:sp>
        <p:nvSpPr>
          <p:cNvPr id="1470" name="Google Shape;1470;p60"/>
          <p:cNvSpPr txBox="1"/>
          <p:nvPr/>
        </p:nvSpPr>
        <p:spPr>
          <a:xfrm>
            <a:off x="4670510" y="1802325"/>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3</a:t>
            </a:r>
            <a:endParaRPr sz="2000" b="1">
              <a:solidFill>
                <a:schemeClr val="lt1"/>
              </a:solidFill>
              <a:latin typeface="Montserrat"/>
              <a:ea typeface="Montserrat"/>
              <a:cs typeface="Montserrat"/>
              <a:sym typeface="Montserrat"/>
            </a:endParaRPr>
          </a:p>
        </p:txBody>
      </p:sp>
      <p:sp>
        <p:nvSpPr>
          <p:cNvPr id="1471" name="Google Shape;1471;p60"/>
          <p:cNvSpPr txBox="1"/>
          <p:nvPr/>
        </p:nvSpPr>
        <p:spPr>
          <a:xfrm>
            <a:off x="722375" y="3939550"/>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chemeClr val="dk1"/>
                </a:solidFill>
                <a:latin typeface="Maven Pro"/>
                <a:ea typeface="Maven Pro"/>
                <a:cs typeface="Maven Pro"/>
                <a:sym typeface="Maven Pro"/>
              </a:rPr>
              <a:t>Feature Engineering</a:t>
            </a:r>
            <a:endParaRPr sz="1200">
              <a:solidFill>
                <a:schemeClr val="dk1"/>
              </a:solidFill>
              <a:latin typeface="Maven Pro"/>
              <a:ea typeface="Maven Pro"/>
              <a:cs typeface="Maven Pro"/>
              <a:sym typeface="Maven Pro"/>
            </a:endParaRPr>
          </a:p>
        </p:txBody>
      </p:sp>
      <p:sp>
        <p:nvSpPr>
          <p:cNvPr id="1472" name="Google Shape;1472;p60"/>
          <p:cNvSpPr txBox="1"/>
          <p:nvPr/>
        </p:nvSpPr>
        <p:spPr>
          <a:xfrm>
            <a:off x="2696439" y="3939550"/>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chemeClr val="dk1"/>
                </a:solidFill>
                <a:latin typeface="Maven Pro"/>
                <a:ea typeface="Maven Pro"/>
                <a:cs typeface="Maven Pro"/>
                <a:sym typeface="Maven Pro"/>
              </a:rPr>
              <a:t>Cleaned Analytical Dataset</a:t>
            </a:r>
            <a:endParaRPr sz="1200">
              <a:solidFill>
                <a:schemeClr val="dk1"/>
              </a:solidFill>
              <a:latin typeface="Maven Pro"/>
              <a:ea typeface="Maven Pro"/>
              <a:cs typeface="Maven Pro"/>
              <a:sym typeface="Maven Pro"/>
            </a:endParaRPr>
          </a:p>
        </p:txBody>
      </p:sp>
      <p:sp>
        <p:nvSpPr>
          <p:cNvPr id="1473" name="Google Shape;1473;p60"/>
          <p:cNvSpPr txBox="1"/>
          <p:nvPr/>
        </p:nvSpPr>
        <p:spPr>
          <a:xfrm>
            <a:off x="722375" y="3639077"/>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5</a:t>
            </a:r>
            <a:endParaRPr sz="2000" b="1">
              <a:solidFill>
                <a:schemeClr val="lt1"/>
              </a:solidFill>
              <a:latin typeface="Montserrat"/>
              <a:ea typeface="Montserrat"/>
              <a:cs typeface="Montserrat"/>
              <a:sym typeface="Montserrat"/>
            </a:endParaRPr>
          </a:p>
        </p:txBody>
      </p:sp>
      <p:sp>
        <p:nvSpPr>
          <p:cNvPr id="1474" name="Google Shape;1474;p60"/>
          <p:cNvSpPr txBox="1"/>
          <p:nvPr/>
        </p:nvSpPr>
        <p:spPr>
          <a:xfrm>
            <a:off x="2696439" y="3639077"/>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6</a:t>
            </a:r>
            <a:endParaRPr sz="2000" b="1">
              <a:solidFill>
                <a:schemeClr val="lt1"/>
              </a:solidFill>
              <a:latin typeface="Montserrat"/>
              <a:ea typeface="Montserrat"/>
              <a:cs typeface="Montserrat"/>
              <a:sym typeface="Montserrat"/>
            </a:endParaRPr>
          </a:p>
        </p:txBody>
      </p:sp>
      <p:sp>
        <p:nvSpPr>
          <p:cNvPr id="1477" name="Google Shape;1477;p60"/>
          <p:cNvSpPr txBox="1"/>
          <p:nvPr/>
        </p:nvSpPr>
        <p:spPr>
          <a:xfrm>
            <a:off x="6644599" y="2102799"/>
            <a:ext cx="1776900" cy="40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chemeClr val="dk1"/>
                </a:solidFill>
                <a:latin typeface="Maven Pro"/>
                <a:ea typeface="Maven Pro"/>
                <a:cs typeface="Maven Pro"/>
                <a:sym typeface="Maven Pro"/>
              </a:rPr>
              <a:t>Data Type Validation</a:t>
            </a:r>
            <a:endParaRPr sz="1200">
              <a:solidFill>
                <a:schemeClr val="dk1"/>
              </a:solidFill>
              <a:latin typeface="Maven Pro"/>
              <a:ea typeface="Maven Pro"/>
              <a:cs typeface="Maven Pro"/>
              <a:sym typeface="Maven Pro"/>
            </a:endParaRPr>
          </a:p>
        </p:txBody>
      </p:sp>
      <p:sp>
        <p:nvSpPr>
          <p:cNvPr id="1478" name="Google Shape;1478;p60"/>
          <p:cNvSpPr txBox="1"/>
          <p:nvPr/>
        </p:nvSpPr>
        <p:spPr>
          <a:xfrm>
            <a:off x="6644591" y="1802325"/>
            <a:ext cx="1776900" cy="402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lt1"/>
                </a:solidFill>
                <a:latin typeface="Montserrat"/>
                <a:ea typeface="Montserrat"/>
                <a:cs typeface="Montserrat"/>
                <a:sym typeface="Montserrat"/>
              </a:rPr>
              <a:t>Step 4</a:t>
            </a:r>
            <a:endParaRPr sz="2000" b="1">
              <a:solidFill>
                <a:schemeClr val="lt1"/>
              </a:solidFill>
              <a:latin typeface="Montserrat"/>
              <a:ea typeface="Montserrat"/>
              <a:cs typeface="Montserrat"/>
              <a:sym typeface="Montserrat"/>
            </a:endParaRPr>
          </a:p>
        </p:txBody>
      </p:sp>
      <p:sp>
        <p:nvSpPr>
          <p:cNvPr id="1481" name="Google Shape;1481;p60"/>
          <p:cNvSpPr/>
          <p:nvPr/>
        </p:nvSpPr>
        <p:spPr>
          <a:xfrm>
            <a:off x="1459028" y="140287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2" name="Google Shape;1482;p60"/>
          <p:cNvSpPr/>
          <p:nvPr/>
        </p:nvSpPr>
        <p:spPr>
          <a:xfrm>
            <a:off x="3433103" y="140287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3" name="Google Shape;1483;p60"/>
          <p:cNvSpPr/>
          <p:nvPr/>
        </p:nvSpPr>
        <p:spPr>
          <a:xfrm>
            <a:off x="5407178" y="140287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4" name="Google Shape;1484;p60"/>
          <p:cNvSpPr/>
          <p:nvPr/>
        </p:nvSpPr>
        <p:spPr>
          <a:xfrm>
            <a:off x="7381253" y="140287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5" name="Google Shape;1485;p60"/>
          <p:cNvSpPr/>
          <p:nvPr/>
        </p:nvSpPr>
        <p:spPr>
          <a:xfrm>
            <a:off x="1459028" y="323565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486" name="Google Shape;1486;p60"/>
          <p:cNvSpPr/>
          <p:nvPr/>
        </p:nvSpPr>
        <p:spPr>
          <a:xfrm>
            <a:off x="3433103" y="323565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489" name="Google Shape;1489;p60"/>
          <p:cNvCxnSpPr>
            <a:cxnSpLocks/>
            <a:endCxn id="1482" idx="1"/>
          </p:cNvCxnSpPr>
          <p:nvPr/>
        </p:nvCxnSpPr>
        <p:spPr>
          <a:xfrm>
            <a:off x="1762703" y="1554675"/>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0" name="Google Shape;1490;p60"/>
          <p:cNvCxnSpPr>
            <a:cxnSpLocks/>
            <a:stCxn id="1482" idx="3"/>
            <a:endCxn id="1483" idx="1"/>
          </p:cNvCxnSpPr>
          <p:nvPr/>
        </p:nvCxnSpPr>
        <p:spPr>
          <a:xfrm>
            <a:off x="3736703" y="1554675"/>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1" name="Google Shape;1491;p60"/>
          <p:cNvCxnSpPr>
            <a:cxnSpLocks/>
            <a:stCxn id="1483" idx="3"/>
            <a:endCxn id="1484" idx="1"/>
          </p:cNvCxnSpPr>
          <p:nvPr/>
        </p:nvCxnSpPr>
        <p:spPr>
          <a:xfrm>
            <a:off x="5710778" y="1554675"/>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2" name="Google Shape;1492;p60"/>
          <p:cNvCxnSpPr>
            <a:cxnSpLocks/>
            <a:stCxn id="1485" idx="3"/>
            <a:endCxn id="1486" idx="1"/>
          </p:cNvCxnSpPr>
          <p:nvPr/>
        </p:nvCxnSpPr>
        <p:spPr>
          <a:xfrm>
            <a:off x="1762628" y="3387450"/>
            <a:ext cx="1670400" cy="0"/>
          </a:xfrm>
          <a:prstGeom prst="straightConnector1">
            <a:avLst/>
          </a:prstGeom>
          <a:noFill/>
          <a:ln w="9525" cap="flat" cmpd="sng">
            <a:solidFill>
              <a:schemeClr val="lt2"/>
            </a:solidFill>
            <a:prstDash val="solid"/>
            <a:round/>
            <a:headEnd type="none" w="med" len="med"/>
            <a:tailEnd type="none" w="med" len="med"/>
          </a:ln>
        </p:spPr>
      </p:cxnSp>
      <p:cxnSp>
        <p:nvCxnSpPr>
          <p:cNvPr id="1495" name="Google Shape;1495;p60"/>
          <p:cNvCxnSpPr>
            <a:cxnSpLocks/>
            <a:stCxn id="1484" idx="3"/>
            <a:endCxn id="1485" idx="1"/>
          </p:cNvCxnSpPr>
          <p:nvPr/>
        </p:nvCxnSpPr>
        <p:spPr>
          <a:xfrm flipH="1">
            <a:off x="1458953" y="1554675"/>
            <a:ext cx="6225900" cy="1832700"/>
          </a:xfrm>
          <a:prstGeom prst="bentConnector5">
            <a:avLst>
              <a:gd name="adj1" fmla="val -11945"/>
              <a:gd name="adj2" fmla="val 68066"/>
              <a:gd name="adj3" fmla="val 111514"/>
            </a:avLst>
          </a:prstGeom>
          <a:noFill/>
          <a:ln w="9525" cap="flat" cmpd="sng">
            <a:solidFill>
              <a:schemeClr val="lt2"/>
            </a:solidFill>
            <a:prstDash val="solid"/>
            <a:round/>
            <a:headEnd type="none" w="med" len="med"/>
            <a:tailEnd type="none" w="med" len="med"/>
          </a:ln>
        </p:spPr>
      </p:cxnSp>
      <p:sp>
        <p:nvSpPr>
          <p:cNvPr id="6" name="Google Shape;1242;p48">
            <a:extLst>
              <a:ext uri="{FF2B5EF4-FFF2-40B4-BE49-F238E27FC236}">
                <a16:creationId xmlns:a16="http://schemas.microsoft.com/office/drawing/2014/main" id="{EB94B69E-8594-263F-CD97-3630D45921A1}"/>
              </a:ext>
            </a:extLst>
          </p:cNvPr>
          <p:cNvSpPr txBox="1">
            <a:spLocks/>
          </p:cNvSpPr>
          <p:nvPr/>
        </p:nvSpPr>
        <p:spPr>
          <a:xfrm>
            <a:off x="4670503" y="3539175"/>
            <a:ext cx="3632625" cy="1025738"/>
          </a:xfrm>
          <a:prstGeom prst="rect">
            <a:avLst/>
          </a:prstGeom>
          <a:noFill/>
          <a:ln>
            <a:noFill/>
          </a:ln>
        </p:spPr>
        <p:txBody>
          <a:bodyPr spcFirstLastPara="1" wrap="square" lIns="91425" tIns="91425" rIns="91425" bIns="91425" numCol="2"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1pPr>
            <a:lvl2pPr marL="914400" marR="0" lvl="1"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2pPr>
            <a:lvl3pPr marL="1371600" marR="0" lvl="2"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3pPr>
            <a:lvl4pPr marL="1828800" marR="0" lvl="3"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4pPr>
            <a:lvl5pPr marL="2286000" marR="0" lvl="4"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5pPr>
            <a:lvl6pPr marL="2743200" marR="0" lvl="5"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6pPr>
            <a:lvl7pPr marL="3200400" marR="0" lvl="6"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7pPr>
            <a:lvl8pPr marL="3657600" marR="0" lvl="7"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8pPr>
            <a:lvl9pPr marL="4114800" marR="0" lvl="8" indent="-304800" algn="ctr" rtl="0">
              <a:lnSpc>
                <a:spcPct val="100000"/>
              </a:lnSpc>
              <a:spcBef>
                <a:spcPts val="0"/>
              </a:spcBef>
              <a:spcAft>
                <a:spcPts val="0"/>
              </a:spcAft>
              <a:buClr>
                <a:schemeClr val="dk1"/>
              </a:buClr>
              <a:buSzPts val="1200"/>
              <a:buFont typeface="Maven Pro"/>
              <a:buNone/>
              <a:defRPr sz="1200" b="0" i="0" u="none" strike="noStrike" cap="none">
                <a:solidFill>
                  <a:schemeClr val="dk1"/>
                </a:solidFill>
                <a:latin typeface="Maven Pro"/>
                <a:ea typeface="Maven Pro"/>
                <a:cs typeface="Maven Pro"/>
                <a:sym typeface="Maven Pro"/>
              </a:defRPr>
            </a:lvl9pPr>
          </a:lstStyle>
          <a:p>
            <a:pPr marL="171450" indent="-171450">
              <a:buFont typeface="Arial" panose="020B0604020202020204" pitchFamily="34" charset="0"/>
              <a:buChar char="•"/>
            </a:pPr>
            <a:r>
              <a:rPr lang="en-US" sz="1050"/>
              <a:t>Missing value checking</a:t>
            </a:r>
          </a:p>
          <a:p>
            <a:pPr marL="171450" indent="-171450">
              <a:buFont typeface="Arial" panose="020B0604020202020204" pitchFamily="34" charset="0"/>
              <a:buChar char="•"/>
            </a:pPr>
            <a:r>
              <a:rPr lang="en-US" sz="1050"/>
              <a:t>Duplicate validation</a:t>
            </a:r>
          </a:p>
          <a:p>
            <a:pPr marL="171450" indent="-171450">
              <a:buFont typeface="Arial" panose="020B0604020202020204" pitchFamily="34" charset="0"/>
              <a:buChar char="•"/>
            </a:pPr>
            <a:r>
              <a:rPr lang="en-US" sz="1050"/>
              <a:t>Invalid fulfillment duration handling</a:t>
            </a:r>
          </a:p>
          <a:p>
            <a:pPr marL="171450" indent="-171450">
              <a:buFont typeface="Arial" panose="020B0604020202020204" pitchFamily="34" charset="0"/>
              <a:buChar char="•"/>
            </a:pPr>
            <a:r>
              <a:rPr lang="en-US" sz="1050"/>
              <a:t>Datetime transformation</a:t>
            </a:r>
          </a:p>
          <a:p>
            <a:pPr marL="171450" indent="-171450">
              <a:buFont typeface="Arial" panose="020B0604020202020204" pitchFamily="34" charset="0"/>
              <a:buChar char="•"/>
            </a:pPr>
            <a:r>
              <a:rPr lang="en-US" sz="1050"/>
              <a:t>Derived feature creation</a:t>
            </a:r>
          </a:p>
          <a:p>
            <a:pPr marL="171450" indent="-171450">
              <a:buFont typeface="Arial" panose="020B0604020202020204" pitchFamily="34" charset="0"/>
              <a:buChar char="•"/>
            </a:pPr>
            <a:r>
              <a:rPr lang="en-US" sz="1050"/>
              <a:t>Aggregated analytical tables preparation</a:t>
            </a:r>
          </a:p>
        </p:txBody>
      </p:sp>
      <p:sp>
        <p:nvSpPr>
          <p:cNvPr id="7" name="Google Shape;1244;p48">
            <a:extLst>
              <a:ext uri="{FF2B5EF4-FFF2-40B4-BE49-F238E27FC236}">
                <a16:creationId xmlns:a16="http://schemas.microsoft.com/office/drawing/2014/main" id="{FD2C6D7A-4B78-61F2-8464-D422EB5065D4}"/>
              </a:ext>
            </a:extLst>
          </p:cNvPr>
          <p:cNvSpPr txBox="1">
            <a:spLocks/>
          </p:cNvSpPr>
          <p:nvPr/>
        </p:nvSpPr>
        <p:spPr>
          <a:xfrm>
            <a:off x="4670503" y="3238701"/>
            <a:ext cx="3014349" cy="3004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Montserrat"/>
              <a:buNone/>
              <a:defRPr sz="2000" b="1" i="0" u="none" strike="noStrike" cap="none">
                <a:solidFill>
                  <a:schemeClr val="lt1"/>
                </a:solidFill>
                <a:latin typeface="Montserrat"/>
                <a:ea typeface="Montserrat"/>
                <a:cs typeface="Montserrat"/>
                <a:sym typeface="Montserrat"/>
              </a:defRPr>
            </a:lvl1pPr>
            <a:lvl2pPr marL="914400" marR="0" lvl="1"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2pPr>
            <a:lvl3pPr marL="1371600" marR="0" lvl="2"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3pPr>
            <a:lvl4pPr marL="1828800" marR="0" lvl="3"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4pPr>
            <a:lvl5pPr marL="2286000" marR="0" lvl="4"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5pPr>
            <a:lvl6pPr marL="2743200" marR="0" lvl="5"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6pPr>
            <a:lvl7pPr marL="3200400" marR="0" lvl="6"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7pPr>
            <a:lvl8pPr marL="3657600" marR="0" lvl="7"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8pPr>
            <a:lvl9pPr marL="4114800" marR="0" lvl="8" indent="-304800" algn="ctr" rtl="0">
              <a:lnSpc>
                <a:spcPct val="100000"/>
              </a:lnSpc>
              <a:spcBef>
                <a:spcPts val="0"/>
              </a:spcBef>
              <a:spcAft>
                <a:spcPts val="0"/>
              </a:spcAft>
              <a:buClr>
                <a:schemeClr val="dk1"/>
              </a:buClr>
              <a:buSzPts val="1200"/>
              <a:buFont typeface="Montserrat"/>
              <a:buNone/>
              <a:defRPr sz="1200" b="1" i="0" u="none" strike="noStrike" cap="none">
                <a:solidFill>
                  <a:schemeClr val="dk1"/>
                </a:solidFill>
                <a:latin typeface="Montserrat"/>
                <a:ea typeface="Montserrat"/>
                <a:cs typeface="Montserrat"/>
                <a:sym typeface="Montserrat"/>
              </a:defRPr>
            </a:lvl9pPr>
          </a:lstStyle>
          <a:p>
            <a:pPr marL="0" indent="0"/>
            <a:r>
              <a:rPr lang="en-US" sz="1600"/>
              <a:t>Data Preparation Process</a:t>
            </a:r>
          </a:p>
        </p:txBody>
      </p:sp>
    </p:spTree>
    <p:extLst>
      <p:ext uri="{BB962C8B-B14F-4D97-AF65-F5344CB8AC3E}">
        <p14:creationId xmlns:p14="http://schemas.microsoft.com/office/powerpoint/2010/main" val="1777551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40"/>
          <p:cNvSpPr txBox="1">
            <a:spLocks noGrp="1"/>
          </p:cNvSpPr>
          <p:nvPr>
            <p:ph type="title"/>
          </p:nvPr>
        </p:nvSpPr>
        <p:spPr>
          <a:xfrm>
            <a:off x="1319234" y="1734333"/>
            <a:ext cx="6091258" cy="167876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a:t>Data Analysis </a:t>
            </a:r>
            <a:br>
              <a:rPr lang="en" sz="5400"/>
            </a:br>
            <a:r>
              <a:rPr lang="en" sz="5400"/>
              <a:t>&amp; Insights</a:t>
            </a:r>
            <a:endParaRPr sz="5400"/>
          </a:p>
        </p:txBody>
      </p:sp>
      <p:grpSp>
        <p:nvGrpSpPr>
          <p:cNvPr id="1011" name="Google Shape;1011;p40"/>
          <p:cNvGrpSpPr/>
          <p:nvPr/>
        </p:nvGrpSpPr>
        <p:grpSpPr>
          <a:xfrm>
            <a:off x="-218875" y="-50400"/>
            <a:ext cx="1882500" cy="2095500"/>
            <a:chOff x="-218875" y="-50400"/>
            <a:chExt cx="1882500" cy="2095500"/>
          </a:xfrm>
        </p:grpSpPr>
        <p:sp>
          <p:nvSpPr>
            <p:cNvPr id="1012" name="Google Shape;1012;p40"/>
            <p:cNvSpPr/>
            <p:nvPr/>
          </p:nvSpPr>
          <p:spPr>
            <a:xfrm>
              <a:off x="-218875" y="8908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013" name="Google Shape;1013;p40"/>
            <p:cNvGrpSpPr/>
            <p:nvPr/>
          </p:nvGrpSpPr>
          <p:grpSpPr>
            <a:xfrm>
              <a:off x="229313" y="-50400"/>
              <a:ext cx="986125" cy="2095500"/>
              <a:chOff x="7631225" y="2241175"/>
              <a:chExt cx="986125" cy="2095500"/>
            </a:xfrm>
          </p:grpSpPr>
          <p:cxnSp>
            <p:nvCxnSpPr>
              <p:cNvPr id="1014" name="Google Shape;1014;p4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5" name="Google Shape;1015;p4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6" name="Google Shape;1016;p4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7" name="Google Shape;1017;p4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8" name="Google Shape;1018;p4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9" name="Google Shape;1019;p4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0" name="Google Shape;1020;p4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1" name="Google Shape;1021;p4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2" name="Google Shape;1022;p4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3" name="Google Shape;1023;p4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4" name="Google Shape;1024;p4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5" name="Google Shape;1025;p4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6" name="Google Shape;1026;p4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7" name="Google Shape;1027;p4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1028" name="Google Shape;1028;p40"/>
          <p:cNvGrpSpPr/>
          <p:nvPr/>
        </p:nvGrpSpPr>
        <p:grpSpPr>
          <a:xfrm>
            <a:off x="2906038" y="4336663"/>
            <a:ext cx="1885275" cy="1884250"/>
            <a:chOff x="2609275" y="3149350"/>
            <a:chExt cx="1885275" cy="1884250"/>
          </a:xfrm>
        </p:grpSpPr>
        <p:sp>
          <p:nvSpPr>
            <p:cNvPr id="1029" name="Google Shape;1029;p4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 name="Google Shape;1048;p40"/>
          <p:cNvGrpSpPr/>
          <p:nvPr/>
        </p:nvGrpSpPr>
        <p:grpSpPr>
          <a:xfrm>
            <a:off x="5274000" y="-24823"/>
            <a:ext cx="3870000" cy="1050648"/>
            <a:chOff x="5274000" y="-24823"/>
            <a:chExt cx="3870000" cy="1050648"/>
          </a:xfrm>
        </p:grpSpPr>
        <p:sp>
          <p:nvSpPr>
            <p:cNvPr id="1049" name="Google Shape;1049;p40"/>
            <p:cNvSpPr/>
            <p:nvPr/>
          </p:nvSpPr>
          <p:spPr>
            <a:xfrm rot="10800000">
              <a:off x="5952000" y="-24775"/>
              <a:ext cx="3192000" cy="1050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050" name="Google Shape;1050;p40"/>
            <p:cNvSpPr/>
            <p:nvPr/>
          </p:nvSpPr>
          <p:spPr>
            <a:xfrm rot="10800000">
              <a:off x="5274000" y="-24823"/>
              <a:ext cx="3870000" cy="5736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051" name="Google Shape;1051;p40"/>
          <p:cNvSpPr/>
          <p:nvPr/>
        </p:nvSpPr>
        <p:spPr>
          <a:xfrm flipH="1">
            <a:off x="5879725" y="4336675"/>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8E6E3D-4923-D54F-7AED-CA653AEF1C4D}"/>
              </a:ext>
            </a:extLst>
          </p:cNvPr>
          <p:cNvPicPr>
            <a:picLocks noChangeAspect="1"/>
          </p:cNvPicPr>
          <p:nvPr/>
        </p:nvPicPr>
        <p:blipFill>
          <a:blip r:embed="rId3"/>
          <a:stretch>
            <a:fillRect/>
          </a:stretch>
        </p:blipFill>
        <p:spPr>
          <a:xfrm>
            <a:off x="1" y="0"/>
            <a:ext cx="9144000" cy="5143500"/>
          </a:xfrm>
          <a:prstGeom prst="rect">
            <a:avLst/>
          </a:prstGeom>
        </p:spPr>
      </p:pic>
    </p:spTree>
    <p:extLst>
      <p:ext uri="{BB962C8B-B14F-4D97-AF65-F5344CB8AC3E}">
        <p14:creationId xmlns:p14="http://schemas.microsoft.com/office/powerpoint/2010/main" val="126757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08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a:t>Customer Acquisition &amp; Behavior Insights</a:t>
            </a:r>
            <a:endParaRPr sz="2000" b="0"/>
          </a:p>
        </p:txBody>
      </p:sp>
      <p:sp>
        <p:nvSpPr>
          <p:cNvPr id="1057" name="Google Shape;1057;p41"/>
          <p:cNvSpPr txBox="1">
            <a:spLocks noGrp="1"/>
          </p:cNvSpPr>
          <p:nvPr>
            <p:ph type="title" idx="2"/>
          </p:nvPr>
        </p:nvSpPr>
        <p:spPr>
          <a:xfrm>
            <a:off x="4027350" y="1272000"/>
            <a:ext cx="1089300"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a:t>01</a:t>
            </a:r>
            <a:endParaRPr sz="440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6763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279150"/>
            <a:ext cx="76992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400"/>
              <a:t>Customer Acquisition &amp; Behavior Insights</a:t>
            </a:r>
            <a:endParaRPr sz="2400"/>
          </a:p>
        </p:txBody>
      </p:sp>
      <p:sp>
        <p:nvSpPr>
          <p:cNvPr id="1608" name="Google Shape;1608;p66"/>
          <p:cNvSpPr txBox="1"/>
          <p:nvPr/>
        </p:nvSpPr>
        <p:spPr>
          <a:xfrm>
            <a:off x="203200" y="1466000"/>
            <a:ext cx="3765929" cy="2217000"/>
          </a:xfrm>
          <a:prstGeom prst="rect">
            <a:avLst/>
          </a:prstGeom>
          <a:noFill/>
          <a:ln>
            <a:noFill/>
          </a:ln>
        </p:spPr>
        <p:txBody>
          <a:bodyPr spcFirstLastPara="1" wrap="square" lIns="91425" tIns="91425" rIns="91425" bIns="91425" anchor="t" anchorCtr="0">
            <a:noAutofit/>
          </a:bodyPr>
          <a:lstStyle/>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Descriptive Analysis</a:t>
            </a:r>
          </a:p>
          <a:p>
            <a:pPr marL="152400" lvl="0" algn="l" rtl="0">
              <a:spcBef>
                <a:spcPts val="0"/>
              </a:spcBef>
              <a:spcAft>
                <a:spcPts val="0"/>
              </a:spcAft>
              <a:buClr>
                <a:srgbClr val="262457"/>
              </a:buClr>
              <a:buSzPts val="1200"/>
            </a:pPr>
            <a:r>
              <a:rPr lang="en-US" sz="1000">
                <a:solidFill>
                  <a:srgbClr val="262457"/>
                </a:solidFill>
                <a:latin typeface="Maven Pro"/>
                <a:ea typeface="Maven Pro"/>
                <a:cs typeface="Maven Pro"/>
                <a:sym typeface="Maven Pro"/>
              </a:rPr>
              <a:t>Mengukur customer activity, traffic contribution, dan conversion metrics pada setiap acquisition channel.</a:t>
            </a:r>
          </a:p>
          <a:p>
            <a:pPr marL="152400" lvl="0" algn="l" rtl="0">
              <a:spcBef>
                <a:spcPts val="0"/>
              </a:spcBef>
              <a:spcAft>
                <a:spcPts val="0"/>
              </a:spcAft>
              <a:buClr>
                <a:srgbClr val="262457"/>
              </a:buClr>
              <a:buSzPts val="1200"/>
            </a:pPr>
            <a:endParaRPr lang="en-US" sz="10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Exploratory Data Analysis (EDA)</a:t>
            </a:r>
            <a:r>
              <a:rPr lang="en-US" sz="1200">
                <a:solidFill>
                  <a:srgbClr val="262457"/>
                </a:solidFill>
                <a:latin typeface="Maven Pro"/>
                <a:ea typeface="Maven Pro"/>
                <a:cs typeface="Maven Pro"/>
                <a:sym typeface="Maven Pro"/>
              </a:rPr>
              <a:t> </a:t>
            </a:r>
          </a:p>
          <a:p>
            <a:pPr marL="152400" lvl="0" algn="l" rtl="0">
              <a:spcBef>
                <a:spcPts val="0"/>
              </a:spcBef>
              <a:spcAft>
                <a:spcPts val="0"/>
              </a:spcAft>
              <a:buClr>
                <a:srgbClr val="262457"/>
              </a:buClr>
              <a:buSzPts val="1200"/>
            </a:pPr>
            <a:r>
              <a:rPr lang="en-US" sz="1000">
                <a:solidFill>
                  <a:srgbClr val="262457"/>
                </a:solidFill>
                <a:latin typeface="Maven Pro"/>
                <a:ea typeface="Maven Pro"/>
                <a:cs typeface="Maven Pro"/>
                <a:sym typeface="Maven Pro"/>
              </a:rPr>
              <a:t>Mengidentifikasi pola customer behavior, engagement trend, dan distribution aktivitas customer sepanjang customer journey.</a:t>
            </a:r>
          </a:p>
          <a:p>
            <a:pPr marL="152400" lvl="0" algn="l" rtl="0">
              <a:spcBef>
                <a:spcPts val="0"/>
              </a:spcBef>
              <a:spcAft>
                <a:spcPts val="0"/>
              </a:spcAft>
              <a:buClr>
                <a:srgbClr val="262457"/>
              </a:buClr>
              <a:buSzPts val="1200"/>
            </a:pPr>
            <a:endParaRPr lang="en-US" sz="12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Comparative &amp; Trend Analysis</a:t>
            </a:r>
            <a:endParaRPr lang="en-US" sz="1200" b="1">
              <a:solidFill>
                <a:schemeClr val="dk1"/>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000">
                <a:solidFill>
                  <a:srgbClr val="262457"/>
                </a:solidFill>
                <a:latin typeface="Maven Pro"/>
                <a:ea typeface="Maven Pro"/>
                <a:cs typeface="Maven Pro"/>
                <a:sym typeface="Maven Pro"/>
              </a:rPr>
              <a:t>Membandingkan performa antar traffic source serta menganalisis pertumbuhan customer activity dari waktu ke waktu.</a:t>
            </a:r>
          </a:p>
        </p:txBody>
      </p:sp>
      <p:sp>
        <p:nvSpPr>
          <p:cNvPr id="1609" name="Google Shape;1609;p66"/>
          <p:cNvSpPr txBox="1"/>
          <p:nvPr/>
        </p:nvSpPr>
        <p:spPr>
          <a:xfrm>
            <a:off x="203200" y="986225"/>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Techniques Used</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986225"/>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Insights &amp; Findings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601518"/>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1810469"/>
            <a:ext cx="3647700" cy="4207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Maven Pro"/>
                <a:ea typeface="Maven Pro"/>
                <a:cs typeface="Maven Pro"/>
                <a:sym typeface="Maven Pro"/>
              </a:rPr>
              <a:t>Email menjadi traffic source dengan kontribusi activity terbesar.</a:t>
            </a:r>
          </a:p>
        </p:txBody>
      </p:sp>
      <p:sp>
        <p:nvSpPr>
          <p:cNvPr id="1613" name="Google Shape;1613;p66"/>
          <p:cNvSpPr txBox="1"/>
          <p:nvPr/>
        </p:nvSpPr>
        <p:spPr>
          <a:xfrm>
            <a:off x="4773696" y="1507992"/>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Email Dominates Customer Acquisition Activity</a:t>
            </a:r>
          </a:p>
        </p:txBody>
      </p:sp>
      <p:sp>
        <p:nvSpPr>
          <p:cNvPr id="1614" name="Google Shape;1614;p66"/>
          <p:cNvSpPr txBox="1"/>
          <p:nvPr/>
        </p:nvSpPr>
        <p:spPr>
          <a:xfrm>
            <a:off x="4773675" y="2643292"/>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solidFill>
                  <a:schemeClr val="dk1"/>
                </a:solidFill>
                <a:latin typeface="Maven Pro"/>
                <a:ea typeface="Maven Pro"/>
                <a:cs typeface="Maven Pro"/>
                <a:sym typeface="Maven Pro"/>
              </a:rPr>
              <a:t>Seluruh traffic source memiliki conversion performance yang homogen.</a:t>
            </a:r>
            <a:endParaRPr sz="1000">
              <a:solidFill>
                <a:schemeClr val="dk1"/>
              </a:solidFill>
              <a:latin typeface="Maven Pro"/>
              <a:ea typeface="Maven Pro"/>
              <a:cs typeface="Maven Pro"/>
              <a:sym typeface="Maven Pro"/>
            </a:endParaRPr>
          </a:p>
        </p:txBody>
      </p:sp>
      <p:sp>
        <p:nvSpPr>
          <p:cNvPr id="1615" name="Google Shape;1615;p66"/>
          <p:cNvSpPr txBox="1"/>
          <p:nvPr/>
        </p:nvSpPr>
        <p:spPr>
          <a:xfrm>
            <a:off x="4773675" y="3457967"/>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Maven Pro"/>
                <a:ea typeface="Maven Pro"/>
                <a:cs typeface="Maven Pro"/>
                <a:sym typeface="Maven Pro"/>
              </a:rPr>
              <a:t>Customer activity mengalami pertumbuhan signifikan dari tahun ke tahun.</a:t>
            </a:r>
            <a:endParaRPr sz="1000">
              <a:solidFill>
                <a:schemeClr val="dk1"/>
              </a:solidFill>
              <a:latin typeface="Maven Pro"/>
              <a:ea typeface="Maven Pro"/>
              <a:cs typeface="Maven Pro"/>
              <a:sym typeface="Maven Pro"/>
            </a:endParaRPr>
          </a:p>
        </p:txBody>
      </p:sp>
      <p:sp>
        <p:nvSpPr>
          <p:cNvPr id="1616" name="Google Shape;1616;p66"/>
          <p:cNvSpPr txBox="1"/>
          <p:nvPr/>
        </p:nvSpPr>
        <p:spPr>
          <a:xfrm>
            <a:off x="4773675" y="2322685"/>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Conversion Performance Across Channels is Relatively Similar</a:t>
            </a:r>
            <a:endParaRPr sz="1100" b="1">
              <a:solidFill>
                <a:schemeClr val="bg2">
                  <a:lumMod val="25000"/>
                </a:schemeClr>
              </a:solidFill>
              <a:latin typeface="Montserrat"/>
              <a:ea typeface="Montserrat"/>
              <a:cs typeface="Montserrat"/>
              <a:sym typeface="Montserrat"/>
            </a:endParaRPr>
          </a:p>
        </p:txBody>
      </p:sp>
      <p:sp>
        <p:nvSpPr>
          <p:cNvPr id="1617" name="Google Shape;1617;p66"/>
          <p:cNvSpPr txBox="1"/>
          <p:nvPr/>
        </p:nvSpPr>
        <p:spPr>
          <a:xfrm>
            <a:off x="4773696" y="3137360"/>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Customer Activity Shows Strong Growth Trend</a:t>
            </a:r>
            <a:endParaRPr sz="1100" b="1">
              <a:solidFill>
                <a:schemeClr val="bg2">
                  <a:lumMod val="25000"/>
                </a:schemeClr>
              </a:solidFill>
              <a:latin typeface="Montserrat"/>
              <a:ea typeface="Montserrat"/>
              <a:cs typeface="Montserrat"/>
              <a:sym typeface="Montserrat"/>
            </a:endParaRPr>
          </a:p>
        </p:txBody>
      </p:sp>
      <p:sp>
        <p:nvSpPr>
          <p:cNvPr id="1618" name="Google Shape;1618;p66"/>
          <p:cNvSpPr/>
          <p:nvPr/>
        </p:nvSpPr>
        <p:spPr>
          <a:xfrm>
            <a:off x="4295516" y="241913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3226973"/>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1905118"/>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2722735"/>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cxnSpLocks/>
            <a:stCxn id="1613" idx="1"/>
            <a:endCxn id="1611" idx="3"/>
          </p:cNvCxnSpPr>
          <p:nvPr/>
        </p:nvCxnSpPr>
        <p:spPr>
          <a:xfrm flipH="1">
            <a:off x="4599116" y="1709442"/>
            <a:ext cx="174580" cy="43876"/>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cxnSpLocks/>
            <a:stCxn id="1616" idx="1"/>
            <a:endCxn id="1618" idx="3"/>
          </p:cNvCxnSpPr>
          <p:nvPr/>
        </p:nvCxnSpPr>
        <p:spPr>
          <a:xfrm flipH="1">
            <a:off x="4599116" y="2524135"/>
            <a:ext cx="174559" cy="468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cxnSpLocks/>
            <a:stCxn id="1617" idx="1"/>
            <a:endCxn id="1619" idx="3"/>
          </p:cNvCxnSpPr>
          <p:nvPr/>
        </p:nvCxnSpPr>
        <p:spPr>
          <a:xfrm flipH="1">
            <a:off x="4599116" y="3338810"/>
            <a:ext cx="174580" cy="39963"/>
          </a:xfrm>
          <a:prstGeom prst="straightConnector1">
            <a:avLst/>
          </a:prstGeom>
          <a:noFill/>
          <a:ln w="9525" cap="flat" cmpd="sng">
            <a:solidFill>
              <a:schemeClr val="lt2"/>
            </a:solidFill>
            <a:prstDash val="solid"/>
            <a:round/>
            <a:headEnd type="none" w="med" len="med"/>
            <a:tailEnd type="none" w="med" len="med"/>
          </a:ln>
        </p:spPr>
      </p:cxnSp>
      <p:sp>
        <p:nvSpPr>
          <p:cNvPr id="2" name="Google Shape;1609;p66">
            <a:extLst>
              <a:ext uri="{FF2B5EF4-FFF2-40B4-BE49-F238E27FC236}">
                <a16:creationId xmlns:a16="http://schemas.microsoft.com/office/drawing/2014/main" id="{843B6A8A-5E37-0A46-7396-AE34DCBA6C4A}"/>
              </a:ext>
            </a:extLst>
          </p:cNvPr>
          <p:cNvSpPr txBox="1"/>
          <p:nvPr/>
        </p:nvSpPr>
        <p:spPr>
          <a:xfrm>
            <a:off x="203200" y="3768255"/>
            <a:ext cx="33274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Business Interpretation</a:t>
            </a:r>
            <a:endParaRPr sz="2000" b="1">
              <a:solidFill>
                <a:schemeClr val="lt1"/>
              </a:solidFill>
              <a:latin typeface="Montserrat"/>
              <a:ea typeface="Montserrat"/>
              <a:cs typeface="Montserrat"/>
              <a:sym typeface="Montserrat"/>
            </a:endParaRPr>
          </a:p>
        </p:txBody>
      </p:sp>
      <p:sp>
        <p:nvSpPr>
          <p:cNvPr id="3" name="Google Shape;1615;p66">
            <a:extLst>
              <a:ext uri="{FF2B5EF4-FFF2-40B4-BE49-F238E27FC236}">
                <a16:creationId xmlns:a16="http://schemas.microsoft.com/office/drawing/2014/main" id="{1E56E430-EFA6-855F-E100-F5C5B2590D3E}"/>
              </a:ext>
            </a:extLst>
          </p:cNvPr>
          <p:cNvSpPr txBox="1"/>
          <p:nvPr/>
        </p:nvSpPr>
        <p:spPr>
          <a:xfrm>
            <a:off x="203199" y="4043929"/>
            <a:ext cx="8218175"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000">
                <a:solidFill>
                  <a:schemeClr val="dk1"/>
                </a:solidFill>
                <a:latin typeface="Maven Pro"/>
                <a:ea typeface="Maven Pro"/>
                <a:cs typeface="Maven Pro"/>
                <a:sym typeface="Maven Pro"/>
              </a:rPr>
              <a:t>TheLook menunjukkan pertumbuhan customer engagement yang kuat dengan activity trend yang terus meningkat dari tahun ke tahun. Namun, bisnis masih memiliki ketergantungan acquisition yang cukup tinggi pada Email channel meskipun conversion performance antar traffic source relatif serupa.</a:t>
            </a:r>
            <a:endParaRPr sz="10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2596031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DBC78F-37E8-13C9-D101-309445CA1636}"/>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529288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08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a:t>Product &amp; Revenue Performance Insights</a:t>
            </a:r>
            <a:endParaRPr sz="2000" b="0"/>
          </a:p>
        </p:txBody>
      </p:sp>
      <p:sp>
        <p:nvSpPr>
          <p:cNvPr id="1057" name="Google Shape;1057;p41"/>
          <p:cNvSpPr txBox="1">
            <a:spLocks noGrp="1"/>
          </p:cNvSpPr>
          <p:nvPr>
            <p:ph type="title" idx="2"/>
          </p:nvPr>
        </p:nvSpPr>
        <p:spPr>
          <a:xfrm>
            <a:off x="4027350" y="1272000"/>
            <a:ext cx="1089300"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a:t>02</a:t>
            </a:r>
            <a:endParaRPr sz="440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7369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279150"/>
            <a:ext cx="76992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400"/>
              <a:t>Product &amp; Revenue Performance Insights</a:t>
            </a:r>
            <a:endParaRPr sz="2400"/>
          </a:p>
        </p:txBody>
      </p:sp>
      <p:sp>
        <p:nvSpPr>
          <p:cNvPr id="1608" name="Google Shape;1608;p66"/>
          <p:cNvSpPr txBox="1"/>
          <p:nvPr/>
        </p:nvSpPr>
        <p:spPr>
          <a:xfrm>
            <a:off x="203200" y="1466000"/>
            <a:ext cx="3765929" cy="2217000"/>
          </a:xfrm>
          <a:prstGeom prst="rect">
            <a:avLst/>
          </a:prstGeom>
          <a:noFill/>
          <a:ln>
            <a:noFill/>
          </a:ln>
        </p:spPr>
        <p:txBody>
          <a:bodyPr spcFirstLastPara="1" wrap="square" lIns="91425" tIns="91425" rIns="91425" bIns="91425" anchor="t" anchorCtr="0">
            <a:noAutofit/>
          </a:bodyPr>
          <a:lstStyle/>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Revenue Analysis</a:t>
            </a:r>
          </a:p>
          <a:p>
            <a:pPr marL="152400" lvl="0" algn="l" rtl="0">
              <a:spcBef>
                <a:spcPts val="0"/>
              </a:spcBef>
              <a:spcAft>
                <a:spcPts val="0"/>
              </a:spcAft>
              <a:buClr>
                <a:srgbClr val="262457"/>
              </a:buClr>
              <a:buSzPts val="1200"/>
            </a:pPr>
            <a:r>
              <a:rPr lang="en-US" sz="1000">
                <a:solidFill>
                  <a:srgbClr val="262457"/>
                </a:solidFill>
                <a:latin typeface="Maven Pro"/>
                <a:ea typeface="Maven Pro"/>
                <a:cs typeface="Maven Pro"/>
                <a:sym typeface="Maven Pro"/>
              </a:rPr>
              <a:t>Mengukur kontribusi revenue dan profit pada setiap product category.</a:t>
            </a:r>
          </a:p>
          <a:p>
            <a:pPr marL="152400" lvl="0" algn="l" rtl="0">
              <a:spcBef>
                <a:spcPts val="0"/>
              </a:spcBef>
              <a:spcAft>
                <a:spcPts val="0"/>
              </a:spcAft>
              <a:buClr>
                <a:srgbClr val="262457"/>
              </a:buClr>
              <a:buSzPts val="1200"/>
            </a:pPr>
            <a:endParaRPr lang="en-US" sz="10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Comparative Analysis</a:t>
            </a:r>
            <a:r>
              <a:rPr lang="en-US" sz="1200">
                <a:solidFill>
                  <a:srgbClr val="262457"/>
                </a:solidFill>
                <a:latin typeface="Maven Pro"/>
                <a:ea typeface="Maven Pro"/>
                <a:cs typeface="Maven Pro"/>
                <a:sym typeface="Maven Pro"/>
              </a:rPr>
              <a:t> </a:t>
            </a:r>
          </a:p>
          <a:p>
            <a:pPr marL="152400" lvl="0" algn="l" rtl="0">
              <a:spcBef>
                <a:spcPts val="0"/>
              </a:spcBef>
              <a:spcAft>
                <a:spcPts val="0"/>
              </a:spcAft>
              <a:buClr>
                <a:srgbClr val="262457"/>
              </a:buClr>
              <a:buSzPts val="1200"/>
            </a:pPr>
            <a:r>
              <a:rPr lang="en-US" sz="1000">
                <a:solidFill>
                  <a:srgbClr val="262457"/>
                </a:solidFill>
                <a:latin typeface="Maven Pro"/>
                <a:ea typeface="Maven Pro"/>
                <a:cs typeface="Maven Pro"/>
                <a:sym typeface="Maven Pro"/>
              </a:rPr>
              <a:t>Membandingkan performa revenue dan profitability antar kategori produk.</a:t>
            </a:r>
          </a:p>
          <a:p>
            <a:pPr marL="152400" lvl="0" algn="l" rtl="0">
              <a:spcBef>
                <a:spcPts val="0"/>
              </a:spcBef>
              <a:spcAft>
                <a:spcPts val="0"/>
              </a:spcAft>
              <a:buClr>
                <a:srgbClr val="262457"/>
              </a:buClr>
              <a:buSzPts val="1200"/>
            </a:pPr>
            <a:endParaRPr lang="en-US" sz="12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Trend &amp; Distribution Analysis</a:t>
            </a:r>
            <a:endParaRPr lang="en-US" sz="1200" b="1">
              <a:solidFill>
                <a:schemeClr val="dk1"/>
              </a:solidFill>
              <a:latin typeface="Maven Pro"/>
              <a:ea typeface="Maven Pro"/>
              <a:cs typeface="Maven Pro"/>
              <a:sym typeface="Maven Pro"/>
            </a:endParaRPr>
          </a:p>
          <a:p>
            <a:pPr marL="152400" lvl="0" algn="l" rtl="0">
              <a:spcBef>
                <a:spcPts val="0"/>
              </a:spcBef>
              <a:spcAft>
                <a:spcPts val="0"/>
              </a:spcAft>
              <a:buClr>
                <a:srgbClr val="262457"/>
              </a:buClr>
              <a:buSzPts val="1200"/>
            </a:pPr>
            <a:r>
              <a:rPr lang="it-IT" sz="1000">
                <a:solidFill>
                  <a:srgbClr val="262457"/>
                </a:solidFill>
                <a:latin typeface="Maven Pro"/>
                <a:ea typeface="Maven Pro"/>
                <a:cs typeface="Maven Pro"/>
                <a:sym typeface="Maven Pro"/>
              </a:rPr>
              <a:t>Mengidentifikasi distribusi performa produk serta pola pertumbuhan revenue.</a:t>
            </a:r>
          </a:p>
          <a:p>
            <a:pPr marL="152400" lvl="0" algn="l" rtl="0">
              <a:spcBef>
                <a:spcPts val="0"/>
              </a:spcBef>
              <a:spcAft>
                <a:spcPts val="0"/>
              </a:spcAft>
              <a:buClr>
                <a:srgbClr val="262457"/>
              </a:buClr>
              <a:buSzPts val="1200"/>
            </a:pPr>
            <a:endParaRPr lang="en-US" sz="1000">
              <a:solidFill>
                <a:srgbClr val="262457"/>
              </a:solidFill>
              <a:latin typeface="Maven Pro"/>
              <a:ea typeface="Maven Pro"/>
              <a:cs typeface="Maven Pro"/>
              <a:sym typeface="Maven Pro"/>
            </a:endParaRPr>
          </a:p>
        </p:txBody>
      </p:sp>
      <p:sp>
        <p:nvSpPr>
          <p:cNvPr id="1609" name="Google Shape;1609;p66"/>
          <p:cNvSpPr txBox="1"/>
          <p:nvPr/>
        </p:nvSpPr>
        <p:spPr>
          <a:xfrm>
            <a:off x="203200" y="986225"/>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Techniques Used</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986225"/>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Insights &amp; Findings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601518"/>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1810469"/>
            <a:ext cx="3647700" cy="4207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Maven Pro"/>
                <a:ea typeface="Maven Pro"/>
                <a:cs typeface="Maven Pro"/>
                <a:sym typeface="Maven Pro"/>
              </a:rPr>
              <a:t>Outerwear &amp; Coats serta Jeans menjadi kategori dengan kontribusi revenue terbesar.</a:t>
            </a:r>
          </a:p>
        </p:txBody>
      </p:sp>
      <p:sp>
        <p:nvSpPr>
          <p:cNvPr id="1613" name="Google Shape;1613;p66"/>
          <p:cNvSpPr txBox="1"/>
          <p:nvPr/>
        </p:nvSpPr>
        <p:spPr>
          <a:xfrm>
            <a:off x="4773696" y="1507992"/>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Revenue is Highly Concentrated in Several Categories</a:t>
            </a:r>
          </a:p>
        </p:txBody>
      </p:sp>
      <p:sp>
        <p:nvSpPr>
          <p:cNvPr id="1614" name="Google Shape;1614;p66"/>
          <p:cNvSpPr txBox="1"/>
          <p:nvPr/>
        </p:nvSpPr>
        <p:spPr>
          <a:xfrm>
            <a:off x="4773675" y="2643292"/>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solidFill>
                  <a:schemeClr val="dk1"/>
                </a:solidFill>
                <a:latin typeface="Maven Pro"/>
                <a:ea typeface="Maven Pro"/>
                <a:cs typeface="Maven Pro"/>
                <a:sym typeface="Maven Pro"/>
              </a:rPr>
              <a:t>Beberapa kategori dengan revenue tinggi tidak selalu memiliki profit margin tertinggi.</a:t>
            </a:r>
            <a:endParaRPr sz="1000">
              <a:solidFill>
                <a:schemeClr val="dk1"/>
              </a:solidFill>
              <a:latin typeface="Maven Pro"/>
              <a:ea typeface="Maven Pro"/>
              <a:cs typeface="Maven Pro"/>
              <a:sym typeface="Maven Pro"/>
            </a:endParaRPr>
          </a:p>
        </p:txBody>
      </p:sp>
      <p:sp>
        <p:nvSpPr>
          <p:cNvPr id="1615" name="Google Shape;1615;p66"/>
          <p:cNvSpPr txBox="1"/>
          <p:nvPr/>
        </p:nvSpPr>
        <p:spPr>
          <a:xfrm>
            <a:off x="4773675" y="3457967"/>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Maven Pro"/>
                <a:ea typeface="Maven Pro"/>
                <a:cs typeface="Maven Pro"/>
                <a:sym typeface="Maven Pro"/>
              </a:rPr>
              <a:t>Monthly revenue menunjukkan pertumbuhan signifikan terutama sepanjang 2023 hingga awal 2024.</a:t>
            </a:r>
            <a:endParaRPr sz="1000">
              <a:solidFill>
                <a:schemeClr val="dk1"/>
              </a:solidFill>
              <a:latin typeface="Maven Pro"/>
              <a:ea typeface="Maven Pro"/>
              <a:cs typeface="Maven Pro"/>
              <a:sym typeface="Maven Pro"/>
            </a:endParaRPr>
          </a:p>
        </p:txBody>
      </p:sp>
      <p:sp>
        <p:nvSpPr>
          <p:cNvPr id="1616" name="Google Shape;1616;p66"/>
          <p:cNvSpPr txBox="1"/>
          <p:nvPr/>
        </p:nvSpPr>
        <p:spPr>
          <a:xfrm>
            <a:off x="4773675" y="2322685"/>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High Revenue Does Not Always Indicate Highest Profitability</a:t>
            </a:r>
            <a:endParaRPr sz="1100" b="1">
              <a:solidFill>
                <a:schemeClr val="bg2">
                  <a:lumMod val="25000"/>
                </a:schemeClr>
              </a:solidFill>
              <a:latin typeface="Montserrat"/>
              <a:ea typeface="Montserrat"/>
              <a:cs typeface="Montserrat"/>
              <a:sym typeface="Montserrat"/>
            </a:endParaRPr>
          </a:p>
        </p:txBody>
      </p:sp>
      <p:sp>
        <p:nvSpPr>
          <p:cNvPr id="1617" name="Google Shape;1617;p66"/>
          <p:cNvSpPr txBox="1"/>
          <p:nvPr/>
        </p:nvSpPr>
        <p:spPr>
          <a:xfrm>
            <a:off x="4773696" y="3137360"/>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Overall Revenue Shows Strong Upward Trend</a:t>
            </a:r>
            <a:endParaRPr sz="1100" b="1">
              <a:solidFill>
                <a:schemeClr val="bg2">
                  <a:lumMod val="25000"/>
                </a:schemeClr>
              </a:solidFill>
              <a:latin typeface="Montserrat"/>
              <a:ea typeface="Montserrat"/>
              <a:cs typeface="Montserrat"/>
              <a:sym typeface="Montserrat"/>
            </a:endParaRPr>
          </a:p>
        </p:txBody>
      </p:sp>
      <p:sp>
        <p:nvSpPr>
          <p:cNvPr id="1618" name="Google Shape;1618;p66"/>
          <p:cNvSpPr/>
          <p:nvPr/>
        </p:nvSpPr>
        <p:spPr>
          <a:xfrm>
            <a:off x="4295516" y="241913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3226973"/>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1905118"/>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2722735"/>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cxnSpLocks/>
            <a:stCxn id="1613" idx="1"/>
            <a:endCxn id="1611" idx="3"/>
          </p:cNvCxnSpPr>
          <p:nvPr/>
        </p:nvCxnSpPr>
        <p:spPr>
          <a:xfrm flipH="1">
            <a:off x="4599116" y="1709442"/>
            <a:ext cx="174580" cy="43876"/>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cxnSpLocks/>
            <a:stCxn id="1616" idx="1"/>
            <a:endCxn id="1618" idx="3"/>
          </p:cNvCxnSpPr>
          <p:nvPr/>
        </p:nvCxnSpPr>
        <p:spPr>
          <a:xfrm flipH="1">
            <a:off x="4599116" y="2524135"/>
            <a:ext cx="174559" cy="468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cxnSpLocks/>
            <a:stCxn id="1617" idx="1"/>
            <a:endCxn id="1619" idx="3"/>
          </p:cNvCxnSpPr>
          <p:nvPr/>
        </p:nvCxnSpPr>
        <p:spPr>
          <a:xfrm flipH="1">
            <a:off x="4599116" y="3338810"/>
            <a:ext cx="174580" cy="39963"/>
          </a:xfrm>
          <a:prstGeom prst="straightConnector1">
            <a:avLst/>
          </a:prstGeom>
          <a:noFill/>
          <a:ln w="9525" cap="flat" cmpd="sng">
            <a:solidFill>
              <a:schemeClr val="lt2"/>
            </a:solidFill>
            <a:prstDash val="solid"/>
            <a:round/>
            <a:headEnd type="none" w="med" len="med"/>
            <a:tailEnd type="none" w="med" len="med"/>
          </a:ln>
        </p:spPr>
      </p:cxnSp>
      <p:sp>
        <p:nvSpPr>
          <p:cNvPr id="2" name="Google Shape;1609;p66">
            <a:extLst>
              <a:ext uri="{FF2B5EF4-FFF2-40B4-BE49-F238E27FC236}">
                <a16:creationId xmlns:a16="http://schemas.microsoft.com/office/drawing/2014/main" id="{843B6A8A-5E37-0A46-7396-AE34DCBA6C4A}"/>
              </a:ext>
            </a:extLst>
          </p:cNvPr>
          <p:cNvSpPr txBox="1"/>
          <p:nvPr/>
        </p:nvSpPr>
        <p:spPr>
          <a:xfrm>
            <a:off x="203200" y="3768255"/>
            <a:ext cx="33274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Business Interpretation</a:t>
            </a:r>
            <a:endParaRPr sz="2000" b="1">
              <a:solidFill>
                <a:schemeClr val="lt1"/>
              </a:solidFill>
              <a:latin typeface="Montserrat"/>
              <a:ea typeface="Montserrat"/>
              <a:cs typeface="Montserrat"/>
              <a:sym typeface="Montserrat"/>
            </a:endParaRPr>
          </a:p>
        </p:txBody>
      </p:sp>
      <p:sp>
        <p:nvSpPr>
          <p:cNvPr id="3" name="Google Shape;1615;p66">
            <a:extLst>
              <a:ext uri="{FF2B5EF4-FFF2-40B4-BE49-F238E27FC236}">
                <a16:creationId xmlns:a16="http://schemas.microsoft.com/office/drawing/2014/main" id="{1E56E430-EFA6-855F-E100-F5C5B2590D3E}"/>
              </a:ext>
            </a:extLst>
          </p:cNvPr>
          <p:cNvSpPr txBox="1"/>
          <p:nvPr/>
        </p:nvSpPr>
        <p:spPr>
          <a:xfrm>
            <a:off x="203199" y="4043929"/>
            <a:ext cx="8218175"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000">
                <a:solidFill>
                  <a:schemeClr val="dk1"/>
                </a:solidFill>
                <a:latin typeface="Maven Pro"/>
                <a:ea typeface="Maven Pro"/>
                <a:cs typeface="Maven Pro"/>
                <a:sym typeface="Maven Pro"/>
              </a:rPr>
              <a:t>TheLook menunjukkan pertumbuhan revenue yang kuat dengan kontribusi terbesar berasal dari beberapa kategori utama seperti Outerwear &amp; Coats dan Jeans. Namun, analisis profitability menunjukkan bahwa kategori dengan revenue tinggi tidak selalu memiliki profit margin tertinggi, sehingga evaluasi performa bisnis perlu mempertimbangkan revenue dan profitability secara bersamaan.</a:t>
            </a:r>
            <a:endParaRPr sz="10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3748343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2DB6EC-3BB1-94CE-7AC8-7E01FC7DB2B4}"/>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4217956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016855" y="2349348"/>
            <a:ext cx="5104311" cy="108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a:t>Fulfillment &amp; Operational Performance Insights</a:t>
            </a:r>
            <a:endParaRPr lang="en-US" sz="2000" b="0"/>
          </a:p>
        </p:txBody>
      </p:sp>
      <p:sp>
        <p:nvSpPr>
          <p:cNvPr id="1057" name="Google Shape;1057;p41"/>
          <p:cNvSpPr txBox="1">
            <a:spLocks noGrp="1"/>
          </p:cNvSpPr>
          <p:nvPr>
            <p:ph type="title" idx="2"/>
          </p:nvPr>
        </p:nvSpPr>
        <p:spPr>
          <a:xfrm>
            <a:off x="4027350" y="1272000"/>
            <a:ext cx="1089300"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a:t>03</a:t>
            </a:r>
            <a:endParaRPr sz="440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7623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279150"/>
            <a:ext cx="76992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200"/>
              <a:t>Fulfillment &amp; Operational Performance Insights</a:t>
            </a:r>
            <a:endParaRPr sz="2200"/>
          </a:p>
        </p:txBody>
      </p:sp>
      <p:sp>
        <p:nvSpPr>
          <p:cNvPr id="1608" name="Google Shape;1608;p66"/>
          <p:cNvSpPr txBox="1"/>
          <p:nvPr/>
        </p:nvSpPr>
        <p:spPr>
          <a:xfrm>
            <a:off x="203200" y="1466000"/>
            <a:ext cx="3765929" cy="2217000"/>
          </a:xfrm>
          <a:prstGeom prst="rect">
            <a:avLst/>
          </a:prstGeom>
          <a:noFill/>
          <a:ln>
            <a:noFill/>
          </a:ln>
        </p:spPr>
        <p:txBody>
          <a:bodyPr spcFirstLastPara="1" wrap="square" lIns="91425" tIns="91425" rIns="91425" bIns="91425" anchor="t" anchorCtr="0">
            <a:noAutofit/>
          </a:bodyPr>
          <a:lstStyle/>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Operational Performance Analysis</a:t>
            </a:r>
          </a:p>
          <a:p>
            <a:pPr marL="152400" lvl="0" algn="l" rtl="0">
              <a:spcBef>
                <a:spcPts val="0"/>
              </a:spcBef>
              <a:spcAft>
                <a:spcPts val="0"/>
              </a:spcAft>
              <a:buClr>
                <a:srgbClr val="262457"/>
              </a:buClr>
              <a:buSzPts val="1200"/>
            </a:pPr>
            <a:r>
              <a:rPr lang="en-US" sz="1000">
                <a:solidFill>
                  <a:srgbClr val="262457"/>
                </a:solidFill>
                <a:latin typeface="Maven Pro"/>
                <a:ea typeface="Maven Pro"/>
                <a:cs typeface="Maven Pro"/>
                <a:sym typeface="Maven Pro"/>
              </a:rPr>
              <a:t>Mengukur fulfillment duration dan performa delivery process dari waktu ke waktu.</a:t>
            </a:r>
          </a:p>
          <a:p>
            <a:pPr marL="152400" lvl="0" algn="l" rtl="0">
              <a:spcBef>
                <a:spcPts val="0"/>
              </a:spcBef>
              <a:spcAft>
                <a:spcPts val="0"/>
              </a:spcAft>
              <a:buClr>
                <a:srgbClr val="262457"/>
              </a:buClr>
              <a:buSzPts val="1200"/>
            </a:pPr>
            <a:endParaRPr lang="en-US" sz="10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Trend Analysis</a:t>
            </a:r>
            <a:endParaRPr lang="en-US" sz="12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nn-NO" sz="1000">
                <a:solidFill>
                  <a:srgbClr val="262457"/>
                </a:solidFill>
                <a:latin typeface="Maven Pro"/>
                <a:ea typeface="Maven Pro"/>
                <a:cs typeface="Maven Pro"/>
                <a:sym typeface="Maven Pro"/>
              </a:rPr>
              <a:t>Menganalisis kestabilan fulfillment trend sepanjang periode analisis.</a:t>
            </a:r>
          </a:p>
          <a:p>
            <a:pPr marL="152400" lvl="0" algn="l" rtl="0">
              <a:spcBef>
                <a:spcPts val="0"/>
              </a:spcBef>
              <a:spcAft>
                <a:spcPts val="0"/>
              </a:spcAft>
              <a:buClr>
                <a:srgbClr val="262457"/>
              </a:buClr>
              <a:buSzPts val="1200"/>
            </a:pPr>
            <a:endParaRPr lang="en-US" sz="12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Efficiency Evaluation</a:t>
            </a:r>
          </a:p>
          <a:p>
            <a:pPr marL="152400" lvl="0" algn="l" rtl="0">
              <a:spcBef>
                <a:spcPts val="0"/>
              </a:spcBef>
              <a:spcAft>
                <a:spcPts val="0"/>
              </a:spcAft>
              <a:buClr>
                <a:srgbClr val="262457"/>
              </a:buClr>
              <a:buSzPts val="1200"/>
            </a:pPr>
            <a:r>
              <a:rPr lang="it-IT" sz="1000">
                <a:solidFill>
                  <a:srgbClr val="262457"/>
                </a:solidFill>
                <a:latin typeface="Maven Pro"/>
                <a:ea typeface="Maven Pro"/>
                <a:cs typeface="Maven Pro"/>
                <a:sym typeface="Maven Pro"/>
              </a:rPr>
              <a:t>Mengevaluasi konsistensi operational flow terhadap pertumbuhan business activity.</a:t>
            </a:r>
            <a:endParaRPr lang="en-US" sz="1000">
              <a:solidFill>
                <a:srgbClr val="262457"/>
              </a:solidFill>
              <a:latin typeface="Maven Pro"/>
              <a:ea typeface="Maven Pro"/>
              <a:cs typeface="Maven Pro"/>
              <a:sym typeface="Maven Pro"/>
            </a:endParaRPr>
          </a:p>
        </p:txBody>
      </p:sp>
      <p:sp>
        <p:nvSpPr>
          <p:cNvPr id="1609" name="Google Shape;1609;p66"/>
          <p:cNvSpPr txBox="1"/>
          <p:nvPr/>
        </p:nvSpPr>
        <p:spPr>
          <a:xfrm>
            <a:off x="203200" y="986225"/>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Techniques Used</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986225"/>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Insights &amp; Findings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601518"/>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1810469"/>
            <a:ext cx="3647700" cy="4207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sv-SE" sz="1000">
                <a:solidFill>
                  <a:schemeClr val="dk1"/>
                </a:solidFill>
                <a:latin typeface="Maven Pro"/>
                <a:ea typeface="Maven Pro"/>
                <a:cs typeface="Maven Pro"/>
                <a:sym typeface="Maven Pro"/>
              </a:rPr>
              <a:t>Average fulfillment duration berada di sekitar 3 hari sepanjang periode analisis.</a:t>
            </a:r>
            <a:endParaRPr lang="en-US" sz="1000">
              <a:solidFill>
                <a:schemeClr val="dk1"/>
              </a:solidFill>
              <a:latin typeface="Maven Pro"/>
              <a:ea typeface="Maven Pro"/>
              <a:cs typeface="Maven Pro"/>
              <a:sym typeface="Maven Pro"/>
            </a:endParaRPr>
          </a:p>
        </p:txBody>
      </p:sp>
      <p:sp>
        <p:nvSpPr>
          <p:cNvPr id="1613" name="Google Shape;1613;p66"/>
          <p:cNvSpPr txBox="1"/>
          <p:nvPr/>
        </p:nvSpPr>
        <p:spPr>
          <a:xfrm>
            <a:off x="4773696" y="1507992"/>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Fulfillment Duration Remains Relatively Stable</a:t>
            </a:r>
          </a:p>
        </p:txBody>
      </p:sp>
      <p:sp>
        <p:nvSpPr>
          <p:cNvPr id="1614" name="Google Shape;1614;p66"/>
          <p:cNvSpPr txBox="1"/>
          <p:nvPr/>
        </p:nvSpPr>
        <p:spPr>
          <a:xfrm>
            <a:off x="4773675" y="2643292"/>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solidFill>
                  <a:schemeClr val="dk1"/>
                </a:solidFill>
                <a:latin typeface="Maven Pro"/>
                <a:ea typeface="Maven Pro"/>
                <a:cs typeface="Maven Pro"/>
                <a:sym typeface="Maven Pro"/>
              </a:rPr>
              <a:t>Tidak terdapat lonjakan fulfillment delay yang signifikan dari waktu ke waktu.</a:t>
            </a:r>
            <a:endParaRPr sz="1000">
              <a:solidFill>
                <a:schemeClr val="dk1"/>
              </a:solidFill>
              <a:latin typeface="Maven Pro"/>
              <a:ea typeface="Maven Pro"/>
              <a:cs typeface="Maven Pro"/>
              <a:sym typeface="Maven Pro"/>
            </a:endParaRPr>
          </a:p>
        </p:txBody>
      </p:sp>
      <p:sp>
        <p:nvSpPr>
          <p:cNvPr id="1615" name="Google Shape;1615;p66"/>
          <p:cNvSpPr txBox="1"/>
          <p:nvPr/>
        </p:nvSpPr>
        <p:spPr>
          <a:xfrm>
            <a:off x="4773675" y="3457967"/>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Maven Pro"/>
                <a:ea typeface="Maven Pro"/>
                <a:cs typeface="Maven Pro"/>
                <a:sym typeface="Maven Pro"/>
              </a:rPr>
              <a:t>Peningkatan customer activity dan revenue belum menyebabkan penurunan operational performance.</a:t>
            </a:r>
            <a:endParaRPr sz="1000">
              <a:solidFill>
                <a:schemeClr val="dk1"/>
              </a:solidFill>
              <a:latin typeface="Maven Pro"/>
              <a:ea typeface="Maven Pro"/>
              <a:cs typeface="Maven Pro"/>
              <a:sym typeface="Maven Pro"/>
            </a:endParaRPr>
          </a:p>
        </p:txBody>
      </p:sp>
      <p:sp>
        <p:nvSpPr>
          <p:cNvPr id="1616" name="Google Shape;1616;p66"/>
          <p:cNvSpPr txBox="1"/>
          <p:nvPr/>
        </p:nvSpPr>
        <p:spPr>
          <a:xfrm>
            <a:off x="4773675" y="2322685"/>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Operational Performance Shows Consistent Stability</a:t>
            </a:r>
            <a:endParaRPr sz="1100" b="1">
              <a:solidFill>
                <a:schemeClr val="bg2">
                  <a:lumMod val="25000"/>
                </a:schemeClr>
              </a:solidFill>
              <a:latin typeface="Montserrat"/>
              <a:ea typeface="Montserrat"/>
              <a:cs typeface="Montserrat"/>
              <a:sym typeface="Montserrat"/>
            </a:endParaRPr>
          </a:p>
        </p:txBody>
      </p:sp>
      <p:sp>
        <p:nvSpPr>
          <p:cNvPr id="1617" name="Google Shape;1617;p66"/>
          <p:cNvSpPr txBox="1"/>
          <p:nvPr/>
        </p:nvSpPr>
        <p:spPr>
          <a:xfrm>
            <a:off x="4773696" y="3137360"/>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Business Growth Does Not Significantly Impact Fulfillment Efficiency</a:t>
            </a:r>
            <a:endParaRPr sz="1100" b="1">
              <a:solidFill>
                <a:schemeClr val="bg2">
                  <a:lumMod val="25000"/>
                </a:schemeClr>
              </a:solidFill>
              <a:latin typeface="Montserrat"/>
              <a:ea typeface="Montserrat"/>
              <a:cs typeface="Montserrat"/>
              <a:sym typeface="Montserrat"/>
            </a:endParaRPr>
          </a:p>
        </p:txBody>
      </p:sp>
      <p:sp>
        <p:nvSpPr>
          <p:cNvPr id="1618" name="Google Shape;1618;p66"/>
          <p:cNvSpPr/>
          <p:nvPr/>
        </p:nvSpPr>
        <p:spPr>
          <a:xfrm>
            <a:off x="4295516" y="241913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3226973"/>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1905118"/>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2722735"/>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cxnSpLocks/>
            <a:stCxn id="1613" idx="1"/>
            <a:endCxn id="1611" idx="3"/>
          </p:cNvCxnSpPr>
          <p:nvPr/>
        </p:nvCxnSpPr>
        <p:spPr>
          <a:xfrm flipH="1">
            <a:off x="4599116" y="1709442"/>
            <a:ext cx="174580" cy="43876"/>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cxnSpLocks/>
            <a:stCxn id="1616" idx="1"/>
            <a:endCxn id="1618" idx="3"/>
          </p:cNvCxnSpPr>
          <p:nvPr/>
        </p:nvCxnSpPr>
        <p:spPr>
          <a:xfrm flipH="1">
            <a:off x="4599116" y="2524135"/>
            <a:ext cx="174559" cy="468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cxnSpLocks/>
            <a:stCxn id="1617" idx="1"/>
            <a:endCxn id="1619" idx="3"/>
          </p:cNvCxnSpPr>
          <p:nvPr/>
        </p:nvCxnSpPr>
        <p:spPr>
          <a:xfrm flipH="1">
            <a:off x="4599116" y="3338810"/>
            <a:ext cx="174580" cy="39963"/>
          </a:xfrm>
          <a:prstGeom prst="straightConnector1">
            <a:avLst/>
          </a:prstGeom>
          <a:noFill/>
          <a:ln w="9525" cap="flat" cmpd="sng">
            <a:solidFill>
              <a:schemeClr val="lt2"/>
            </a:solidFill>
            <a:prstDash val="solid"/>
            <a:round/>
            <a:headEnd type="none" w="med" len="med"/>
            <a:tailEnd type="none" w="med" len="med"/>
          </a:ln>
        </p:spPr>
      </p:cxnSp>
      <p:sp>
        <p:nvSpPr>
          <p:cNvPr id="2" name="Google Shape;1609;p66">
            <a:extLst>
              <a:ext uri="{FF2B5EF4-FFF2-40B4-BE49-F238E27FC236}">
                <a16:creationId xmlns:a16="http://schemas.microsoft.com/office/drawing/2014/main" id="{843B6A8A-5E37-0A46-7396-AE34DCBA6C4A}"/>
              </a:ext>
            </a:extLst>
          </p:cNvPr>
          <p:cNvSpPr txBox="1"/>
          <p:nvPr/>
        </p:nvSpPr>
        <p:spPr>
          <a:xfrm>
            <a:off x="203200" y="3768255"/>
            <a:ext cx="33274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Business Interpretation</a:t>
            </a:r>
            <a:endParaRPr sz="2000" b="1">
              <a:solidFill>
                <a:schemeClr val="lt1"/>
              </a:solidFill>
              <a:latin typeface="Montserrat"/>
              <a:ea typeface="Montserrat"/>
              <a:cs typeface="Montserrat"/>
              <a:sym typeface="Montserrat"/>
            </a:endParaRPr>
          </a:p>
        </p:txBody>
      </p:sp>
      <p:sp>
        <p:nvSpPr>
          <p:cNvPr id="3" name="Google Shape;1615;p66">
            <a:extLst>
              <a:ext uri="{FF2B5EF4-FFF2-40B4-BE49-F238E27FC236}">
                <a16:creationId xmlns:a16="http://schemas.microsoft.com/office/drawing/2014/main" id="{1E56E430-EFA6-855F-E100-F5C5B2590D3E}"/>
              </a:ext>
            </a:extLst>
          </p:cNvPr>
          <p:cNvSpPr txBox="1"/>
          <p:nvPr/>
        </p:nvSpPr>
        <p:spPr>
          <a:xfrm>
            <a:off x="203199" y="4043929"/>
            <a:ext cx="8218175"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000">
                <a:solidFill>
                  <a:schemeClr val="dk1"/>
                </a:solidFill>
                <a:latin typeface="Maven Pro"/>
                <a:ea typeface="Maven Pro"/>
                <a:cs typeface="Maven Pro"/>
                <a:sym typeface="Maven Pro"/>
              </a:rPr>
              <a:t>TheLook menunjukkan operational performance yang relatif stabil dan scalable. Meskipun customer activity dan revenue mengalami pertumbuhan yang signifikan, fulfillment efficiency tetap terjaga secara konsisten sepanjang periode analisis.</a:t>
            </a:r>
            <a:endParaRPr sz="10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3043725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08D0D8-CF42-BC91-C864-3DF2BC032992}"/>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815880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08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a:t>Returns &amp; Revenue Leakage Insights</a:t>
            </a:r>
            <a:endParaRPr sz="2000" b="0"/>
          </a:p>
        </p:txBody>
      </p:sp>
      <p:sp>
        <p:nvSpPr>
          <p:cNvPr id="1057" name="Google Shape;1057;p41"/>
          <p:cNvSpPr txBox="1">
            <a:spLocks noGrp="1"/>
          </p:cNvSpPr>
          <p:nvPr>
            <p:ph type="title" idx="2"/>
          </p:nvPr>
        </p:nvSpPr>
        <p:spPr>
          <a:xfrm>
            <a:off x="4027350" y="1272000"/>
            <a:ext cx="1089300"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a:t>04</a:t>
            </a:r>
            <a:endParaRPr sz="440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1603450" y="1231038"/>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591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279150"/>
            <a:ext cx="76992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400"/>
              <a:t>Returns &amp; Revenue Leakage Insights</a:t>
            </a:r>
          </a:p>
        </p:txBody>
      </p:sp>
      <p:sp>
        <p:nvSpPr>
          <p:cNvPr id="1608" name="Google Shape;1608;p66"/>
          <p:cNvSpPr txBox="1"/>
          <p:nvPr/>
        </p:nvSpPr>
        <p:spPr>
          <a:xfrm>
            <a:off x="203200" y="1466000"/>
            <a:ext cx="3765929" cy="2217000"/>
          </a:xfrm>
          <a:prstGeom prst="rect">
            <a:avLst/>
          </a:prstGeom>
          <a:noFill/>
          <a:ln>
            <a:noFill/>
          </a:ln>
        </p:spPr>
        <p:txBody>
          <a:bodyPr spcFirstLastPara="1" wrap="square" lIns="91425" tIns="91425" rIns="91425" bIns="91425" anchor="t" anchorCtr="0">
            <a:noAutofit/>
          </a:bodyPr>
          <a:lstStyle/>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Return Rate Analysis</a:t>
            </a:r>
          </a:p>
          <a:p>
            <a:pPr marL="152400" lvl="0" algn="l" rtl="0">
              <a:spcBef>
                <a:spcPts val="0"/>
              </a:spcBef>
              <a:spcAft>
                <a:spcPts val="0"/>
              </a:spcAft>
              <a:buClr>
                <a:srgbClr val="262457"/>
              </a:buClr>
              <a:buSzPts val="1200"/>
            </a:pPr>
            <a:r>
              <a:rPr lang="en-US" sz="1000">
                <a:solidFill>
                  <a:srgbClr val="262457"/>
                </a:solidFill>
                <a:latin typeface="Maven Pro"/>
                <a:ea typeface="Maven Pro"/>
                <a:cs typeface="Maven Pro"/>
                <a:sym typeface="Maven Pro"/>
              </a:rPr>
              <a:t>Mengukur tingkat product return dan returned revenue sepanjang periode analisis.</a:t>
            </a:r>
          </a:p>
          <a:p>
            <a:pPr marL="152400" lvl="0" algn="l" rtl="0">
              <a:spcBef>
                <a:spcPts val="0"/>
              </a:spcBef>
              <a:spcAft>
                <a:spcPts val="0"/>
              </a:spcAft>
              <a:buClr>
                <a:srgbClr val="262457"/>
              </a:buClr>
              <a:buSzPts val="1200"/>
            </a:pPr>
            <a:endParaRPr lang="en-US" sz="10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Revenue Leakage Analysis</a:t>
            </a:r>
            <a:endParaRPr lang="en-US" sz="12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000">
                <a:solidFill>
                  <a:srgbClr val="262457"/>
                </a:solidFill>
                <a:latin typeface="Maven Pro"/>
                <a:ea typeface="Maven Pro"/>
                <a:cs typeface="Maven Pro"/>
                <a:sym typeface="Maven Pro"/>
              </a:rPr>
              <a:t>Menganalisis dampak financial leakage akibat product returns terhadap bisnis.</a:t>
            </a:r>
          </a:p>
          <a:p>
            <a:pPr marL="152400" lvl="0" algn="l" rtl="0">
              <a:spcBef>
                <a:spcPts val="0"/>
              </a:spcBef>
              <a:spcAft>
                <a:spcPts val="0"/>
              </a:spcAft>
              <a:buClr>
                <a:srgbClr val="262457"/>
              </a:buClr>
              <a:buSzPts val="1200"/>
            </a:pPr>
            <a:endParaRPr lang="en-US" sz="12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200" b="1">
                <a:solidFill>
                  <a:srgbClr val="262457"/>
                </a:solidFill>
                <a:latin typeface="Maven Pro"/>
                <a:ea typeface="Maven Pro"/>
                <a:cs typeface="Maven Pro"/>
                <a:sym typeface="Maven Pro"/>
              </a:rPr>
              <a:t>Comparative Category Analysis</a:t>
            </a:r>
          </a:p>
          <a:p>
            <a:pPr marL="152400" lvl="0" algn="l" rtl="0">
              <a:spcBef>
                <a:spcPts val="0"/>
              </a:spcBef>
              <a:spcAft>
                <a:spcPts val="0"/>
              </a:spcAft>
              <a:buClr>
                <a:srgbClr val="262457"/>
              </a:buClr>
              <a:buSzPts val="1200"/>
            </a:pPr>
            <a:r>
              <a:rPr lang="nn-NO" sz="1000">
                <a:solidFill>
                  <a:srgbClr val="262457"/>
                </a:solidFill>
                <a:latin typeface="Maven Pro"/>
                <a:ea typeface="Maven Pro"/>
                <a:cs typeface="Maven Pro"/>
                <a:sym typeface="Maven Pro"/>
              </a:rPr>
              <a:t>Membandingkan kontribusi leakage antar kategori produk.</a:t>
            </a:r>
          </a:p>
          <a:p>
            <a:pPr marL="152400" lvl="0" algn="l" rtl="0">
              <a:spcBef>
                <a:spcPts val="0"/>
              </a:spcBef>
              <a:spcAft>
                <a:spcPts val="0"/>
              </a:spcAft>
              <a:buClr>
                <a:srgbClr val="262457"/>
              </a:buClr>
              <a:buSzPts val="1200"/>
            </a:pPr>
            <a:endParaRPr lang="en-US" sz="1000">
              <a:solidFill>
                <a:srgbClr val="262457"/>
              </a:solidFill>
              <a:latin typeface="Maven Pro"/>
              <a:ea typeface="Maven Pro"/>
              <a:cs typeface="Maven Pro"/>
              <a:sym typeface="Maven Pro"/>
            </a:endParaRPr>
          </a:p>
        </p:txBody>
      </p:sp>
      <p:sp>
        <p:nvSpPr>
          <p:cNvPr id="1609" name="Google Shape;1609;p66"/>
          <p:cNvSpPr txBox="1"/>
          <p:nvPr/>
        </p:nvSpPr>
        <p:spPr>
          <a:xfrm>
            <a:off x="203200" y="986225"/>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Techniques Used</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986225"/>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Insights &amp; Findings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601518"/>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1810469"/>
            <a:ext cx="3647700" cy="4207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Maven Pro"/>
                <a:ea typeface="Maven Pro"/>
                <a:cs typeface="Maven Pro"/>
                <a:sym typeface="Maven Pro"/>
              </a:rPr>
              <a:t>Return rate berada pada level yang cukup tinggi dan stabil sepanjang periode analisis.</a:t>
            </a:r>
          </a:p>
        </p:txBody>
      </p:sp>
      <p:sp>
        <p:nvSpPr>
          <p:cNvPr id="1613" name="Google Shape;1613;p66"/>
          <p:cNvSpPr txBox="1"/>
          <p:nvPr/>
        </p:nvSpPr>
        <p:spPr>
          <a:xfrm>
            <a:off x="4773696" y="1507992"/>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Return Rate Remains Relatively High Over Time</a:t>
            </a:r>
          </a:p>
        </p:txBody>
      </p:sp>
      <p:sp>
        <p:nvSpPr>
          <p:cNvPr id="1614" name="Google Shape;1614;p66"/>
          <p:cNvSpPr txBox="1"/>
          <p:nvPr/>
        </p:nvSpPr>
        <p:spPr>
          <a:xfrm>
            <a:off x="4773675" y="2643292"/>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FR" sz="1000">
                <a:solidFill>
                  <a:schemeClr val="dk1"/>
                </a:solidFill>
                <a:latin typeface="Maven Pro"/>
                <a:ea typeface="Maven Pro"/>
                <a:cs typeface="Maven Pro"/>
                <a:sym typeface="Maven Pro"/>
              </a:rPr>
              <a:t>Outerwear &amp; Coats dan Jeans menjadi kontributor leakage terbesar terhadap returned revenue.</a:t>
            </a:r>
            <a:endParaRPr sz="1000">
              <a:solidFill>
                <a:schemeClr val="dk1"/>
              </a:solidFill>
              <a:latin typeface="Maven Pro"/>
              <a:ea typeface="Maven Pro"/>
              <a:cs typeface="Maven Pro"/>
              <a:sym typeface="Maven Pro"/>
            </a:endParaRPr>
          </a:p>
        </p:txBody>
      </p:sp>
      <p:sp>
        <p:nvSpPr>
          <p:cNvPr id="1615" name="Google Shape;1615;p66"/>
          <p:cNvSpPr txBox="1"/>
          <p:nvPr/>
        </p:nvSpPr>
        <p:spPr>
          <a:xfrm>
            <a:off x="4773675" y="3457967"/>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Maven Pro"/>
                <a:ea typeface="Maven Pro"/>
                <a:cs typeface="Maven Pro"/>
                <a:sym typeface="Maven Pro"/>
              </a:rPr>
              <a:t>Kategori dengan transactional volume tinggi cenderung menghasilkan leakage yang lebih besar akibat product returns.</a:t>
            </a:r>
            <a:endParaRPr sz="1000">
              <a:solidFill>
                <a:schemeClr val="dk1"/>
              </a:solidFill>
              <a:latin typeface="Maven Pro"/>
              <a:ea typeface="Maven Pro"/>
              <a:cs typeface="Maven Pro"/>
              <a:sym typeface="Maven Pro"/>
            </a:endParaRPr>
          </a:p>
        </p:txBody>
      </p:sp>
      <p:sp>
        <p:nvSpPr>
          <p:cNvPr id="1616" name="Google Shape;1616;p66"/>
          <p:cNvSpPr txBox="1"/>
          <p:nvPr/>
        </p:nvSpPr>
        <p:spPr>
          <a:xfrm>
            <a:off x="4773675" y="2322685"/>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Revenue Leakage is Concentrated in Major Categories</a:t>
            </a:r>
            <a:endParaRPr sz="1100" b="1">
              <a:solidFill>
                <a:schemeClr val="bg2">
                  <a:lumMod val="25000"/>
                </a:schemeClr>
              </a:solidFill>
              <a:latin typeface="Montserrat"/>
              <a:ea typeface="Montserrat"/>
              <a:cs typeface="Montserrat"/>
              <a:sym typeface="Montserrat"/>
            </a:endParaRPr>
          </a:p>
        </p:txBody>
      </p:sp>
      <p:sp>
        <p:nvSpPr>
          <p:cNvPr id="1617" name="Google Shape;1617;p66"/>
          <p:cNvSpPr txBox="1"/>
          <p:nvPr/>
        </p:nvSpPr>
        <p:spPr>
          <a:xfrm>
            <a:off x="4773696" y="3137360"/>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High Transaction Categories Carry Higher Leakage Risk</a:t>
            </a:r>
            <a:endParaRPr sz="1100" b="1">
              <a:solidFill>
                <a:schemeClr val="bg2">
                  <a:lumMod val="25000"/>
                </a:schemeClr>
              </a:solidFill>
              <a:latin typeface="Montserrat"/>
              <a:ea typeface="Montserrat"/>
              <a:cs typeface="Montserrat"/>
              <a:sym typeface="Montserrat"/>
            </a:endParaRPr>
          </a:p>
        </p:txBody>
      </p:sp>
      <p:sp>
        <p:nvSpPr>
          <p:cNvPr id="1618" name="Google Shape;1618;p66"/>
          <p:cNvSpPr/>
          <p:nvPr/>
        </p:nvSpPr>
        <p:spPr>
          <a:xfrm>
            <a:off x="4295516" y="241913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3226973"/>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1905118"/>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2722735"/>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cxnSpLocks/>
            <a:stCxn id="1613" idx="1"/>
            <a:endCxn id="1611" idx="3"/>
          </p:cNvCxnSpPr>
          <p:nvPr/>
        </p:nvCxnSpPr>
        <p:spPr>
          <a:xfrm flipH="1">
            <a:off x="4599116" y="1709442"/>
            <a:ext cx="174580" cy="43876"/>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cxnSpLocks/>
            <a:stCxn id="1616" idx="1"/>
            <a:endCxn id="1618" idx="3"/>
          </p:cNvCxnSpPr>
          <p:nvPr/>
        </p:nvCxnSpPr>
        <p:spPr>
          <a:xfrm flipH="1">
            <a:off x="4599116" y="2524135"/>
            <a:ext cx="174559" cy="468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cxnSpLocks/>
            <a:stCxn id="1617" idx="1"/>
            <a:endCxn id="1619" idx="3"/>
          </p:cNvCxnSpPr>
          <p:nvPr/>
        </p:nvCxnSpPr>
        <p:spPr>
          <a:xfrm flipH="1">
            <a:off x="4599116" y="3338810"/>
            <a:ext cx="174580" cy="39963"/>
          </a:xfrm>
          <a:prstGeom prst="straightConnector1">
            <a:avLst/>
          </a:prstGeom>
          <a:noFill/>
          <a:ln w="9525" cap="flat" cmpd="sng">
            <a:solidFill>
              <a:schemeClr val="lt2"/>
            </a:solidFill>
            <a:prstDash val="solid"/>
            <a:round/>
            <a:headEnd type="none" w="med" len="med"/>
            <a:tailEnd type="none" w="med" len="med"/>
          </a:ln>
        </p:spPr>
      </p:cxnSp>
      <p:sp>
        <p:nvSpPr>
          <p:cNvPr id="2" name="Google Shape;1609;p66">
            <a:extLst>
              <a:ext uri="{FF2B5EF4-FFF2-40B4-BE49-F238E27FC236}">
                <a16:creationId xmlns:a16="http://schemas.microsoft.com/office/drawing/2014/main" id="{843B6A8A-5E37-0A46-7396-AE34DCBA6C4A}"/>
              </a:ext>
            </a:extLst>
          </p:cNvPr>
          <p:cNvSpPr txBox="1"/>
          <p:nvPr/>
        </p:nvSpPr>
        <p:spPr>
          <a:xfrm>
            <a:off x="203200" y="3768255"/>
            <a:ext cx="33274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Business Interpretation</a:t>
            </a:r>
            <a:endParaRPr sz="2000" b="1">
              <a:solidFill>
                <a:schemeClr val="lt1"/>
              </a:solidFill>
              <a:latin typeface="Montserrat"/>
              <a:ea typeface="Montserrat"/>
              <a:cs typeface="Montserrat"/>
              <a:sym typeface="Montserrat"/>
            </a:endParaRPr>
          </a:p>
        </p:txBody>
      </p:sp>
      <p:sp>
        <p:nvSpPr>
          <p:cNvPr id="3" name="Google Shape;1615;p66">
            <a:extLst>
              <a:ext uri="{FF2B5EF4-FFF2-40B4-BE49-F238E27FC236}">
                <a16:creationId xmlns:a16="http://schemas.microsoft.com/office/drawing/2014/main" id="{1E56E430-EFA6-855F-E100-F5C5B2590D3E}"/>
              </a:ext>
            </a:extLst>
          </p:cNvPr>
          <p:cNvSpPr txBox="1"/>
          <p:nvPr/>
        </p:nvSpPr>
        <p:spPr>
          <a:xfrm>
            <a:off x="203199" y="4043929"/>
            <a:ext cx="8218175"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000">
                <a:solidFill>
                  <a:schemeClr val="dk1"/>
                </a:solidFill>
                <a:latin typeface="Maven Pro"/>
                <a:ea typeface="Maven Pro"/>
                <a:cs typeface="Maven Pro"/>
                <a:sym typeface="Maven Pro"/>
              </a:rPr>
              <a:t>Product returns masih menjadi sumber revenue leakage yang signifikan bagi TheLook, terutama pada kategori dengan volume transaksi tinggi. Tingginya return rate menunjukkan bahwa return behavior customer dapat memberikan dampak langsung terhadap profitability dan overall business performance.</a:t>
            </a:r>
            <a:endParaRPr sz="10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3901944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08D0D8-CF42-BC91-C864-3DF2BC032992}"/>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529988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40"/>
          <p:cNvSpPr txBox="1">
            <a:spLocks noGrp="1"/>
          </p:cNvSpPr>
          <p:nvPr>
            <p:ph type="title"/>
          </p:nvPr>
        </p:nvSpPr>
        <p:spPr>
          <a:xfrm>
            <a:off x="935445" y="1734333"/>
            <a:ext cx="7064459" cy="167876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5400"/>
              <a:t>Business Recommendations</a:t>
            </a:r>
            <a:endParaRPr sz="5400"/>
          </a:p>
        </p:txBody>
      </p:sp>
      <p:grpSp>
        <p:nvGrpSpPr>
          <p:cNvPr id="1011" name="Google Shape;1011;p40"/>
          <p:cNvGrpSpPr/>
          <p:nvPr/>
        </p:nvGrpSpPr>
        <p:grpSpPr>
          <a:xfrm>
            <a:off x="-218875" y="-50400"/>
            <a:ext cx="1882500" cy="2095500"/>
            <a:chOff x="-218875" y="-50400"/>
            <a:chExt cx="1882500" cy="2095500"/>
          </a:xfrm>
        </p:grpSpPr>
        <p:sp>
          <p:nvSpPr>
            <p:cNvPr id="1012" name="Google Shape;1012;p40"/>
            <p:cNvSpPr/>
            <p:nvPr/>
          </p:nvSpPr>
          <p:spPr>
            <a:xfrm>
              <a:off x="-218875" y="8908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013" name="Google Shape;1013;p40"/>
            <p:cNvGrpSpPr/>
            <p:nvPr/>
          </p:nvGrpSpPr>
          <p:grpSpPr>
            <a:xfrm>
              <a:off x="229313" y="-50400"/>
              <a:ext cx="986125" cy="2095500"/>
              <a:chOff x="7631225" y="2241175"/>
              <a:chExt cx="986125" cy="2095500"/>
            </a:xfrm>
          </p:grpSpPr>
          <p:cxnSp>
            <p:nvCxnSpPr>
              <p:cNvPr id="1014" name="Google Shape;1014;p40"/>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5" name="Google Shape;1015;p40"/>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6" name="Google Shape;1016;p40"/>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7" name="Google Shape;1017;p40"/>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8" name="Google Shape;1018;p40"/>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19" name="Google Shape;1019;p40"/>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0" name="Google Shape;1020;p40"/>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1" name="Google Shape;1021;p40"/>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2" name="Google Shape;1022;p40"/>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3" name="Google Shape;1023;p40"/>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4" name="Google Shape;1024;p40"/>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5" name="Google Shape;1025;p40"/>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6" name="Google Shape;1026;p40"/>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27" name="Google Shape;1027;p40"/>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1028" name="Google Shape;1028;p40"/>
          <p:cNvGrpSpPr/>
          <p:nvPr/>
        </p:nvGrpSpPr>
        <p:grpSpPr>
          <a:xfrm>
            <a:off x="2906038" y="4336663"/>
            <a:ext cx="1885275" cy="1884250"/>
            <a:chOff x="2609275" y="3149350"/>
            <a:chExt cx="1885275" cy="1884250"/>
          </a:xfrm>
        </p:grpSpPr>
        <p:sp>
          <p:nvSpPr>
            <p:cNvPr id="1029" name="Google Shape;1029;p40"/>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0"/>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0"/>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0"/>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0"/>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0"/>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0"/>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0"/>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0"/>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0"/>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0"/>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0"/>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0"/>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0"/>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0"/>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0"/>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0"/>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0"/>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0"/>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 name="Google Shape;1048;p40"/>
          <p:cNvGrpSpPr/>
          <p:nvPr/>
        </p:nvGrpSpPr>
        <p:grpSpPr>
          <a:xfrm>
            <a:off x="5274000" y="-24823"/>
            <a:ext cx="3870000" cy="1050648"/>
            <a:chOff x="5274000" y="-24823"/>
            <a:chExt cx="3870000" cy="1050648"/>
          </a:xfrm>
        </p:grpSpPr>
        <p:sp>
          <p:nvSpPr>
            <p:cNvPr id="1049" name="Google Shape;1049;p40"/>
            <p:cNvSpPr/>
            <p:nvPr/>
          </p:nvSpPr>
          <p:spPr>
            <a:xfrm rot="10800000">
              <a:off x="5952000" y="-24775"/>
              <a:ext cx="3192000" cy="1050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050" name="Google Shape;1050;p40"/>
            <p:cNvSpPr/>
            <p:nvPr/>
          </p:nvSpPr>
          <p:spPr>
            <a:xfrm rot="10800000">
              <a:off x="5274000" y="-24823"/>
              <a:ext cx="3870000" cy="5736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051" name="Google Shape;1051;p40"/>
          <p:cNvSpPr/>
          <p:nvPr/>
        </p:nvSpPr>
        <p:spPr>
          <a:xfrm flipH="1">
            <a:off x="5879725" y="4336675"/>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Tree>
    <p:extLst>
      <p:ext uri="{BB962C8B-B14F-4D97-AF65-F5344CB8AC3E}">
        <p14:creationId xmlns:p14="http://schemas.microsoft.com/office/powerpoint/2010/main" val="4217851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279150"/>
            <a:ext cx="76992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000"/>
              <a:t>Customer Acquisition Strategy Recommendation</a:t>
            </a:r>
            <a:endParaRPr sz="2000"/>
          </a:p>
        </p:txBody>
      </p:sp>
      <p:sp>
        <p:nvSpPr>
          <p:cNvPr id="1608" name="Google Shape;1608;p66"/>
          <p:cNvSpPr txBox="1"/>
          <p:nvPr/>
        </p:nvSpPr>
        <p:spPr>
          <a:xfrm>
            <a:off x="203200" y="1338414"/>
            <a:ext cx="3765929" cy="2302255"/>
          </a:xfrm>
          <a:prstGeom prst="rect">
            <a:avLst/>
          </a:prstGeom>
          <a:noFill/>
          <a:ln>
            <a:noFill/>
          </a:ln>
        </p:spPr>
        <p:txBody>
          <a:bodyPr spcFirstLastPara="1" wrap="square" lIns="91425" tIns="91425" rIns="91425" bIns="91425" anchor="t" anchorCtr="0">
            <a:noAutofit/>
          </a:bodyPr>
          <a:lstStyle/>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Acquisition Concentration Risk</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Ketergantungan traffic yang terlalu besar pada Email menunjukkan adanya acquisition concentration risk terhadap customer activity platform.</a:t>
            </a:r>
          </a:p>
          <a:p>
            <a:pPr marL="152400" lvl="0" algn="l" rtl="0">
              <a:spcBef>
                <a:spcPts val="0"/>
              </a:spcBef>
              <a:spcAft>
                <a:spcPts val="0"/>
              </a:spcAft>
              <a:buClr>
                <a:srgbClr val="262457"/>
              </a:buClr>
              <a:buSzPts val="1200"/>
            </a:pPr>
            <a:endParaRPr lang="en-US" sz="9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Untapped Channel Scalability</a:t>
            </a:r>
            <a:r>
              <a:rPr lang="en-US" sz="1100">
                <a:solidFill>
                  <a:srgbClr val="262457"/>
                </a:solidFill>
                <a:latin typeface="Maven Pro"/>
                <a:ea typeface="Maven Pro"/>
                <a:cs typeface="Maven Pro"/>
                <a:sym typeface="Maven Pro"/>
              </a:rPr>
              <a:t> </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Conversion efficiency antar channel yang relatif serupa menunjukkan bahwa Facebook, YouTube, dan Organic traffic masih memiliki potensi scaling yang belum dimanfaatkan secara optimal.</a:t>
            </a:r>
          </a:p>
          <a:p>
            <a:pPr marL="152400" lvl="0" algn="l" rtl="0">
              <a:spcBef>
                <a:spcPts val="0"/>
              </a:spcBef>
              <a:spcAft>
                <a:spcPts val="0"/>
              </a:spcAft>
              <a:buClr>
                <a:srgbClr val="262457"/>
              </a:buClr>
              <a:buSzPts val="1200"/>
            </a:pPr>
            <a:endParaRPr lang="en-US" sz="11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Strong Customer Engagement Momentum</a:t>
            </a:r>
            <a:endParaRPr lang="en-US" sz="1100" b="1">
              <a:solidFill>
                <a:schemeClr val="dk1"/>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Pertumbuhan customer activity yang konsisten menunjukkan bahwa TheLook memiliki momentum engagement yang dapat dimanfaatkan untuk memperluas acquisition strategy.</a:t>
            </a:r>
          </a:p>
        </p:txBody>
      </p:sp>
      <p:sp>
        <p:nvSpPr>
          <p:cNvPr id="1609" name="Google Shape;1609;p66"/>
          <p:cNvSpPr txBox="1"/>
          <p:nvPr/>
        </p:nvSpPr>
        <p:spPr>
          <a:xfrm>
            <a:off x="203200" y="986225"/>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Implications</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986225"/>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Recommendations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473933"/>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1603943"/>
            <a:ext cx="3647700" cy="4207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Mengurangi ketergantungan pada Email dengan meningkatkan investasi acquisition pada channel alternatif dengan conversion efficiency serupa.</a:t>
            </a:r>
          </a:p>
        </p:txBody>
      </p:sp>
      <p:sp>
        <p:nvSpPr>
          <p:cNvPr id="1613" name="Google Shape;1613;p66"/>
          <p:cNvSpPr txBox="1"/>
          <p:nvPr/>
        </p:nvSpPr>
        <p:spPr>
          <a:xfrm>
            <a:off x="4773696" y="1380407"/>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Implement Channel Diversification Strategy</a:t>
            </a:r>
          </a:p>
        </p:txBody>
      </p:sp>
      <p:sp>
        <p:nvSpPr>
          <p:cNvPr id="1614" name="Google Shape;1614;p66"/>
          <p:cNvSpPr txBox="1"/>
          <p:nvPr/>
        </p:nvSpPr>
        <p:spPr>
          <a:xfrm>
            <a:off x="4773675" y="2436766"/>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Meningkatkan retargeting campaign dan personalized marketing content berdasarkan activity pattern customer.</a:t>
            </a:r>
            <a:endParaRPr sz="900">
              <a:solidFill>
                <a:schemeClr val="dk1"/>
              </a:solidFill>
              <a:latin typeface="Maven Pro"/>
              <a:ea typeface="Maven Pro"/>
              <a:cs typeface="Maven Pro"/>
              <a:sym typeface="Maven Pro"/>
            </a:endParaRPr>
          </a:p>
        </p:txBody>
      </p:sp>
      <p:sp>
        <p:nvSpPr>
          <p:cNvPr id="1615" name="Google Shape;1615;p66"/>
          <p:cNvSpPr txBox="1"/>
          <p:nvPr/>
        </p:nvSpPr>
        <p:spPr>
          <a:xfrm>
            <a:off x="4773675" y="3251441"/>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Mengembangkan acquisition strategy yang lebih terintegrasi untuk meningkatkan scalability dan customer reach.</a:t>
            </a:r>
            <a:endParaRPr sz="900">
              <a:solidFill>
                <a:schemeClr val="dk1"/>
              </a:solidFill>
              <a:latin typeface="Maven Pro"/>
              <a:ea typeface="Maven Pro"/>
              <a:cs typeface="Maven Pro"/>
              <a:sym typeface="Maven Pro"/>
            </a:endParaRPr>
          </a:p>
        </p:txBody>
      </p:sp>
      <p:sp>
        <p:nvSpPr>
          <p:cNvPr id="1616" name="Google Shape;1616;p66"/>
          <p:cNvSpPr txBox="1"/>
          <p:nvPr/>
        </p:nvSpPr>
        <p:spPr>
          <a:xfrm>
            <a:off x="4773675" y="2195100"/>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Optimize Retargeting &amp; Personalized Campaign</a:t>
            </a:r>
            <a:endParaRPr sz="1100" b="1">
              <a:solidFill>
                <a:schemeClr val="bg2">
                  <a:lumMod val="25000"/>
                </a:schemeClr>
              </a:solidFill>
              <a:latin typeface="Montserrat"/>
              <a:ea typeface="Montserrat"/>
              <a:cs typeface="Montserrat"/>
              <a:sym typeface="Montserrat"/>
            </a:endParaRPr>
          </a:p>
        </p:txBody>
      </p:sp>
      <p:sp>
        <p:nvSpPr>
          <p:cNvPr id="1617" name="Google Shape;1617;p66"/>
          <p:cNvSpPr txBox="1"/>
          <p:nvPr/>
        </p:nvSpPr>
        <p:spPr>
          <a:xfrm>
            <a:off x="4773696" y="3009775"/>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Strengthen Omnichannel Acquisition Strategy</a:t>
            </a:r>
            <a:endParaRPr sz="1100" b="1">
              <a:solidFill>
                <a:schemeClr val="bg2">
                  <a:lumMod val="25000"/>
                </a:schemeClr>
              </a:solidFill>
              <a:latin typeface="Montserrat"/>
              <a:ea typeface="Montserrat"/>
              <a:cs typeface="Montserrat"/>
              <a:sym typeface="Montserrat"/>
            </a:endParaRPr>
          </a:p>
        </p:txBody>
      </p:sp>
      <p:sp>
        <p:nvSpPr>
          <p:cNvPr id="1618" name="Google Shape;1618;p66"/>
          <p:cNvSpPr/>
          <p:nvPr/>
        </p:nvSpPr>
        <p:spPr>
          <a:xfrm>
            <a:off x="4295516" y="229155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3099388"/>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1777533"/>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2595150"/>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cxnSpLocks/>
            <a:stCxn id="1613" idx="1"/>
            <a:endCxn id="1611" idx="3"/>
          </p:cNvCxnSpPr>
          <p:nvPr/>
        </p:nvCxnSpPr>
        <p:spPr>
          <a:xfrm flipH="1">
            <a:off x="4599116" y="1581857"/>
            <a:ext cx="174580" cy="43876"/>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cxnSpLocks/>
            <a:stCxn id="1616" idx="1"/>
            <a:endCxn id="1618" idx="3"/>
          </p:cNvCxnSpPr>
          <p:nvPr/>
        </p:nvCxnSpPr>
        <p:spPr>
          <a:xfrm flipH="1">
            <a:off x="4599116" y="2396550"/>
            <a:ext cx="174559" cy="468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cxnSpLocks/>
            <a:stCxn id="1617" idx="1"/>
            <a:endCxn id="1619" idx="3"/>
          </p:cNvCxnSpPr>
          <p:nvPr/>
        </p:nvCxnSpPr>
        <p:spPr>
          <a:xfrm flipH="1">
            <a:off x="4599116" y="3211225"/>
            <a:ext cx="174580" cy="39963"/>
          </a:xfrm>
          <a:prstGeom prst="straightConnector1">
            <a:avLst/>
          </a:prstGeom>
          <a:noFill/>
          <a:ln w="9525" cap="flat" cmpd="sng">
            <a:solidFill>
              <a:schemeClr val="lt2"/>
            </a:solidFill>
            <a:prstDash val="solid"/>
            <a:round/>
            <a:headEnd type="none" w="med" len="med"/>
            <a:tailEnd type="none" w="med" len="med"/>
          </a:ln>
        </p:spPr>
      </p:cxnSp>
      <p:sp>
        <p:nvSpPr>
          <p:cNvPr id="2" name="Google Shape;1609;p66">
            <a:extLst>
              <a:ext uri="{FF2B5EF4-FFF2-40B4-BE49-F238E27FC236}">
                <a16:creationId xmlns:a16="http://schemas.microsoft.com/office/drawing/2014/main" id="{843B6A8A-5E37-0A46-7396-AE34DCBA6C4A}"/>
              </a:ext>
            </a:extLst>
          </p:cNvPr>
          <p:cNvSpPr txBox="1"/>
          <p:nvPr/>
        </p:nvSpPr>
        <p:spPr>
          <a:xfrm>
            <a:off x="203200" y="3768255"/>
            <a:ext cx="33274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Expected Impact</a:t>
            </a:r>
          </a:p>
        </p:txBody>
      </p:sp>
      <p:sp>
        <p:nvSpPr>
          <p:cNvPr id="3" name="Google Shape;1615;p66">
            <a:extLst>
              <a:ext uri="{FF2B5EF4-FFF2-40B4-BE49-F238E27FC236}">
                <a16:creationId xmlns:a16="http://schemas.microsoft.com/office/drawing/2014/main" id="{1E56E430-EFA6-855F-E100-F5C5B2590D3E}"/>
              </a:ext>
            </a:extLst>
          </p:cNvPr>
          <p:cNvSpPr txBox="1"/>
          <p:nvPr/>
        </p:nvSpPr>
        <p:spPr>
          <a:xfrm>
            <a:off x="203199" y="4043929"/>
            <a:ext cx="8218175"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000">
                <a:solidFill>
                  <a:schemeClr val="dk1"/>
                </a:solidFill>
                <a:latin typeface="Maven Pro"/>
                <a:ea typeface="Maven Pro"/>
                <a:cs typeface="Maven Pro"/>
                <a:sym typeface="Maven Pro"/>
              </a:rPr>
              <a:t>Implementasi strategi diversifikasi acquisition berpotensi mengurangi acquisition concentration risk, meningkatkan channel scalability, memperluas customer reach, serta menciptakan acquisition structure yang lebih stabil dan sustainable bagi pertumbuhan bisnis TheLook.</a:t>
            </a:r>
            <a:endParaRPr sz="10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3007370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279150"/>
            <a:ext cx="76992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000"/>
              <a:t>Profitability-Driven Product Strategy Recommendation</a:t>
            </a:r>
            <a:endParaRPr sz="2000"/>
          </a:p>
        </p:txBody>
      </p:sp>
      <p:sp>
        <p:nvSpPr>
          <p:cNvPr id="1608" name="Google Shape;1608;p66"/>
          <p:cNvSpPr txBox="1"/>
          <p:nvPr/>
        </p:nvSpPr>
        <p:spPr>
          <a:xfrm>
            <a:off x="203200" y="1338414"/>
            <a:ext cx="3765929" cy="2302255"/>
          </a:xfrm>
          <a:prstGeom prst="rect">
            <a:avLst/>
          </a:prstGeom>
          <a:noFill/>
          <a:ln>
            <a:noFill/>
          </a:ln>
        </p:spPr>
        <p:txBody>
          <a:bodyPr spcFirstLastPara="1" wrap="square" lIns="91425" tIns="91425" rIns="91425" bIns="91425" anchor="t" anchorCtr="0">
            <a:noAutofit/>
          </a:bodyPr>
          <a:lstStyle/>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Revenue-Oriented Growth Structure</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Strategi bisnis TheLook saat ini masih cenderung terlalu berfokus pada revenue growth dibanding profit efficiency antar kategori produk.</a:t>
            </a:r>
          </a:p>
          <a:p>
            <a:pPr marL="152400" lvl="0" algn="l" rtl="0">
              <a:spcBef>
                <a:spcPts val="0"/>
              </a:spcBef>
              <a:spcAft>
                <a:spcPts val="0"/>
              </a:spcAft>
              <a:buClr>
                <a:srgbClr val="262457"/>
              </a:buClr>
              <a:buSzPts val="1200"/>
            </a:pPr>
            <a:endParaRPr lang="en-US" sz="9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Category Concentration Risk</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Ketergantungan revenue pada beberapa kategori utama menciptakan risiko terhadap overall business performance apabila performa kategori dominan mengalami penurunan.</a:t>
            </a:r>
          </a:p>
          <a:p>
            <a:pPr marL="152400" lvl="0" algn="l" rtl="0">
              <a:spcBef>
                <a:spcPts val="0"/>
              </a:spcBef>
              <a:spcAft>
                <a:spcPts val="0"/>
              </a:spcAft>
              <a:buClr>
                <a:srgbClr val="262457"/>
              </a:buClr>
              <a:buSzPts val="1200"/>
            </a:pPr>
            <a:endParaRPr lang="en-US" sz="11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Untapped Profitability Opportunity</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Beberapa kategori dengan margin tinggi menunjukkan adanya peluang peningkatan profitability tanpa harus bergantung pada peningkatan sales volume secara agresif.</a:t>
            </a:r>
          </a:p>
        </p:txBody>
      </p:sp>
      <p:sp>
        <p:nvSpPr>
          <p:cNvPr id="1609" name="Google Shape;1609;p66"/>
          <p:cNvSpPr txBox="1"/>
          <p:nvPr/>
        </p:nvSpPr>
        <p:spPr>
          <a:xfrm>
            <a:off x="203200" y="986225"/>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Implications</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986225"/>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Recommendations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473933"/>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1603943"/>
            <a:ext cx="3647700" cy="4207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Memprioritaskan pengembangan kategori dengan profit margin tinggi dan scalability yang masih besar.</a:t>
            </a:r>
          </a:p>
        </p:txBody>
      </p:sp>
      <p:sp>
        <p:nvSpPr>
          <p:cNvPr id="1613" name="Google Shape;1613;p66"/>
          <p:cNvSpPr txBox="1"/>
          <p:nvPr/>
        </p:nvSpPr>
        <p:spPr>
          <a:xfrm>
            <a:off x="4773696" y="1380407"/>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Implement Profitability-Driven Category Strategy</a:t>
            </a:r>
          </a:p>
        </p:txBody>
      </p:sp>
      <p:sp>
        <p:nvSpPr>
          <p:cNvPr id="1614" name="Google Shape;1614;p66"/>
          <p:cNvSpPr txBox="1"/>
          <p:nvPr/>
        </p:nvSpPr>
        <p:spPr>
          <a:xfrm>
            <a:off x="4773675" y="2436766"/>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Melakukan pricing optimization dan evaluasi category mix untuk meningkatkan overall profitability.</a:t>
            </a:r>
          </a:p>
        </p:txBody>
      </p:sp>
      <p:sp>
        <p:nvSpPr>
          <p:cNvPr id="1615" name="Google Shape;1615;p66"/>
          <p:cNvSpPr txBox="1"/>
          <p:nvPr/>
        </p:nvSpPr>
        <p:spPr>
          <a:xfrm>
            <a:off x="4773675" y="3251441"/>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Melakukan cost efficiency evaluation, supplier optimization, dan bundling strategy pada kategori revenue-dominant dengan margin relatif lebih rendah.</a:t>
            </a:r>
            <a:endParaRPr sz="900">
              <a:solidFill>
                <a:schemeClr val="dk1"/>
              </a:solidFill>
              <a:latin typeface="Maven Pro"/>
              <a:ea typeface="Maven Pro"/>
              <a:cs typeface="Maven Pro"/>
              <a:sym typeface="Maven Pro"/>
            </a:endParaRPr>
          </a:p>
        </p:txBody>
      </p:sp>
      <p:sp>
        <p:nvSpPr>
          <p:cNvPr id="1616" name="Google Shape;1616;p66"/>
          <p:cNvSpPr txBox="1"/>
          <p:nvPr/>
        </p:nvSpPr>
        <p:spPr>
          <a:xfrm>
            <a:off x="4773675" y="2195100"/>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Optimize Retargeting &amp; Personalized Campaign</a:t>
            </a:r>
          </a:p>
        </p:txBody>
      </p:sp>
      <p:sp>
        <p:nvSpPr>
          <p:cNvPr id="1617" name="Google Shape;1617;p66"/>
          <p:cNvSpPr txBox="1"/>
          <p:nvPr/>
        </p:nvSpPr>
        <p:spPr>
          <a:xfrm>
            <a:off x="4773696" y="3009775"/>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Improve Margin Efficiency on High-Revenue Categories</a:t>
            </a:r>
            <a:endParaRPr sz="1100" b="1">
              <a:solidFill>
                <a:schemeClr val="bg2">
                  <a:lumMod val="25000"/>
                </a:schemeClr>
              </a:solidFill>
              <a:latin typeface="Montserrat"/>
              <a:ea typeface="Montserrat"/>
              <a:cs typeface="Montserrat"/>
              <a:sym typeface="Montserrat"/>
            </a:endParaRPr>
          </a:p>
        </p:txBody>
      </p:sp>
      <p:sp>
        <p:nvSpPr>
          <p:cNvPr id="1618" name="Google Shape;1618;p66"/>
          <p:cNvSpPr/>
          <p:nvPr/>
        </p:nvSpPr>
        <p:spPr>
          <a:xfrm>
            <a:off x="4295516" y="229155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3099388"/>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1777533"/>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2595150"/>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cxnSpLocks/>
            <a:stCxn id="1613" idx="1"/>
            <a:endCxn id="1611" idx="3"/>
          </p:cNvCxnSpPr>
          <p:nvPr/>
        </p:nvCxnSpPr>
        <p:spPr>
          <a:xfrm flipH="1">
            <a:off x="4599116" y="1581857"/>
            <a:ext cx="174580" cy="43876"/>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cxnSpLocks/>
            <a:stCxn id="1616" idx="1"/>
            <a:endCxn id="1618" idx="3"/>
          </p:cNvCxnSpPr>
          <p:nvPr/>
        </p:nvCxnSpPr>
        <p:spPr>
          <a:xfrm flipH="1">
            <a:off x="4599116" y="2396550"/>
            <a:ext cx="174559" cy="468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cxnSpLocks/>
            <a:stCxn id="1617" idx="1"/>
            <a:endCxn id="1619" idx="3"/>
          </p:cNvCxnSpPr>
          <p:nvPr/>
        </p:nvCxnSpPr>
        <p:spPr>
          <a:xfrm flipH="1">
            <a:off x="4599116" y="3211225"/>
            <a:ext cx="174580" cy="39963"/>
          </a:xfrm>
          <a:prstGeom prst="straightConnector1">
            <a:avLst/>
          </a:prstGeom>
          <a:noFill/>
          <a:ln w="9525" cap="flat" cmpd="sng">
            <a:solidFill>
              <a:schemeClr val="lt2"/>
            </a:solidFill>
            <a:prstDash val="solid"/>
            <a:round/>
            <a:headEnd type="none" w="med" len="med"/>
            <a:tailEnd type="none" w="med" len="med"/>
          </a:ln>
        </p:spPr>
      </p:cxnSp>
      <p:sp>
        <p:nvSpPr>
          <p:cNvPr id="2" name="Google Shape;1609;p66">
            <a:extLst>
              <a:ext uri="{FF2B5EF4-FFF2-40B4-BE49-F238E27FC236}">
                <a16:creationId xmlns:a16="http://schemas.microsoft.com/office/drawing/2014/main" id="{843B6A8A-5E37-0A46-7396-AE34DCBA6C4A}"/>
              </a:ext>
            </a:extLst>
          </p:cNvPr>
          <p:cNvSpPr txBox="1"/>
          <p:nvPr/>
        </p:nvSpPr>
        <p:spPr>
          <a:xfrm>
            <a:off x="203200" y="3768255"/>
            <a:ext cx="33274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Expected Impact</a:t>
            </a:r>
          </a:p>
        </p:txBody>
      </p:sp>
      <p:sp>
        <p:nvSpPr>
          <p:cNvPr id="3" name="Google Shape;1615;p66">
            <a:extLst>
              <a:ext uri="{FF2B5EF4-FFF2-40B4-BE49-F238E27FC236}">
                <a16:creationId xmlns:a16="http://schemas.microsoft.com/office/drawing/2014/main" id="{1E56E430-EFA6-855F-E100-F5C5B2590D3E}"/>
              </a:ext>
            </a:extLst>
          </p:cNvPr>
          <p:cNvSpPr txBox="1"/>
          <p:nvPr/>
        </p:nvSpPr>
        <p:spPr>
          <a:xfrm>
            <a:off x="203199" y="4043929"/>
            <a:ext cx="8218175"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000">
                <a:solidFill>
                  <a:schemeClr val="dk1"/>
                </a:solidFill>
                <a:latin typeface="Maven Pro"/>
                <a:ea typeface="Maven Pro"/>
                <a:cs typeface="Maven Pro"/>
                <a:sym typeface="Maven Pro"/>
              </a:rPr>
              <a:t>Implementasi profitability-driven strategy berpotensi meningkatkan overall business profitability, mengurangi category concentration risk, menciptakan revenue structure yang lebih sehat, serta mendukung sustainable profit growth dalam jangka panjang.</a:t>
            </a:r>
            <a:endParaRPr sz="10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341098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279150"/>
            <a:ext cx="76992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1700"/>
              <a:t>Operational Scalability &amp; Fulfillment Strategy Recommendation</a:t>
            </a:r>
            <a:endParaRPr sz="1700"/>
          </a:p>
        </p:txBody>
      </p:sp>
      <p:sp>
        <p:nvSpPr>
          <p:cNvPr id="1608" name="Google Shape;1608;p66"/>
          <p:cNvSpPr txBox="1"/>
          <p:nvPr/>
        </p:nvSpPr>
        <p:spPr>
          <a:xfrm>
            <a:off x="203200" y="1148221"/>
            <a:ext cx="3765929" cy="2302255"/>
          </a:xfrm>
          <a:prstGeom prst="rect">
            <a:avLst/>
          </a:prstGeom>
          <a:noFill/>
          <a:ln>
            <a:noFill/>
          </a:ln>
        </p:spPr>
        <p:txBody>
          <a:bodyPr spcFirstLastPara="1" wrap="square" lIns="91425" tIns="91425" rIns="91425" bIns="91425" anchor="t" anchorCtr="0">
            <a:noAutofit/>
          </a:bodyPr>
          <a:lstStyle/>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Stable Fulfillment Performance Indicates Operational Scalability</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Kestabilan fulfillment duration menunjukkan bahwa operational process TheLook saat ini masih mampu mengakomodasi pertumbuhan business activity dengan cukup baik.</a:t>
            </a:r>
          </a:p>
          <a:p>
            <a:pPr marL="152400" lvl="0" algn="l" rtl="0">
              <a:spcBef>
                <a:spcPts val="0"/>
              </a:spcBef>
              <a:spcAft>
                <a:spcPts val="0"/>
              </a:spcAft>
              <a:buClr>
                <a:srgbClr val="262457"/>
              </a:buClr>
              <a:buSzPts val="1200"/>
            </a:pPr>
            <a:endParaRPr lang="en-US" sz="9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Increasing Business Activity May Create Future Operational Pressure</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Pertumbuhan customer activity dan transaction volume yang terus meningkat berpotensi meningkatkan operational complexity di masa mendatang.</a:t>
            </a:r>
          </a:p>
          <a:p>
            <a:pPr marL="152400" lvl="0" algn="l" rtl="0">
              <a:spcBef>
                <a:spcPts val="0"/>
              </a:spcBef>
              <a:spcAft>
                <a:spcPts val="0"/>
              </a:spcAft>
              <a:buClr>
                <a:srgbClr val="262457"/>
              </a:buClr>
              <a:buSzPts val="1200"/>
            </a:pPr>
            <a:endParaRPr lang="en-US" sz="11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Operational Consistency Becomes Critical for Customer Experience</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Konsistensi fulfillment performance menjadi faktor penting dalam menjaga customer satisfaction dan retention pada bisnis ecommerce.</a:t>
            </a:r>
          </a:p>
        </p:txBody>
      </p:sp>
      <p:sp>
        <p:nvSpPr>
          <p:cNvPr id="1609" name="Google Shape;1609;p66"/>
          <p:cNvSpPr txBox="1"/>
          <p:nvPr/>
        </p:nvSpPr>
        <p:spPr>
          <a:xfrm>
            <a:off x="203200" y="796032"/>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Implications</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796032"/>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Recommendations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283740"/>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1413750"/>
            <a:ext cx="3647700" cy="4207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Memastikan fulfillment capacity tetap scalable seiring pertumbuhan customer activity dan order volume.</a:t>
            </a:r>
          </a:p>
        </p:txBody>
      </p:sp>
      <p:sp>
        <p:nvSpPr>
          <p:cNvPr id="1613" name="Google Shape;1613;p66"/>
          <p:cNvSpPr txBox="1"/>
          <p:nvPr/>
        </p:nvSpPr>
        <p:spPr>
          <a:xfrm>
            <a:off x="4773696" y="1190214"/>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Maintain Operational </a:t>
            </a:r>
          </a:p>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Scalability Strategy</a:t>
            </a:r>
          </a:p>
        </p:txBody>
      </p:sp>
      <p:sp>
        <p:nvSpPr>
          <p:cNvPr id="1614" name="Google Shape;1614;p66"/>
          <p:cNvSpPr txBox="1"/>
          <p:nvPr/>
        </p:nvSpPr>
        <p:spPr>
          <a:xfrm>
            <a:off x="4773675" y="2246573"/>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Meningkatkan monitoring fulfillment trend dan operational forecasting untuk mengantisipasi potential bottleneck.</a:t>
            </a:r>
            <a:endParaRPr sz="900">
              <a:solidFill>
                <a:schemeClr val="dk1"/>
              </a:solidFill>
              <a:latin typeface="Maven Pro"/>
              <a:ea typeface="Maven Pro"/>
              <a:cs typeface="Maven Pro"/>
              <a:sym typeface="Maven Pro"/>
            </a:endParaRPr>
          </a:p>
        </p:txBody>
      </p:sp>
      <p:sp>
        <p:nvSpPr>
          <p:cNvPr id="1615" name="Google Shape;1615;p66"/>
          <p:cNvSpPr txBox="1"/>
          <p:nvPr/>
        </p:nvSpPr>
        <p:spPr>
          <a:xfrm>
            <a:off x="4773675" y="3061248"/>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Melakukan evaluasi berkala terhadap fulfillment workflow dan delivery coordination untuk menjaga operational consistency.</a:t>
            </a:r>
            <a:endParaRPr sz="900">
              <a:solidFill>
                <a:schemeClr val="dk1"/>
              </a:solidFill>
              <a:latin typeface="Maven Pro"/>
              <a:ea typeface="Maven Pro"/>
              <a:cs typeface="Maven Pro"/>
              <a:sym typeface="Maven Pro"/>
            </a:endParaRPr>
          </a:p>
        </p:txBody>
      </p:sp>
      <p:sp>
        <p:nvSpPr>
          <p:cNvPr id="1616" name="Google Shape;1616;p66"/>
          <p:cNvSpPr txBox="1"/>
          <p:nvPr/>
        </p:nvSpPr>
        <p:spPr>
          <a:xfrm>
            <a:off x="4773675" y="2004907"/>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Improve Operational Monitoring &amp; Forecasting</a:t>
            </a:r>
            <a:endParaRPr sz="1100" b="1">
              <a:solidFill>
                <a:schemeClr val="bg2">
                  <a:lumMod val="25000"/>
                </a:schemeClr>
              </a:solidFill>
              <a:latin typeface="Montserrat"/>
              <a:ea typeface="Montserrat"/>
              <a:cs typeface="Montserrat"/>
              <a:sym typeface="Montserrat"/>
            </a:endParaRPr>
          </a:p>
        </p:txBody>
      </p:sp>
      <p:sp>
        <p:nvSpPr>
          <p:cNvPr id="1617" name="Google Shape;1617;p66"/>
          <p:cNvSpPr txBox="1"/>
          <p:nvPr/>
        </p:nvSpPr>
        <p:spPr>
          <a:xfrm>
            <a:off x="4773696" y="2819582"/>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Optimize Fulfillment Efficiency &amp; Delivery Coordination</a:t>
            </a:r>
            <a:endParaRPr sz="1100" b="1">
              <a:solidFill>
                <a:schemeClr val="bg2">
                  <a:lumMod val="25000"/>
                </a:schemeClr>
              </a:solidFill>
              <a:latin typeface="Montserrat"/>
              <a:ea typeface="Montserrat"/>
              <a:cs typeface="Montserrat"/>
              <a:sym typeface="Montserrat"/>
            </a:endParaRPr>
          </a:p>
        </p:txBody>
      </p:sp>
      <p:sp>
        <p:nvSpPr>
          <p:cNvPr id="1618" name="Google Shape;1618;p66"/>
          <p:cNvSpPr/>
          <p:nvPr/>
        </p:nvSpPr>
        <p:spPr>
          <a:xfrm>
            <a:off x="4295516" y="2101357"/>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2909195"/>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1587340"/>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2404957"/>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cxnSpLocks/>
            <a:stCxn id="1613" idx="1"/>
            <a:endCxn id="1611" idx="3"/>
          </p:cNvCxnSpPr>
          <p:nvPr/>
        </p:nvCxnSpPr>
        <p:spPr>
          <a:xfrm flipH="1">
            <a:off x="4599116" y="1391664"/>
            <a:ext cx="174580" cy="43876"/>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cxnSpLocks/>
            <a:stCxn id="1616" idx="1"/>
            <a:endCxn id="1618" idx="3"/>
          </p:cNvCxnSpPr>
          <p:nvPr/>
        </p:nvCxnSpPr>
        <p:spPr>
          <a:xfrm flipH="1">
            <a:off x="4599116" y="2206357"/>
            <a:ext cx="174559" cy="468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cxnSpLocks/>
            <a:stCxn id="1617" idx="1"/>
            <a:endCxn id="1619" idx="3"/>
          </p:cNvCxnSpPr>
          <p:nvPr/>
        </p:nvCxnSpPr>
        <p:spPr>
          <a:xfrm flipH="1">
            <a:off x="4599116" y="3021032"/>
            <a:ext cx="174580" cy="39963"/>
          </a:xfrm>
          <a:prstGeom prst="straightConnector1">
            <a:avLst/>
          </a:prstGeom>
          <a:noFill/>
          <a:ln w="9525" cap="flat" cmpd="sng">
            <a:solidFill>
              <a:schemeClr val="lt2"/>
            </a:solidFill>
            <a:prstDash val="solid"/>
            <a:round/>
            <a:headEnd type="none" w="med" len="med"/>
            <a:tailEnd type="none" w="med" len="med"/>
          </a:ln>
        </p:spPr>
      </p:cxnSp>
      <p:sp>
        <p:nvSpPr>
          <p:cNvPr id="2" name="Google Shape;1609;p66">
            <a:extLst>
              <a:ext uri="{FF2B5EF4-FFF2-40B4-BE49-F238E27FC236}">
                <a16:creationId xmlns:a16="http://schemas.microsoft.com/office/drawing/2014/main" id="{843B6A8A-5E37-0A46-7396-AE34DCBA6C4A}"/>
              </a:ext>
            </a:extLst>
          </p:cNvPr>
          <p:cNvSpPr txBox="1"/>
          <p:nvPr/>
        </p:nvSpPr>
        <p:spPr>
          <a:xfrm>
            <a:off x="203200" y="3863353"/>
            <a:ext cx="33274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Expected Impact</a:t>
            </a:r>
          </a:p>
        </p:txBody>
      </p:sp>
      <p:sp>
        <p:nvSpPr>
          <p:cNvPr id="3" name="Google Shape;1615;p66">
            <a:extLst>
              <a:ext uri="{FF2B5EF4-FFF2-40B4-BE49-F238E27FC236}">
                <a16:creationId xmlns:a16="http://schemas.microsoft.com/office/drawing/2014/main" id="{1E56E430-EFA6-855F-E100-F5C5B2590D3E}"/>
              </a:ext>
            </a:extLst>
          </p:cNvPr>
          <p:cNvSpPr txBox="1"/>
          <p:nvPr/>
        </p:nvSpPr>
        <p:spPr>
          <a:xfrm>
            <a:off x="203199" y="4139027"/>
            <a:ext cx="8218175"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000">
                <a:solidFill>
                  <a:schemeClr val="dk1"/>
                </a:solidFill>
                <a:latin typeface="Maven Pro"/>
                <a:ea typeface="Maven Pro"/>
                <a:cs typeface="Maven Pro"/>
                <a:sym typeface="Maven Pro"/>
              </a:rPr>
              <a:t>Implementasi operational scalability strategy berpotensi menjaga fulfillment stability, meningkatkan delivery consistency, mengurangi operational bottleneck risk, serta mendukung sustainable business growth tanpa mengorbankan customer experience.</a:t>
            </a:r>
            <a:endParaRPr sz="10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1998850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06"/>
        <p:cNvGrpSpPr/>
        <p:nvPr/>
      </p:nvGrpSpPr>
      <p:grpSpPr>
        <a:xfrm>
          <a:off x="0" y="0"/>
          <a:ext cx="0" cy="0"/>
          <a:chOff x="0" y="0"/>
          <a:chExt cx="0" cy="0"/>
        </a:xfrm>
      </p:grpSpPr>
      <p:sp>
        <p:nvSpPr>
          <p:cNvPr id="1607" name="Google Shape;1607;p66"/>
          <p:cNvSpPr txBox="1">
            <a:spLocks noGrp="1"/>
          </p:cNvSpPr>
          <p:nvPr>
            <p:ph type="title"/>
          </p:nvPr>
        </p:nvSpPr>
        <p:spPr>
          <a:xfrm>
            <a:off x="722375" y="279150"/>
            <a:ext cx="76992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1700"/>
              <a:t>Return Prevention &amp; Revenue Leakage Strategy Recommendation</a:t>
            </a:r>
            <a:endParaRPr sz="1700"/>
          </a:p>
        </p:txBody>
      </p:sp>
      <p:sp>
        <p:nvSpPr>
          <p:cNvPr id="1608" name="Google Shape;1608;p66"/>
          <p:cNvSpPr txBox="1"/>
          <p:nvPr/>
        </p:nvSpPr>
        <p:spPr>
          <a:xfrm>
            <a:off x="203200" y="1148222"/>
            <a:ext cx="3765929" cy="2553272"/>
          </a:xfrm>
          <a:prstGeom prst="rect">
            <a:avLst/>
          </a:prstGeom>
          <a:noFill/>
          <a:ln>
            <a:noFill/>
          </a:ln>
        </p:spPr>
        <p:txBody>
          <a:bodyPr spcFirstLastPara="1" wrap="square" lIns="91425" tIns="91425" rIns="91425" bIns="91425" anchor="t" anchorCtr="0">
            <a:noAutofit/>
          </a:bodyPr>
          <a:lstStyle/>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Significant Profitability Risk from Revenue Leakage</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Tingkat return dan revenue leakage yang tinggi menunjukkan adanya risiko terhadap effective profitability bisnis TheLook.</a:t>
            </a:r>
          </a:p>
          <a:p>
            <a:pPr marL="152400" lvl="0" algn="l" rtl="0">
              <a:spcBef>
                <a:spcPts val="0"/>
              </a:spcBef>
              <a:spcAft>
                <a:spcPts val="0"/>
              </a:spcAft>
              <a:buClr>
                <a:srgbClr val="262457"/>
              </a:buClr>
              <a:buSzPts val="1200"/>
            </a:pPr>
            <a:endParaRPr lang="en-US" sz="9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High-Revenue Categories Generate Higher Leakage Exposure</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Sebagian besar leakage berasal dari kategori high-revenue sehingga peningkatan sales volume saja tidak cukup apabila return behavior tetap tinggi.</a:t>
            </a:r>
          </a:p>
          <a:p>
            <a:pPr marL="152400" lvl="0" algn="l" rtl="0">
              <a:spcBef>
                <a:spcPts val="0"/>
              </a:spcBef>
              <a:spcAft>
                <a:spcPts val="0"/>
              </a:spcAft>
              <a:buClr>
                <a:srgbClr val="262457"/>
              </a:buClr>
              <a:buSzPts val="1200"/>
            </a:pPr>
            <a:endParaRPr lang="en-US" sz="1100">
              <a:solidFill>
                <a:srgbClr val="262457"/>
              </a:solidFill>
              <a:latin typeface="Maven Pro"/>
              <a:ea typeface="Maven Pro"/>
              <a:cs typeface="Maven Pro"/>
              <a:sym typeface="Maven Pro"/>
            </a:endParaRPr>
          </a:p>
          <a:p>
            <a:pPr marL="152400" lvl="0" algn="l" rtl="0">
              <a:spcBef>
                <a:spcPts val="0"/>
              </a:spcBef>
              <a:spcAft>
                <a:spcPts val="0"/>
              </a:spcAft>
              <a:buClr>
                <a:srgbClr val="262457"/>
              </a:buClr>
              <a:buSzPts val="1200"/>
            </a:pPr>
            <a:r>
              <a:rPr lang="en-US" sz="1100" b="1">
                <a:solidFill>
                  <a:srgbClr val="262457"/>
                </a:solidFill>
                <a:latin typeface="Maven Pro"/>
                <a:ea typeface="Maven Pro"/>
                <a:cs typeface="Maven Pro"/>
                <a:sym typeface="Maven Pro"/>
              </a:rPr>
              <a:t>Return Behavior Indicates Product Experience Issues</a:t>
            </a:r>
          </a:p>
          <a:p>
            <a:pPr marL="152400" lvl="0" algn="l" rtl="0">
              <a:spcBef>
                <a:spcPts val="0"/>
              </a:spcBef>
              <a:spcAft>
                <a:spcPts val="0"/>
              </a:spcAft>
              <a:buClr>
                <a:srgbClr val="262457"/>
              </a:buClr>
              <a:buSzPts val="1200"/>
            </a:pPr>
            <a:r>
              <a:rPr lang="en-US" sz="900">
                <a:solidFill>
                  <a:srgbClr val="262457"/>
                </a:solidFill>
                <a:latin typeface="Maven Pro"/>
                <a:ea typeface="Maven Pro"/>
                <a:cs typeface="Maven Pro"/>
                <a:sym typeface="Maven Pro"/>
              </a:rPr>
              <a:t>Return pattern mengindikasikan kemungkinan adanya product expectation mismatch, sizing inconsistency, atau product information yang belum optimal.</a:t>
            </a:r>
          </a:p>
        </p:txBody>
      </p:sp>
      <p:sp>
        <p:nvSpPr>
          <p:cNvPr id="1609" name="Google Shape;1609;p66"/>
          <p:cNvSpPr txBox="1"/>
          <p:nvPr/>
        </p:nvSpPr>
        <p:spPr>
          <a:xfrm>
            <a:off x="203200" y="796033"/>
            <a:ext cx="25587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Implications</a:t>
            </a:r>
            <a:endParaRPr sz="2000" b="1">
              <a:solidFill>
                <a:schemeClr val="lt1"/>
              </a:solidFill>
              <a:latin typeface="Montserrat"/>
              <a:ea typeface="Montserrat"/>
              <a:cs typeface="Montserrat"/>
              <a:sym typeface="Montserrat"/>
            </a:endParaRPr>
          </a:p>
        </p:txBody>
      </p:sp>
      <p:sp>
        <p:nvSpPr>
          <p:cNvPr id="1610" name="Google Shape;1610;p66"/>
          <p:cNvSpPr txBox="1"/>
          <p:nvPr/>
        </p:nvSpPr>
        <p:spPr>
          <a:xfrm>
            <a:off x="4184856" y="796033"/>
            <a:ext cx="42366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lt1"/>
                </a:solidFill>
                <a:latin typeface="Montserrat"/>
                <a:ea typeface="Montserrat"/>
                <a:cs typeface="Montserrat"/>
                <a:sym typeface="Montserrat"/>
              </a:rPr>
              <a:t>Recommendations</a:t>
            </a:r>
            <a:endParaRPr sz="2000" b="1">
              <a:solidFill>
                <a:schemeClr val="lt1"/>
              </a:solidFill>
              <a:latin typeface="Montserrat"/>
              <a:ea typeface="Montserrat"/>
              <a:cs typeface="Montserrat"/>
              <a:sym typeface="Montserrat"/>
            </a:endParaRPr>
          </a:p>
        </p:txBody>
      </p:sp>
      <p:sp>
        <p:nvSpPr>
          <p:cNvPr id="1611" name="Google Shape;1611;p66"/>
          <p:cNvSpPr/>
          <p:nvPr/>
        </p:nvSpPr>
        <p:spPr>
          <a:xfrm>
            <a:off x="4295516" y="1283741"/>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2" name="Google Shape;1612;p66"/>
          <p:cNvSpPr txBox="1"/>
          <p:nvPr/>
        </p:nvSpPr>
        <p:spPr>
          <a:xfrm>
            <a:off x="4773675" y="1413751"/>
            <a:ext cx="3647700" cy="4207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Memfokuskan improvement pada kategori dengan return contribution dan revenue leakage tertinggi.</a:t>
            </a:r>
          </a:p>
        </p:txBody>
      </p:sp>
      <p:sp>
        <p:nvSpPr>
          <p:cNvPr id="1613" name="Google Shape;1613;p66"/>
          <p:cNvSpPr txBox="1"/>
          <p:nvPr/>
        </p:nvSpPr>
        <p:spPr>
          <a:xfrm>
            <a:off x="4773696" y="1190215"/>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Implement Return </a:t>
            </a:r>
          </a:p>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Prevention Strategy</a:t>
            </a:r>
          </a:p>
        </p:txBody>
      </p:sp>
      <p:sp>
        <p:nvSpPr>
          <p:cNvPr id="1614" name="Google Shape;1614;p66"/>
          <p:cNvSpPr txBox="1"/>
          <p:nvPr/>
        </p:nvSpPr>
        <p:spPr>
          <a:xfrm>
            <a:off x="4773675" y="2246574"/>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Meningkatkan kualitas product description, sizing guide, visual reference, serta customer review visibility.</a:t>
            </a:r>
            <a:endParaRPr sz="900">
              <a:solidFill>
                <a:schemeClr val="dk1"/>
              </a:solidFill>
              <a:latin typeface="Maven Pro"/>
              <a:ea typeface="Maven Pro"/>
              <a:cs typeface="Maven Pro"/>
              <a:sym typeface="Maven Pro"/>
            </a:endParaRPr>
          </a:p>
        </p:txBody>
      </p:sp>
      <p:sp>
        <p:nvSpPr>
          <p:cNvPr id="1615" name="Google Shape;1615;p66"/>
          <p:cNvSpPr txBox="1"/>
          <p:nvPr/>
        </p:nvSpPr>
        <p:spPr>
          <a:xfrm>
            <a:off x="4773675" y="3061249"/>
            <a:ext cx="3647700" cy="49730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a:solidFill>
                  <a:schemeClr val="dk1"/>
                </a:solidFill>
                <a:latin typeface="Maven Pro"/>
                <a:ea typeface="Maven Pro"/>
                <a:cs typeface="Maven Pro"/>
                <a:sym typeface="Maven Pro"/>
              </a:rPr>
              <a:t>Melakukan return pattern analysis, customer feedback monitoring, dan quality evaluation secara berkala untuk mengidentifikasi faktor dominan penyebab return.</a:t>
            </a:r>
            <a:endParaRPr sz="900">
              <a:solidFill>
                <a:schemeClr val="dk1"/>
              </a:solidFill>
              <a:latin typeface="Maven Pro"/>
              <a:ea typeface="Maven Pro"/>
              <a:cs typeface="Maven Pro"/>
              <a:sym typeface="Maven Pro"/>
            </a:endParaRPr>
          </a:p>
        </p:txBody>
      </p:sp>
      <p:sp>
        <p:nvSpPr>
          <p:cNvPr id="1616" name="Google Shape;1616;p66"/>
          <p:cNvSpPr txBox="1"/>
          <p:nvPr/>
        </p:nvSpPr>
        <p:spPr>
          <a:xfrm>
            <a:off x="4773675" y="2004908"/>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Improve Product Experience &amp; Information Quality</a:t>
            </a:r>
            <a:endParaRPr sz="1100" b="1">
              <a:solidFill>
                <a:schemeClr val="bg2">
                  <a:lumMod val="25000"/>
                </a:schemeClr>
              </a:solidFill>
              <a:latin typeface="Montserrat"/>
              <a:ea typeface="Montserrat"/>
              <a:cs typeface="Montserrat"/>
              <a:sym typeface="Montserrat"/>
            </a:endParaRPr>
          </a:p>
        </p:txBody>
      </p:sp>
      <p:sp>
        <p:nvSpPr>
          <p:cNvPr id="1617" name="Google Shape;1617;p66"/>
          <p:cNvSpPr txBox="1"/>
          <p:nvPr/>
        </p:nvSpPr>
        <p:spPr>
          <a:xfrm>
            <a:off x="4773696" y="2819583"/>
            <a:ext cx="3315222"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b="1">
                <a:solidFill>
                  <a:schemeClr val="bg2">
                    <a:lumMod val="25000"/>
                  </a:schemeClr>
                </a:solidFill>
                <a:latin typeface="Montserrat"/>
                <a:ea typeface="Montserrat"/>
                <a:cs typeface="Montserrat"/>
                <a:sym typeface="Montserrat"/>
              </a:rPr>
              <a:t>Develop Return Behavior Monitoring &amp; Quality Control</a:t>
            </a:r>
            <a:endParaRPr sz="1100" b="1">
              <a:solidFill>
                <a:schemeClr val="bg2">
                  <a:lumMod val="25000"/>
                </a:schemeClr>
              </a:solidFill>
              <a:latin typeface="Montserrat"/>
              <a:ea typeface="Montserrat"/>
              <a:cs typeface="Montserrat"/>
              <a:sym typeface="Montserrat"/>
            </a:endParaRPr>
          </a:p>
        </p:txBody>
      </p:sp>
      <p:sp>
        <p:nvSpPr>
          <p:cNvPr id="1618" name="Google Shape;1618;p66"/>
          <p:cNvSpPr/>
          <p:nvPr/>
        </p:nvSpPr>
        <p:spPr>
          <a:xfrm>
            <a:off x="4295516" y="2101358"/>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619" name="Google Shape;1619;p66"/>
          <p:cNvSpPr/>
          <p:nvPr/>
        </p:nvSpPr>
        <p:spPr>
          <a:xfrm>
            <a:off x="4295516" y="2909196"/>
            <a:ext cx="303600" cy="3036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cxnSp>
        <p:nvCxnSpPr>
          <p:cNvPr id="1620" name="Google Shape;1620;p66"/>
          <p:cNvCxnSpPr>
            <a:stCxn id="1611" idx="2"/>
            <a:endCxn id="1618" idx="0"/>
          </p:cNvCxnSpPr>
          <p:nvPr/>
        </p:nvCxnSpPr>
        <p:spPr>
          <a:xfrm>
            <a:off x="4447316" y="1587341"/>
            <a:ext cx="0" cy="513900"/>
          </a:xfrm>
          <a:prstGeom prst="straightConnector1">
            <a:avLst/>
          </a:prstGeom>
          <a:noFill/>
          <a:ln w="9525" cap="flat" cmpd="sng">
            <a:solidFill>
              <a:schemeClr val="lt2"/>
            </a:solidFill>
            <a:prstDash val="solid"/>
            <a:round/>
            <a:headEnd type="none" w="med" len="med"/>
            <a:tailEnd type="none" w="med" len="med"/>
          </a:ln>
        </p:spPr>
      </p:cxnSp>
      <p:cxnSp>
        <p:nvCxnSpPr>
          <p:cNvPr id="1621" name="Google Shape;1621;p66"/>
          <p:cNvCxnSpPr>
            <a:stCxn id="1618" idx="2"/>
            <a:endCxn id="1619" idx="0"/>
          </p:cNvCxnSpPr>
          <p:nvPr/>
        </p:nvCxnSpPr>
        <p:spPr>
          <a:xfrm>
            <a:off x="4447316" y="2404958"/>
            <a:ext cx="0" cy="504300"/>
          </a:xfrm>
          <a:prstGeom prst="straightConnector1">
            <a:avLst/>
          </a:prstGeom>
          <a:noFill/>
          <a:ln w="9525" cap="flat" cmpd="sng">
            <a:solidFill>
              <a:schemeClr val="lt2"/>
            </a:solidFill>
            <a:prstDash val="solid"/>
            <a:round/>
            <a:headEnd type="none" w="med" len="med"/>
            <a:tailEnd type="none" w="med" len="med"/>
          </a:ln>
        </p:spPr>
      </p:cxnSp>
      <p:cxnSp>
        <p:nvCxnSpPr>
          <p:cNvPr id="1622" name="Google Shape;1622;p66"/>
          <p:cNvCxnSpPr>
            <a:cxnSpLocks/>
            <a:stCxn id="1613" idx="1"/>
            <a:endCxn id="1611" idx="3"/>
          </p:cNvCxnSpPr>
          <p:nvPr/>
        </p:nvCxnSpPr>
        <p:spPr>
          <a:xfrm flipH="1">
            <a:off x="4599116" y="1391665"/>
            <a:ext cx="174580" cy="43876"/>
          </a:xfrm>
          <a:prstGeom prst="straightConnector1">
            <a:avLst/>
          </a:prstGeom>
          <a:noFill/>
          <a:ln w="9525" cap="flat" cmpd="sng">
            <a:solidFill>
              <a:schemeClr val="lt2"/>
            </a:solidFill>
            <a:prstDash val="solid"/>
            <a:round/>
            <a:headEnd type="none" w="med" len="med"/>
            <a:tailEnd type="none" w="med" len="med"/>
          </a:ln>
        </p:spPr>
      </p:cxnSp>
      <p:cxnSp>
        <p:nvCxnSpPr>
          <p:cNvPr id="1623" name="Google Shape;1623;p66"/>
          <p:cNvCxnSpPr>
            <a:cxnSpLocks/>
            <a:stCxn id="1616" idx="1"/>
            <a:endCxn id="1618" idx="3"/>
          </p:cNvCxnSpPr>
          <p:nvPr/>
        </p:nvCxnSpPr>
        <p:spPr>
          <a:xfrm flipH="1">
            <a:off x="4599116" y="2206358"/>
            <a:ext cx="174559" cy="46800"/>
          </a:xfrm>
          <a:prstGeom prst="straightConnector1">
            <a:avLst/>
          </a:prstGeom>
          <a:noFill/>
          <a:ln w="9525" cap="flat" cmpd="sng">
            <a:solidFill>
              <a:schemeClr val="lt2"/>
            </a:solidFill>
            <a:prstDash val="solid"/>
            <a:round/>
            <a:headEnd type="none" w="med" len="med"/>
            <a:tailEnd type="none" w="med" len="med"/>
          </a:ln>
        </p:spPr>
      </p:cxnSp>
      <p:cxnSp>
        <p:nvCxnSpPr>
          <p:cNvPr id="1624" name="Google Shape;1624;p66"/>
          <p:cNvCxnSpPr>
            <a:cxnSpLocks/>
            <a:stCxn id="1617" idx="1"/>
            <a:endCxn id="1619" idx="3"/>
          </p:cNvCxnSpPr>
          <p:nvPr/>
        </p:nvCxnSpPr>
        <p:spPr>
          <a:xfrm flipH="1">
            <a:off x="4599116" y="3021033"/>
            <a:ext cx="174580" cy="39963"/>
          </a:xfrm>
          <a:prstGeom prst="straightConnector1">
            <a:avLst/>
          </a:prstGeom>
          <a:noFill/>
          <a:ln w="9525" cap="flat" cmpd="sng">
            <a:solidFill>
              <a:schemeClr val="lt2"/>
            </a:solidFill>
            <a:prstDash val="solid"/>
            <a:round/>
            <a:headEnd type="none" w="med" len="med"/>
            <a:tailEnd type="none" w="med" len="med"/>
          </a:ln>
        </p:spPr>
      </p:cxnSp>
      <p:sp>
        <p:nvSpPr>
          <p:cNvPr id="2" name="Google Shape;1609;p66">
            <a:extLst>
              <a:ext uri="{FF2B5EF4-FFF2-40B4-BE49-F238E27FC236}">
                <a16:creationId xmlns:a16="http://schemas.microsoft.com/office/drawing/2014/main" id="{843B6A8A-5E37-0A46-7396-AE34DCBA6C4A}"/>
              </a:ext>
            </a:extLst>
          </p:cNvPr>
          <p:cNvSpPr txBox="1"/>
          <p:nvPr/>
        </p:nvSpPr>
        <p:spPr>
          <a:xfrm>
            <a:off x="203200" y="3753626"/>
            <a:ext cx="3327400" cy="402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2000" b="1">
                <a:solidFill>
                  <a:schemeClr val="lt1"/>
                </a:solidFill>
                <a:latin typeface="Montserrat"/>
                <a:ea typeface="Montserrat"/>
                <a:cs typeface="Montserrat"/>
                <a:sym typeface="Montserrat"/>
              </a:rPr>
              <a:t>Expected Impact</a:t>
            </a:r>
          </a:p>
        </p:txBody>
      </p:sp>
      <p:sp>
        <p:nvSpPr>
          <p:cNvPr id="3" name="Google Shape;1615;p66">
            <a:extLst>
              <a:ext uri="{FF2B5EF4-FFF2-40B4-BE49-F238E27FC236}">
                <a16:creationId xmlns:a16="http://schemas.microsoft.com/office/drawing/2014/main" id="{1E56E430-EFA6-855F-E100-F5C5B2590D3E}"/>
              </a:ext>
            </a:extLst>
          </p:cNvPr>
          <p:cNvSpPr txBox="1"/>
          <p:nvPr/>
        </p:nvSpPr>
        <p:spPr>
          <a:xfrm>
            <a:off x="203199" y="4029300"/>
            <a:ext cx="8218175"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000">
                <a:solidFill>
                  <a:schemeClr val="dk1"/>
                </a:solidFill>
                <a:latin typeface="Maven Pro"/>
                <a:ea typeface="Maven Pro"/>
                <a:cs typeface="Maven Pro"/>
                <a:sym typeface="Maven Pro"/>
              </a:rPr>
              <a:t>Implementasi return prevention strategy berpotensi menurunkan revenue leakage, meningkatkan effective profitability, mengurangi operational burden akibat reverse logistics, serta meningkatkan net revenue retention dan long-term business sustainability.</a:t>
            </a:r>
            <a:endParaRPr sz="1000">
              <a:solidFill>
                <a:schemeClr val="dk1"/>
              </a:solidFill>
              <a:latin typeface="Maven Pro"/>
              <a:ea typeface="Maven Pro"/>
              <a:cs typeface="Maven Pro"/>
              <a:sym typeface="Maven Pro"/>
            </a:endParaRPr>
          </a:p>
        </p:txBody>
      </p:sp>
    </p:spTree>
    <p:extLst>
      <p:ext uri="{BB962C8B-B14F-4D97-AF65-F5344CB8AC3E}">
        <p14:creationId xmlns:p14="http://schemas.microsoft.com/office/powerpoint/2010/main" val="1826492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694;p71">
            <a:extLst>
              <a:ext uri="{FF2B5EF4-FFF2-40B4-BE49-F238E27FC236}">
                <a16:creationId xmlns:a16="http://schemas.microsoft.com/office/drawing/2014/main" id="{83CF75DE-5337-7278-5B6B-BA28D5BFBD93}"/>
              </a:ext>
            </a:extLst>
          </p:cNvPr>
          <p:cNvSpPr txBox="1">
            <a:spLocks/>
          </p:cNvSpPr>
          <p:nvPr/>
        </p:nvSpPr>
        <p:spPr>
          <a:xfrm>
            <a:off x="2523482" y="2117550"/>
            <a:ext cx="4097035" cy="90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9pPr>
          </a:lstStyle>
          <a:p>
            <a:r>
              <a:rPr lang="en-US"/>
              <a:t>Thank You!</a:t>
            </a:r>
          </a:p>
        </p:txBody>
      </p:sp>
    </p:spTree>
    <p:extLst>
      <p:ext uri="{BB962C8B-B14F-4D97-AF65-F5344CB8AC3E}">
        <p14:creationId xmlns:p14="http://schemas.microsoft.com/office/powerpoint/2010/main" val="3906940429"/>
      </p:ext>
    </p:extLst>
  </p:cSld>
  <p:clrMapOvr>
    <a:masterClrMapping/>
  </p:clrMapOvr>
</p:sld>
</file>

<file path=ppt/theme/theme1.xml><?xml version="1.0" encoding="utf-8"?>
<a:theme xmlns:a="http://schemas.openxmlformats.org/drawingml/2006/main" name="Business Annual Report by Slidesgo">
  <a:themeElements>
    <a:clrScheme name="Simple Light">
      <a:dk1>
        <a:srgbClr val="00094A"/>
      </a:dk1>
      <a:lt1>
        <a:srgbClr val="00649F"/>
      </a:lt1>
      <a:dk2>
        <a:srgbClr val="FEFEFE"/>
      </a:dk2>
      <a:lt2>
        <a:srgbClr val="63DBF5"/>
      </a:lt2>
      <a:accent1>
        <a:srgbClr val="006DF5"/>
      </a:accent1>
      <a:accent2>
        <a:srgbClr val="516CEE"/>
      </a:accent2>
      <a:accent3>
        <a:srgbClr val="FFFFFF"/>
      </a:accent3>
      <a:accent4>
        <a:srgbClr val="FFFFFF"/>
      </a:accent4>
      <a:accent5>
        <a:srgbClr val="FFFFFF"/>
      </a:accent5>
      <a:accent6>
        <a:srgbClr val="FFFFFF"/>
      </a:accent6>
      <a:hlink>
        <a:srgbClr val="0009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3924</Words>
  <Application>Microsoft Office PowerPoint</Application>
  <PresentationFormat>On-screen Show (16:9)</PresentationFormat>
  <Paragraphs>429</Paragraphs>
  <Slides>29</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Maven Pro</vt:lpstr>
      <vt:lpstr>Arial</vt:lpstr>
      <vt:lpstr>Montserrat</vt:lpstr>
      <vt:lpstr>Business Annual Report by Slidesgo</vt:lpstr>
      <vt:lpstr>TheLook Ecommerce Analysis</vt:lpstr>
      <vt:lpstr>Akmal Zuhdy Prasetya</vt:lpstr>
      <vt:lpstr>Ethereum Price Prediction Using LSTM</vt:lpstr>
      <vt:lpstr>Airline Passenger Satisfaction Analysis</vt:lpstr>
      <vt:lpstr>Main Project Background</vt:lpstr>
      <vt:lpstr>Project Overview</vt:lpstr>
      <vt:lpstr>Main Problem</vt:lpstr>
      <vt:lpstr>Dataset Overview</vt:lpstr>
      <vt:lpstr>Data Preprocessing</vt:lpstr>
      <vt:lpstr>Data Analysis  &amp; Insights</vt:lpstr>
      <vt:lpstr>PowerPoint Presentation</vt:lpstr>
      <vt:lpstr>Customer Acquisition &amp; Behavior Insights</vt:lpstr>
      <vt:lpstr>Customer Acquisition &amp; Behavior Insights</vt:lpstr>
      <vt:lpstr>PowerPoint Presentation</vt:lpstr>
      <vt:lpstr>Product &amp; Revenue Performance Insights</vt:lpstr>
      <vt:lpstr>Product &amp; Revenue Performance Insights</vt:lpstr>
      <vt:lpstr>PowerPoint Presentation</vt:lpstr>
      <vt:lpstr>Fulfillment &amp; Operational Performance Insights</vt:lpstr>
      <vt:lpstr>Fulfillment &amp; Operational Performance Insights</vt:lpstr>
      <vt:lpstr>PowerPoint Presentation</vt:lpstr>
      <vt:lpstr>Returns &amp; Revenue Leakage Insights</vt:lpstr>
      <vt:lpstr>Returns &amp; Revenue Leakage Insights</vt:lpstr>
      <vt:lpstr>PowerPoint Presentation</vt:lpstr>
      <vt:lpstr>Business Recommendations</vt:lpstr>
      <vt:lpstr>Customer Acquisition Strategy Recommendation</vt:lpstr>
      <vt:lpstr>Profitability-Driven Product Strategy Recommendation</vt:lpstr>
      <vt:lpstr>Operational Scalability &amp; Fulfillment Strategy Recommendation</vt:lpstr>
      <vt:lpstr>Return Prevention &amp; Revenue Leakage Strategy Recommendation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Akmal Zuhdy Prasetya</cp:lastModifiedBy>
  <cp:revision>122</cp:revision>
  <dcterms:modified xsi:type="dcterms:W3CDTF">2026-05-16T07:33:40Z</dcterms:modified>
</cp:coreProperties>
</file>